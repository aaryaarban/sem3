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9" r:id="rId7"/>
    <p:sldId id="258" r:id="rId8"/>
    <p:sldId id="259" r:id="rId9"/>
    <p:sldId id="260" r:id="rId10"/>
    <p:sldId id="261" r:id="rId11"/>
    <p:sldId id="270" r:id="rId12"/>
    <p:sldId id="262" r:id="rId13"/>
    <p:sldId id="263" r:id="rId14"/>
    <p:sldId id="264" r:id="rId15"/>
    <p:sldId id="265" r:id="rId16"/>
    <p:sldId id="266" r:id="rId17"/>
    <p:sldId id="271" r:id="rId18"/>
    <p:sldId id="267" r:id="rId19"/>
    <p:sldId id="272" r:id="rId20"/>
    <p:sldId id="273" r:id="rId21"/>
    <p:sldId id="26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83E48E-4DFC-4D15-A6C2-889D6DA65DAE}" v="4" dt="2022-10-15T23:25:45.948"/>
    <p1510:client id="{FE35599C-6944-4879-BF62-2696336D9994}" v="2" dt="2022-11-10T21:46:35.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188"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PRAKASH JEEVIKA" userId="S::jaiprakash.jeevika215045@tsecedu.org::e549fcdc-5899-449f-b7f4-76fd70b5cc81" providerId="AD" clId="Web-{0B83E48E-4DFC-4D15-A6C2-889D6DA65DAE}"/>
    <pc:docChg chg="addSld delSld">
      <pc:chgData name="JAIPRAKASH JEEVIKA" userId="S::jaiprakash.jeevika215045@tsecedu.org::e549fcdc-5899-449f-b7f4-76fd70b5cc81" providerId="AD" clId="Web-{0B83E48E-4DFC-4D15-A6C2-889D6DA65DAE}" dt="2022-10-15T23:25:45.948" v="3"/>
      <pc:docMkLst>
        <pc:docMk/>
      </pc:docMkLst>
      <pc:sldChg chg="new del">
        <pc:chgData name="JAIPRAKASH JEEVIKA" userId="S::jaiprakash.jeevika215045@tsecedu.org::e549fcdc-5899-449f-b7f4-76fd70b5cc81" providerId="AD" clId="Web-{0B83E48E-4DFC-4D15-A6C2-889D6DA65DAE}" dt="2022-10-15T23:25:45.948" v="3"/>
        <pc:sldMkLst>
          <pc:docMk/>
          <pc:sldMk cId="1064399837" sldId="274"/>
        </pc:sldMkLst>
      </pc:sldChg>
      <pc:sldChg chg="new del">
        <pc:chgData name="JAIPRAKASH JEEVIKA" userId="S::jaiprakash.jeevika215045@tsecedu.org::e549fcdc-5899-449f-b7f4-76fd70b5cc81" providerId="AD" clId="Web-{0B83E48E-4DFC-4D15-A6C2-889D6DA65DAE}" dt="2022-10-15T23:25:43.151" v="2"/>
        <pc:sldMkLst>
          <pc:docMk/>
          <pc:sldMk cId="2063178704" sldId="275"/>
        </pc:sldMkLst>
      </pc:sldChg>
    </pc:docChg>
  </pc:docChgLst>
  <pc:docChgLst>
    <pc:chgData name="ARUSH KAREKAR" userId="S::arush.karekar215050@tsecedu.org::f656dfae-5fe2-4323-b6c6-37b032a8a410" providerId="AD" clId="Web-{FE35599C-6944-4879-BF62-2696336D9994}"/>
    <pc:docChg chg="modSld">
      <pc:chgData name="ARUSH KAREKAR" userId="S::arush.karekar215050@tsecedu.org::f656dfae-5fe2-4323-b6c6-37b032a8a410" providerId="AD" clId="Web-{FE35599C-6944-4879-BF62-2696336D9994}" dt="2022-11-10T21:46:35.322" v="1" actId="20577"/>
      <pc:docMkLst>
        <pc:docMk/>
      </pc:docMkLst>
      <pc:sldChg chg="modSp">
        <pc:chgData name="ARUSH KAREKAR" userId="S::arush.karekar215050@tsecedu.org::f656dfae-5fe2-4323-b6c6-37b032a8a410" providerId="AD" clId="Web-{FE35599C-6944-4879-BF62-2696336D9994}" dt="2022-11-10T21:46:35.322" v="1" actId="20577"/>
        <pc:sldMkLst>
          <pc:docMk/>
          <pc:sldMk cId="270755696" sldId="265"/>
        </pc:sldMkLst>
        <pc:spChg chg="mod">
          <ac:chgData name="ARUSH KAREKAR" userId="S::arush.karekar215050@tsecedu.org::f656dfae-5fe2-4323-b6c6-37b032a8a410" providerId="AD" clId="Web-{FE35599C-6944-4879-BF62-2696336D9994}" dt="2022-11-10T21:46:35.322" v="1" actId="20577"/>
          <ac:spMkLst>
            <pc:docMk/>
            <pc:sldMk cId="270755696" sldId="26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E5AD82F-5C27-43CD-961A-7D967451D621}" type="datetimeFigureOut">
              <a:rPr lang="en-US" smtClean="0"/>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4152520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AD82F-5C27-43CD-961A-7D967451D621}" type="datetimeFigureOut">
              <a:rPr lang="en-US" smtClean="0"/>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1194626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AD82F-5C27-43CD-961A-7D967451D621}" type="datetimeFigureOut">
              <a:rPr lang="en-US" smtClean="0"/>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2654151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5AD82F-5C27-43CD-961A-7D967451D621}" type="datetimeFigureOut">
              <a:rPr lang="en-US" smtClean="0"/>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492284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5AD82F-5C27-43CD-961A-7D967451D621}" type="datetimeFigureOut">
              <a:rPr lang="en-US" smtClean="0"/>
              <a:t>11/10/2022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1402794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5AD82F-5C27-43CD-961A-7D967451D621}" type="datetimeFigureOut">
              <a:rPr lang="en-US" smtClean="0"/>
              <a:t>11/10/2022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2482957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AD82F-5C27-43CD-961A-7D967451D621}" type="datetimeFigureOut">
              <a:rPr lang="en-US" smtClean="0"/>
              <a:t>11/10/2022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4058020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5AD82F-5C27-43CD-961A-7D967451D621}" type="datetimeFigureOut">
              <a:rPr lang="en-US" smtClean="0"/>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345451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5AD82F-5C27-43CD-961A-7D967451D621}" type="datetimeFigureOut">
              <a:rPr lang="en-US" smtClean="0"/>
              <a:t>11/10/2022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1858638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AD82F-5C27-43CD-961A-7D967451D621}" type="datetimeFigureOut">
              <a:rPr lang="en-US" smtClean="0"/>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148086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AD82F-5C27-43CD-961A-7D967451D621}" type="datetimeFigureOut">
              <a:rPr lang="en-US" smtClean="0"/>
              <a:t>11/10/2022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CB5FF1-7A69-4DCE-BF73-678B36B3683F}" type="slidenum">
              <a:rPr lang="en-US" smtClean="0"/>
              <a:t>‹#›</a:t>
            </a:fld>
            <a:endParaRPr lang="en-US"/>
          </a:p>
        </p:txBody>
      </p:sp>
    </p:spTree>
    <p:extLst>
      <p:ext uri="{BB962C8B-B14F-4D97-AF65-F5344CB8AC3E}">
        <p14:creationId xmlns:p14="http://schemas.microsoft.com/office/powerpoint/2010/main" val="13603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AD82F-5C27-43CD-961A-7D967451D621}" type="datetimeFigureOut">
              <a:rPr lang="en-US" smtClean="0"/>
              <a:t>11/10/2022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B5FF1-7A69-4DCE-BF73-678B36B3683F}" type="slidenum">
              <a:rPr lang="en-US" smtClean="0"/>
              <a:t>‹#›</a:t>
            </a:fld>
            <a:endParaRPr lang="en-US"/>
          </a:p>
        </p:txBody>
      </p:sp>
    </p:spTree>
    <p:extLst>
      <p:ext uri="{BB962C8B-B14F-4D97-AF65-F5344CB8AC3E}">
        <p14:creationId xmlns:p14="http://schemas.microsoft.com/office/powerpoint/2010/main" val="2295453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Triggers IN SQL</a:t>
            </a:r>
          </a:p>
        </p:txBody>
      </p:sp>
    </p:spTree>
    <p:extLst>
      <p:ext uri="{BB962C8B-B14F-4D97-AF65-F5344CB8AC3E}">
        <p14:creationId xmlns:p14="http://schemas.microsoft.com/office/powerpoint/2010/main" val="96686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Triggers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Triggers are stored programs, which are automatically executed or fired when some events occur. </a:t>
            </a:r>
          </a:p>
          <a:p>
            <a:pPr>
              <a:buFont typeface="Wingdings" panose="05000000000000000000" pitchFamily="2" charset="2"/>
              <a:buChar char="§"/>
            </a:pPr>
            <a:r>
              <a:rPr lang="en-US" dirty="0"/>
              <a:t>Triggers are, written to be executed in response to events  such as:</a:t>
            </a:r>
          </a:p>
          <a:p>
            <a:pPr>
              <a:buFont typeface="Wingdings" panose="05000000000000000000" pitchFamily="2" charset="2"/>
              <a:buChar char="§"/>
            </a:pPr>
            <a:r>
              <a:rPr lang="en-US" dirty="0"/>
              <a:t>A </a:t>
            </a:r>
            <a:r>
              <a:rPr lang="en-US" b="1" dirty="0">
                <a:solidFill>
                  <a:srgbClr val="FF0000"/>
                </a:solidFill>
              </a:rPr>
              <a:t>Database Manipulation (DML)</a:t>
            </a:r>
            <a:r>
              <a:rPr lang="en-US" dirty="0">
                <a:solidFill>
                  <a:srgbClr val="FF0000"/>
                </a:solidFill>
              </a:rPr>
              <a:t> </a:t>
            </a:r>
            <a:r>
              <a:rPr lang="en-US" b="1" dirty="0">
                <a:solidFill>
                  <a:srgbClr val="FF0000"/>
                </a:solidFill>
              </a:rPr>
              <a:t>statement </a:t>
            </a:r>
            <a:r>
              <a:rPr lang="en-US" dirty="0"/>
              <a:t>(DELETE, INSERT, or UPDATE)</a:t>
            </a:r>
          </a:p>
        </p:txBody>
      </p:sp>
    </p:spTree>
    <p:extLst>
      <p:ext uri="{BB962C8B-B14F-4D97-AF65-F5344CB8AC3E}">
        <p14:creationId xmlns:p14="http://schemas.microsoft.com/office/powerpoint/2010/main" val="326572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A </a:t>
            </a:r>
            <a:r>
              <a:rPr lang="en-US" b="1" dirty="0">
                <a:solidFill>
                  <a:srgbClr val="FF0000"/>
                </a:solidFill>
              </a:rPr>
              <a:t>Database Definition (DDL)</a:t>
            </a:r>
            <a:r>
              <a:rPr lang="en-US" dirty="0">
                <a:solidFill>
                  <a:srgbClr val="FF0000"/>
                </a:solidFill>
              </a:rPr>
              <a:t> Statement </a:t>
            </a:r>
            <a:r>
              <a:rPr lang="en-US" dirty="0"/>
              <a:t>(CREATE, ALTER, or DROP).</a:t>
            </a:r>
          </a:p>
          <a:p>
            <a:pPr>
              <a:buFont typeface="Wingdings" panose="05000000000000000000" pitchFamily="2" charset="2"/>
              <a:buChar char="§"/>
            </a:pPr>
            <a:endParaRPr lang="en-US" dirty="0"/>
          </a:p>
          <a:p>
            <a:pPr>
              <a:buFont typeface="Wingdings" panose="05000000000000000000" pitchFamily="2" charset="2"/>
              <a:buChar char="§"/>
            </a:pPr>
            <a:r>
              <a:rPr lang="en-US" dirty="0"/>
              <a:t>A </a:t>
            </a:r>
            <a:r>
              <a:rPr lang="en-US" b="1" dirty="0">
                <a:solidFill>
                  <a:srgbClr val="FF0000"/>
                </a:solidFill>
              </a:rPr>
              <a:t>Database Operation</a:t>
            </a:r>
            <a:r>
              <a:rPr lang="en-US" dirty="0"/>
              <a:t> (SERVERERROR, LOGON, LOGOFF, STARTUP, or SHUTDOWN).</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38598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Triggers</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Triggers can be defined on the table, view, schema, or database with which the event is associated.</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547634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Benefits of Triggers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US" dirty="0"/>
              <a:t>Generating some derived column values automatically</a:t>
            </a:r>
          </a:p>
          <a:p>
            <a:pPr>
              <a:buFont typeface="Wingdings" panose="05000000000000000000" pitchFamily="2" charset="2"/>
              <a:buChar char="§"/>
            </a:pPr>
            <a:r>
              <a:rPr lang="en-US" dirty="0"/>
              <a:t>Enforcing referential integrity</a:t>
            </a:r>
          </a:p>
          <a:p>
            <a:pPr>
              <a:buFont typeface="Wingdings" panose="05000000000000000000" pitchFamily="2" charset="2"/>
              <a:buChar char="§"/>
            </a:pPr>
            <a:r>
              <a:rPr lang="en-US" dirty="0"/>
              <a:t>Event logging and storing information on table access</a:t>
            </a:r>
          </a:p>
          <a:p>
            <a:pPr>
              <a:buFont typeface="Wingdings" panose="05000000000000000000" pitchFamily="2" charset="2"/>
              <a:buChar char="§"/>
            </a:pPr>
            <a:r>
              <a:rPr lang="en-US" dirty="0"/>
              <a:t>Auditing</a:t>
            </a:r>
          </a:p>
          <a:p>
            <a:pPr>
              <a:buFont typeface="Wingdings" panose="05000000000000000000" pitchFamily="2" charset="2"/>
              <a:buChar char="§"/>
            </a:pPr>
            <a:r>
              <a:rPr lang="en-US" dirty="0"/>
              <a:t>Synchronous replication of tables</a:t>
            </a:r>
          </a:p>
          <a:p>
            <a:pPr>
              <a:buFont typeface="Wingdings" panose="05000000000000000000" pitchFamily="2" charset="2"/>
              <a:buChar char="§"/>
            </a:pPr>
            <a:r>
              <a:rPr lang="en-US" dirty="0"/>
              <a:t>Imposing security authorizations</a:t>
            </a:r>
          </a:p>
          <a:p>
            <a:pPr>
              <a:buFont typeface="Wingdings" panose="05000000000000000000" pitchFamily="2" charset="2"/>
              <a:buChar char="§"/>
            </a:pPr>
            <a:r>
              <a:rPr lang="en-US" dirty="0"/>
              <a:t>Preventing invalid transactions</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449218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77000"/>
          </a:xfrm>
        </p:spPr>
        <p:txBody>
          <a:bodyPr>
            <a:normAutofit fontScale="92500" lnSpcReduction="20000"/>
          </a:bodyPr>
          <a:lstStyle/>
          <a:p>
            <a:pPr marL="0" indent="0">
              <a:buNone/>
            </a:pPr>
            <a:r>
              <a:rPr lang="en-US" dirty="0">
                <a:effectLst/>
              </a:rPr>
              <a:t>    CREATE </a:t>
            </a:r>
            <a:r>
              <a:rPr lang="en-US" dirty="0"/>
              <a:t>[</a:t>
            </a:r>
            <a:r>
              <a:rPr lang="en-US" dirty="0">
                <a:effectLst/>
              </a:rPr>
              <a:t>OR REPLACE </a:t>
            </a:r>
            <a:r>
              <a:rPr lang="en-US" dirty="0"/>
              <a:t>]</a:t>
            </a:r>
            <a:r>
              <a:rPr lang="en-US" dirty="0">
                <a:effectLst/>
              </a:rPr>
              <a:t> TRIGGER </a:t>
            </a:r>
            <a:r>
              <a:rPr lang="en-US" dirty="0" err="1">
                <a:effectLst/>
              </a:rPr>
              <a:t>trigger_name</a:t>
            </a:r>
            <a:endParaRPr lang="en-US" dirty="0"/>
          </a:p>
          <a:p>
            <a:pPr marL="0" indent="0">
              <a:buNone/>
            </a:pPr>
            <a:r>
              <a:rPr lang="en-US" dirty="0">
                <a:effectLst/>
              </a:rPr>
              <a:t>    </a:t>
            </a:r>
            <a:r>
              <a:rPr lang="en-US" dirty="0"/>
              <a:t>{</a:t>
            </a:r>
            <a:r>
              <a:rPr lang="en-US" dirty="0">
                <a:effectLst/>
              </a:rPr>
              <a:t>BEFORE </a:t>
            </a:r>
            <a:r>
              <a:rPr lang="en-US" dirty="0"/>
              <a:t>|</a:t>
            </a:r>
            <a:r>
              <a:rPr lang="en-US" dirty="0">
                <a:effectLst/>
              </a:rPr>
              <a:t> AFTER </a:t>
            </a:r>
            <a:r>
              <a:rPr lang="en-US" dirty="0"/>
              <a:t>|</a:t>
            </a:r>
            <a:r>
              <a:rPr lang="en-US" dirty="0">
                <a:effectLst/>
              </a:rPr>
              <a:t> INSTEAD OF </a:t>
            </a:r>
            <a:r>
              <a:rPr lang="en-US" dirty="0"/>
              <a:t>}</a:t>
            </a:r>
            <a:r>
              <a:rPr lang="en-US" dirty="0">
                <a:effectLst/>
              </a:rPr>
              <a:t> </a:t>
            </a:r>
          </a:p>
          <a:p>
            <a:pPr marL="0" indent="0">
              <a:buNone/>
            </a:pPr>
            <a:r>
              <a:rPr lang="en-US" dirty="0"/>
              <a:t>    {</a:t>
            </a:r>
            <a:r>
              <a:rPr lang="en-US" dirty="0">
                <a:effectLst/>
              </a:rPr>
              <a:t>INSERT </a:t>
            </a:r>
            <a:r>
              <a:rPr lang="en-US" dirty="0"/>
              <a:t>[</a:t>
            </a:r>
            <a:r>
              <a:rPr lang="en-US" dirty="0">
                <a:effectLst/>
              </a:rPr>
              <a:t>OR</a:t>
            </a:r>
            <a:r>
              <a:rPr lang="en-US" dirty="0"/>
              <a:t>]</a:t>
            </a:r>
            <a:r>
              <a:rPr lang="en-US" dirty="0">
                <a:effectLst/>
              </a:rPr>
              <a:t> </a:t>
            </a:r>
            <a:r>
              <a:rPr lang="en-US" dirty="0"/>
              <a:t>|</a:t>
            </a:r>
            <a:r>
              <a:rPr lang="en-US" dirty="0">
                <a:effectLst/>
              </a:rPr>
              <a:t> UPDATE </a:t>
            </a:r>
            <a:r>
              <a:rPr lang="en-US" dirty="0"/>
              <a:t>[</a:t>
            </a:r>
            <a:r>
              <a:rPr lang="en-US" dirty="0">
                <a:effectLst/>
              </a:rPr>
              <a:t>OR</a:t>
            </a:r>
            <a:r>
              <a:rPr lang="en-US" dirty="0"/>
              <a:t>]</a:t>
            </a:r>
            <a:r>
              <a:rPr lang="en-US" dirty="0">
                <a:effectLst/>
              </a:rPr>
              <a:t> </a:t>
            </a:r>
            <a:r>
              <a:rPr lang="en-US" dirty="0"/>
              <a:t>|</a:t>
            </a:r>
            <a:r>
              <a:rPr lang="en-US" dirty="0">
                <a:effectLst/>
              </a:rPr>
              <a:t> DELETE</a:t>
            </a:r>
            <a:r>
              <a:rPr lang="en-US" dirty="0"/>
              <a:t>}</a:t>
            </a:r>
            <a:r>
              <a:rPr lang="en-US" dirty="0">
                <a:effectLst/>
              </a:rPr>
              <a:t> </a:t>
            </a:r>
          </a:p>
          <a:p>
            <a:pPr marL="0" indent="0">
              <a:buNone/>
            </a:pPr>
            <a:r>
              <a:rPr lang="en-US" dirty="0"/>
              <a:t>    [</a:t>
            </a:r>
            <a:r>
              <a:rPr lang="en-US" dirty="0">
                <a:effectLst/>
              </a:rPr>
              <a:t>OF </a:t>
            </a:r>
            <a:r>
              <a:rPr lang="en-US" dirty="0" err="1">
                <a:effectLst/>
              </a:rPr>
              <a:t>col_name</a:t>
            </a:r>
            <a:r>
              <a:rPr lang="en-US" dirty="0"/>
              <a:t>]</a:t>
            </a:r>
          </a:p>
          <a:p>
            <a:pPr marL="0" indent="0">
              <a:buNone/>
            </a:pPr>
            <a:r>
              <a:rPr lang="en-US" dirty="0">
                <a:effectLst/>
              </a:rPr>
              <a:t>    ON </a:t>
            </a:r>
            <a:r>
              <a:rPr lang="en-US" dirty="0" err="1">
                <a:effectLst/>
              </a:rPr>
              <a:t>table_name</a:t>
            </a:r>
            <a:r>
              <a:rPr lang="en-US" dirty="0">
                <a:effectLst/>
              </a:rPr>
              <a:t> </a:t>
            </a:r>
          </a:p>
          <a:p>
            <a:pPr marL="0" indent="0">
              <a:buNone/>
            </a:pPr>
            <a:r>
              <a:rPr lang="en-US" dirty="0"/>
              <a:t>    [</a:t>
            </a:r>
            <a:r>
              <a:rPr lang="en-US" dirty="0">
                <a:effectLst/>
              </a:rPr>
              <a:t>REFERENCING OLD AS o NEW AS n</a:t>
            </a:r>
            <a:r>
              <a:rPr lang="en-US" dirty="0"/>
              <a:t>]</a:t>
            </a:r>
            <a:r>
              <a:rPr lang="en-US" dirty="0">
                <a:effectLst/>
              </a:rPr>
              <a:t> </a:t>
            </a:r>
          </a:p>
          <a:p>
            <a:pPr marL="0" indent="0">
              <a:buNone/>
            </a:pPr>
            <a:r>
              <a:rPr lang="en-US" dirty="0"/>
              <a:t>    [</a:t>
            </a:r>
            <a:r>
              <a:rPr lang="en-US" dirty="0">
                <a:effectLst/>
              </a:rPr>
              <a:t>FOR EACH ROW</a:t>
            </a:r>
            <a:r>
              <a:rPr lang="en-US" dirty="0"/>
              <a:t>]</a:t>
            </a:r>
            <a:r>
              <a:rPr lang="en-US" dirty="0">
                <a:effectLst/>
              </a:rPr>
              <a:t> WHEN </a:t>
            </a:r>
            <a:r>
              <a:rPr lang="en-US" dirty="0"/>
              <a:t>(</a:t>
            </a:r>
            <a:r>
              <a:rPr lang="en-US" dirty="0">
                <a:effectLst/>
              </a:rPr>
              <a:t>condition</a:t>
            </a:r>
            <a:r>
              <a:rPr lang="en-US" dirty="0"/>
              <a:t>)</a:t>
            </a:r>
            <a:r>
              <a:rPr lang="en-US" dirty="0">
                <a:effectLst/>
              </a:rPr>
              <a:t> </a:t>
            </a:r>
          </a:p>
          <a:p>
            <a:pPr marL="0" indent="0">
              <a:buNone/>
            </a:pPr>
            <a:r>
              <a:rPr lang="en-US" dirty="0"/>
              <a:t>   </a:t>
            </a:r>
            <a:r>
              <a:rPr lang="en-US" dirty="0">
                <a:effectLst/>
              </a:rPr>
              <a:t>DECLARE </a:t>
            </a:r>
          </a:p>
          <a:p>
            <a:pPr marL="0" indent="0">
              <a:buNone/>
            </a:pPr>
            <a:r>
              <a:rPr lang="en-US" dirty="0"/>
              <a:t>         Declaration-</a:t>
            </a:r>
            <a:r>
              <a:rPr lang="en-US" dirty="0">
                <a:effectLst/>
              </a:rPr>
              <a:t>statements </a:t>
            </a:r>
          </a:p>
          <a:p>
            <a:pPr marL="0" indent="0">
              <a:buNone/>
            </a:pPr>
            <a:r>
              <a:rPr lang="en-US" dirty="0"/>
              <a:t>   BEGIN</a:t>
            </a:r>
            <a:r>
              <a:rPr lang="en-US" dirty="0">
                <a:effectLst/>
              </a:rPr>
              <a:t> </a:t>
            </a:r>
          </a:p>
          <a:p>
            <a:pPr marL="0" indent="0">
              <a:buNone/>
            </a:pPr>
            <a:r>
              <a:rPr lang="en-US" dirty="0"/>
              <a:t>            Executable-</a:t>
            </a:r>
            <a:r>
              <a:rPr lang="en-US" dirty="0">
                <a:effectLst/>
              </a:rPr>
              <a:t>statements </a:t>
            </a:r>
          </a:p>
          <a:p>
            <a:pPr marL="0" indent="0">
              <a:buNone/>
            </a:pPr>
            <a:r>
              <a:rPr lang="en-US" dirty="0"/>
              <a:t>   </a:t>
            </a:r>
            <a:r>
              <a:rPr lang="en-US" dirty="0">
                <a:effectLst/>
              </a:rPr>
              <a:t>EXCEPTION </a:t>
            </a:r>
          </a:p>
          <a:p>
            <a:pPr marL="0" indent="0">
              <a:buNone/>
            </a:pPr>
            <a:r>
              <a:rPr lang="en-US" dirty="0"/>
              <a:t>           Exception-</a:t>
            </a:r>
            <a:r>
              <a:rPr lang="en-US" dirty="0">
                <a:effectLst/>
              </a:rPr>
              <a:t>handling</a:t>
            </a:r>
            <a:r>
              <a:rPr lang="en-US" dirty="0"/>
              <a:t>-</a:t>
            </a:r>
            <a:r>
              <a:rPr lang="en-US" dirty="0">
                <a:effectLst/>
              </a:rPr>
              <a:t>statements </a:t>
            </a:r>
          </a:p>
          <a:p>
            <a:pPr marL="0" indent="0">
              <a:buNone/>
            </a:pPr>
            <a:r>
              <a:rPr lang="en-US" dirty="0"/>
              <a:t>   END;</a:t>
            </a:r>
            <a:r>
              <a:rPr lang="en-US" dirty="0">
                <a:effectLst/>
              </a:rPr>
              <a:t> </a:t>
            </a:r>
            <a:endParaRPr lang="en-US" dirty="0"/>
          </a:p>
        </p:txBody>
      </p:sp>
    </p:spTree>
    <p:extLst>
      <p:ext uri="{BB962C8B-B14F-4D97-AF65-F5344CB8AC3E}">
        <p14:creationId xmlns:p14="http://schemas.microsoft.com/office/powerpoint/2010/main" val="728978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Font typeface="Wingdings" panose="05000000000000000000" pitchFamily="2" charset="2"/>
              <a:buChar char="§"/>
            </a:pPr>
            <a:r>
              <a:rPr lang="en-US" b="1" dirty="0"/>
              <a:t>CREATE [OR REPLACE] TRIGGER </a:t>
            </a:r>
            <a:r>
              <a:rPr lang="en-US" b="1" dirty="0" err="1"/>
              <a:t>trigger_name</a:t>
            </a:r>
            <a:r>
              <a:rPr lang="en-US" b="1" dirty="0"/>
              <a:t> </a:t>
            </a:r>
            <a:r>
              <a:rPr lang="en-US" dirty="0"/>
              <a:t>− Creates or replaces an existing trigger with the </a:t>
            </a:r>
            <a:r>
              <a:rPr lang="en-US" i="1" dirty="0" err="1"/>
              <a:t>trigger_name</a:t>
            </a:r>
            <a:r>
              <a:rPr lang="en-US" dirty="0"/>
              <a:t>.</a:t>
            </a:r>
          </a:p>
          <a:p>
            <a:pPr marL="0" indent="0">
              <a:buNone/>
            </a:pPr>
            <a:endParaRPr lang="en-US" dirty="0"/>
          </a:p>
          <a:p>
            <a:pPr>
              <a:buFont typeface="Wingdings" panose="05000000000000000000" pitchFamily="2" charset="2"/>
              <a:buChar char="§"/>
            </a:pPr>
            <a:r>
              <a:rPr lang="en-US" b="1" dirty="0"/>
              <a:t>{BEFORE | AFTER | INSTEAD OF} </a:t>
            </a:r>
            <a:r>
              <a:rPr lang="en-US" dirty="0"/>
              <a:t>− This specifies when the trigger will be executed. The INSTEAD OF clause is used for creating trigger on a view.</a:t>
            </a:r>
          </a:p>
        </p:txBody>
      </p:sp>
    </p:spTree>
    <p:extLst>
      <p:ext uri="{BB962C8B-B14F-4D97-AF65-F5344CB8AC3E}">
        <p14:creationId xmlns:p14="http://schemas.microsoft.com/office/powerpoint/2010/main" val="2151498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a:buFont typeface="Wingdings" panose="05000000000000000000" pitchFamily="2" charset="2"/>
              <a:buChar char="§"/>
            </a:pPr>
            <a:r>
              <a:rPr lang="en-US" b="1" dirty="0"/>
              <a:t>{INSERT [OR] | UPDATE [OR] | DELETE} </a:t>
            </a:r>
            <a:r>
              <a:rPr lang="en-US" dirty="0"/>
              <a:t>− This specifies the DML operation.</a:t>
            </a:r>
          </a:p>
          <a:p>
            <a:pPr>
              <a:buFont typeface="Wingdings" panose="05000000000000000000" pitchFamily="2" charset="2"/>
              <a:buChar char="§"/>
            </a:pPr>
            <a:endParaRPr lang="en-US" dirty="0"/>
          </a:p>
          <a:p>
            <a:pPr>
              <a:buFont typeface="Wingdings" panose="05000000000000000000" pitchFamily="2" charset="2"/>
              <a:buChar char="§"/>
            </a:pPr>
            <a:r>
              <a:rPr lang="en-US" b="1" dirty="0"/>
              <a:t>[OF </a:t>
            </a:r>
            <a:r>
              <a:rPr lang="en-US" b="1" dirty="0" err="1"/>
              <a:t>col_name</a:t>
            </a:r>
            <a:r>
              <a:rPr lang="en-US" b="1" dirty="0"/>
              <a:t>] </a:t>
            </a:r>
            <a:r>
              <a:rPr lang="en-US" dirty="0"/>
              <a:t>− This specifies the column name that will be updated.</a:t>
            </a:r>
          </a:p>
          <a:p>
            <a:pPr>
              <a:buFont typeface="Wingdings" panose="05000000000000000000" pitchFamily="2" charset="2"/>
              <a:buChar char="§"/>
            </a:pPr>
            <a:endParaRPr lang="en-US" dirty="0"/>
          </a:p>
          <a:p>
            <a:pPr>
              <a:buFont typeface="Wingdings" panose="05000000000000000000" pitchFamily="2" charset="2"/>
              <a:buChar char="§"/>
            </a:pPr>
            <a:r>
              <a:rPr lang="en-US" b="1" dirty="0"/>
              <a:t>[ON </a:t>
            </a:r>
            <a:r>
              <a:rPr lang="en-US" b="1" dirty="0" err="1"/>
              <a:t>table_name</a:t>
            </a:r>
            <a:r>
              <a:rPr lang="en-US" b="1" dirty="0"/>
              <a:t>] </a:t>
            </a:r>
            <a:r>
              <a:rPr lang="en-US" dirty="0"/>
              <a:t>− This specifies the name of the table associated with the trigger.</a:t>
            </a:r>
          </a:p>
          <a:p>
            <a:pPr>
              <a:buFont typeface="Wingdings" panose="05000000000000000000" pitchFamily="2" charset="2"/>
              <a:buChar char="§"/>
            </a:pPr>
            <a:endParaRPr lang="en-US" dirty="0"/>
          </a:p>
          <a:p>
            <a:pPr>
              <a:buFont typeface="Wingdings" panose="05000000000000000000" pitchFamily="2" charset="2"/>
              <a:buChar char="§"/>
            </a:pPr>
            <a:r>
              <a:rPr lang="en-US" b="1" dirty="0"/>
              <a:t>[REFERENCING OLD AS o NEW AS n] </a:t>
            </a:r>
            <a:r>
              <a:rPr lang="en-US" dirty="0"/>
              <a:t>− This allows you to refer new and old values for various DML statements, such as INSERT, UPDATE, and DELETE.</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394131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buFont typeface="Wingdings" panose="05000000000000000000" pitchFamily="2" charset="2"/>
              <a:buChar char="§"/>
            </a:pPr>
            <a:r>
              <a:rPr lang="en-US" b="1" dirty="0"/>
              <a:t>[FOR EACH ROW] </a:t>
            </a:r>
            <a:r>
              <a:rPr lang="en-US" dirty="0"/>
              <a:t>− This specifies a row-level trigger, i.e., the trigger will be executed for each row being affected. Otherwise the trigger will execute just once when the SQL statement is executed, which is called a table level trigger.</a:t>
            </a:r>
          </a:p>
          <a:p>
            <a:pPr>
              <a:buFont typeface="Wingdings" panose="05000000000000000000" pitchFamily="2" charset="2"/>
              <a:buChar char="§"/>
            </a:pPr>
            <a:endParaRPr lang="en-US" dirty="0"/>
          </a:p>
          <a:p>
            <a:pPr>
              <a:buFont typeface="Wingdings" panose="05000000000000000000" pitchFamily="2" charset="2"/>
              <a:buChar char="§"/>
            </a:pPr>
            <a:r>
              <a:rPr lang="en-US" b="1" dirty="0"/>
              <a:t>WHEN (condition) </a:t>
            </a:r>
            <a:r>
              <a:rPr lang="en-US" dirty="0"/>
              <a:t>− This provides a condition for rows for which the trigger would fire. This clause is valid only for row-level triggers.</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572262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
            </a:pPr>
            <a:r>
              <a:rPr lang="en-US" sz="4100" dirty="0"/>
              <a:t>Select * from customers</a:t>
            </a:r>
            <a:r>
              <a:rPr lang="en-US" dirty="0"/>
              <a:t>;</a:t>
            </a:r>
          </a:p>
          <a:p>
            <a:pPr marL="0" indent="0">
              <a:buNone/>
            </a:pPr>
            <a:r>
              <a:rPr lang="en-US" dirty="0"/>
              <a:t>  +----+----------+---------+--------------------+----------------+ </a:t>
            </a:r>
          </a:p>
          <a:p>
            <a:pPr marL="0" indent="0">
              <a:buNone/>
            </a:pPr>
            <a:r>
              <a:rPr lang="en-US" dirty="0"/>
              <a:t>  | ID | NAME | AGE    | ADDRESS        | SALARY      | </a:t>
            </a:r>
          </a:p>
          <a:p>
            <a:pPr marL="0" indent="0">
              <a:buNone/>
            </a:pPr>
            <a:r>
              <a:rPr lang="en-US" dirty="0"/>
              <a:t>+----+------------+---------+--------------------+---------------+ </a:t>
            </a:r>
          </a:p>
          <a:p>
            <a:pPr marL="0" indent="0">
              <a:buNone/>
            </a:pPr>
            <a:r>
              <a:rPr lang="en-US" dirty="0"/>
              <a:t>  | 1 | Pranav  | 32       | Mumbai          | 90000.00 |</a:t>
            </a:r>
          </a:p>
          <a:p>
            <a:pPr marL="0" indent="0">
              <a:buNone/>
            </a:pPr>
            <a:r>
              <a:rPr lang="en-US" dirty="0"/>
              <a:t>  | 2 | Yogesh  | 25       | Navi Mumbai | 65000.00 |</a:t>
            </a:r>
          </a:p>
          <a:p>
            <a:pPr marL="0" indent="0">
              <a:buNone/>
            </a:pPr>
            <a:r>
              <a:rPr lang="en-US" dirty="0"/>
              <a:t>  | 3 | Pritesh  | 23       |  Karnataka      | 80000.00 | </a:t>
            </a:r>
          </a:p>
          <a:p>
            <a:pPr marL="0" indent="0">
              <a:buNone/>
            </a:pPr>
            <a:r>
              <a:rPr lang="en-US" dirty="0"/>
              <a:t>  | 4 | </a:t>
            </a:r>
            <a:r>
              <a:rPr lang="en-US" dirty="0" err="1"/>
              <a:t>Sheetal</a:t>
            </a:r>
            <a:r>
              <a:rPr lang="en-US" dirty="0"/>
              <a:t>  | 25      | Mumbai          | 65000.00 | </a:t>
            </a:r>
          </a:p>
          <a:p>
            <a:pPr marL="0" indent="0">
              <a:buNone/>
            </a:pPr>
            <a:r>
              <a:rPr lang="en-US" dirty="0"/>
              <a:t>  | 5 | </a:t>
            </a:r>
            <a:r>
              <a:rPr lang="en-US" dirty="0" err="1"/>
              <a:t>Arpita</a:t>
            </a:r>
            <a:r>
              <a:rPr lang="en-US" dirty="0"/>
              <a:t>    | 27      | Bhopal             | 85000.00 | </a:t>
            </a:r>
          </a:p>
          <a:p>
            <a:pPr marL="0" indent="0">
              <a:buNone/>
            </a:pPr>
            <a:r>
              <a:rPr lang="en-US" dirty="0"/>
              <a:t>  | 6 | Bhumi    | 22      | Delhi                | 45000.00 | </a:t>
            </a:r>
          </a:p>
          <a:p>
            <a:pPr marL="0" indent="0">
              <a:buNone/>
            </a:pPr>
            <a:r>
              <a:rPr lang="en-US" dirty="0"/>
              <a:t> +----+------------+----------+----------------+--------------+ </a:t>
            </a:r>
          </a:p>
        </p:txBody>
      </p:sp>
    </p:spTree>
    <p:extLst>
      <p:ext uri="{BB962C8B-B14F-4D97-AF65-F5344CB8AC3E}">
        <p14:creationId xmlns:p14="http://schemas.microsoft.com/office/powerpoint/2010/main" val="4125015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
            </a:pPr>
            <a:r>
              <a:rPr lang="en-US" dirty="0"/>
              <a:t>Write a program creates a </a:t>
            </a:r>
            <a:r>
              <a:rPr lang="en-US" b="1" dirty="0"/>
              <a:t>row-level</a:t>
            </a:r>
            <a:r>
              <a:rPr lang="en-US" dirty="0"/>
              <a:t> trigger for the customers table that would fire for INSERT or UPDATE or DELETE operations performed on the CUSTOMERS table. </a:t>
            </a:r>
          </a:p>
          <a:p>
            <a:pPr>
              <a:buFont typeface="Wingdings" panose="05000000000000000000" pitchFamily="2" charset="2"/>
              <a:buChar char="§"/>
            </a:pPr>
            <a:r>
              <a:rPr lang="en-US" dirty="0"/>
              <a:t>This trigger will display the salary difference between the old values and new values .</a:t>
            </a:r>
          </a:p>
        </p:txBody>
      </p:sp>
    </p:spTree>
    <p:extLst>
      <p:ext uri="{BB962C8B-B14F-4D97-AF65-F5344CB8AC3E}">
        <p14:creationId xmlns:p14="http://schemas.microsoft.com/office/powerpoint/2010/main" val="3944999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vert="horz" lIns="91440" tIns="45720" rIns="91440" bIns="45720" rtlCol="0" anchor="t">
            <a:normAutofit fontScale="92500" lnSpcReduction="20000"/>
          </a:bodyPr>
          <a:lstStyle/>
          <a:p>
            <a:pPr marL="0" indent="0">
              <a:buNone/>
            </a:pPr>
            <a:r>
              <a:rPr lang="en-US">
                <a:effectLst/>
              </a:rPr>
              <a:t>CREATE OR </a:t>
            </a:r>
            <a:r>
              <a:rPr lang="en-US"/>
              <a:t>REPLACE</a:t>
            </a:r>
            <a:r>
              <a:rPr lang="en-US">
                <a:effectLst/>
              </a:rPr>
              <a:t> TRIGGER</a:t>
            </a:r>
          </a:p>
          <a:p>
            <a:pPr marL="0" indent="0">
              <a:buNone/>
            </a:pPr>
            <a:r>
              <a:rPr lang="en-US" dirty="0" err="1">
                <a:effectLst/>
              </a:rPr>
              <a:t>display_salary_changes</a:t>
            </a:r>
            <a:r>
              <a:rPr lang="en-US" dirty="0">
                <a:effectLst/>
              </a:rPr>
              <a:t> </a:t>
            </a:r>
          </a:p>
          <a:p>
            <a:pPr marL="0" indent="0">
              <a:buNone/>
            </a:pPr>
            <a:r>
              <a:rPr lang="en-US" dirty="0">
                <a:effectLst/>
              </a:rPr>
              <a:t>BEFORE DELETE OR INSERT OR UPDATE </a:t>
            </a:r>
          </a:p>
          <a:p>
            <a:pPr marL="0" indent="0">
              <a:buNone/>
            </a:pPr>
            <a:r>
              <a:rPr lang="en-US" dirty="0">
                <a:effectLst/>
              </a:rPr>
              <a:t>ON customers </a:t>
            </a:r>
          </a:p>
          <a:p>
            <a:pPr marL="0" indent="0">
              <a:buNone/>
            </a:pPr>
            <a:r>
              <a:rPr lang="en-US" dirty="0">
                <a:effectLst/>
              </a:rPr>
              <a:t>FOR EACH ROW WHEN </a:t>
            </a:r>
            <a:r>
              <a:rPr lang="en-US" dirty="0"/>
              <a:t>(</a:t>
            </a:r>
            <a:r>
              <a:rPr lang="en-US" dirty="0">
                <a:effectLst/>
              </a:rPr>
              <a:t>NEW</a:t>
            </a:r>
            <a:r>
              <a:rPr lang="en-US" dirty="0"/>
              <a:t>.</a:t>
            </a:r>
            <a:r>
              <a:rPr lang="en-US" dirty="0">
                <a:effectLst/>
              </a:rPr>
              <a:t>ID </a:t>
            </a:r>
            <a:r>
              <a:rPr lang="en-US" dirty="0"/>
              <a:t>&gt;</a:t>
            </a:r>
            <a:r>
              <a:rPr lang="en-US" dirty="0">
                <a:effectLst/>
              </a:rPr>
              <a:t> </a:t>
            </a:r>
            <a:r>
              <a:rPr lang="en-US" dirty="0"/>
              <a:t>0)</a:t>
            </a:r>
            <a:r>
              <a:rPr lang="en-US" dirty="0">
                <a:effectLst/>
              </a:rPr>
              <a:t> </a:t>
            </a:r>
          </a:p>
          <a:p>
            <a:pPr marL="0" indent="0">
              <a:buNone/>
            </a:pPr>
            <a:r>
              <a:rPr lang="en-US" dirty="0">
                <a:effectLst/>
              </a:rPr>
              <a:t>DECLARE </a:t>
            </a:r>
            <a:r>
              <a:rPr lang="en-US" dirty="0" err="1">
                <a:effectLst/>
              </a:rPr>
              <a:t>sal_diff</a:t>
            </a:r>
            <a:r>
              <a:rPr lang="en-US" dirty="0">
                <a:effectLst/>
              </a:rPr>
              <a:t> number</a:t>
            </a:r>
            <a:r>
              <a:rPr lang="en-US" dirty="0"/>
              <a:t>;</a:t>
            </a:r>
          </a:p>
          <a:p>
            <a:pPr marL="0" indent="0">
              <a:buNone/>
            </a:pPr>
            <a:r>
              <a:rPr lang="en-US" dirty="0">
                <a:effectLst/>
              </a:rPr>
              <a:t> </a:t>
            </a:r>
            <a:r>
              <a:rPr lang="en-US" dirty="0"/>
              <a:t>BEGIN</a:t>
            </a:r>
            <a:r>
              <a:rPr lang="en-US" dirty="0">
                <a:effectLst/>
              </a:rPr>
              <a:t> </a:t>
            </a:r>
            <a:r>
              <a:rPr lang="en-US" dirty="0" err="1">
                <a:effectLst/>
              </a:rPr>
              <a:t>sal_diff</a:t>
            </a:r>
            <a:r>
              <a:rPr lang="en-US" dirty="0">
                <a:effectLst/>
              </a:rPr>
              <a:t> </a:t>
            </a:r>
            <a:r>
              <a:rPr lang="en-US" dirty="0"/>
              <a:t>:=</a:t>
            </a:r>
            <a:r>
              <a:rPr lang="en-US" dirty="0">
                <a:effectLst/>
              </a:rPr>
              <a:t> </a:t>
            </a:r>
            <a:r>
              <a:rPr lang="en-US" dirty="0"/>
              <a:t>:</a:t>
            </a:r>
            <a:r>
              <a:rPr lang="en-US" dirty="0" err="1">
                <a:effectLst/>
              </a:rPr>
              <a:t>NEW</a:t>
            </a:r>
            <a:r>
              <a:rPr lang="en-US" dirty="0" err="1"/>
              <a:t>.</a:t>
            </a:r>
            <a:r>
              <a:rPr lang="en-US" dirty="0" err="1">
                <a:effectLst/>
              </a:rPr>
              <a:t>salary</a:t>
            </a:r>
            <a:r>
              <a:rPr lang="en-US" dirty="0">
                <a:effectLst/>
              </a:rPr>
              <a:t> </a:t>
            </a:r>
            <a:r>
              <a:rPr lang="en-US" dirty="0"/>
              <a:t>-</a:t>
            </a:r>
            <a:r>
              <a:rPr lang="en-US" dirty="0">
                <a:effectLst/>
              </a:rPr>
              <a:t> </a:t>
            </a:r>
            <a:r>
              <a:rPr lang="en-US" dirty="0"/>
              <a:t>:</a:t>
            </a:r>
            <a:r>
              <a:rPr lang="en-US" dirty="0" err="1">
                <a:effectLst/>
              </a:rPr>
              <a:t>OLD</a:t>
            </a:r>
            <a:r>
              <a:rPr lang="en-US" dirty="0" err="1"/>
              <a:t>.</a:t>
            </a:r>
            <a:r>
              <a:rPr lang="en-US" dirty="0" err="1">
                <a:effectLst/>
              </a:rPr>
              <a:t>salary</a:t>
            </a:r>
            <a:r>
              <a:rPr lang="en-US" dirty="0"/>
              <a:t>;</a:t>
            </a:r>
            <a:r>
              <a:rPr lang="en-US" dirty="0">
                <a:effectLst/>
              </a:rPr>
              <a:t> </a:t>
            </a:r>
            <a:r>
              <a:rPr lang="en-US" dirty="0" err="1">
                <a:effectLst/>
              </a:rPr>
              <a:t>dbms_output</a:t>
            </a:r>
            <a:r>
              <a:rPr lang="en-US" dirty="0" err="1"/>
              <a:t>.</a:t>
            </a:r>
            <a:r>
              <a:rPr lang="en-US" dirty="0" err="1">
                <a:effectLst/>
              </a:rPr>
              <a:t>put_line</a:t>
            </a:r>
            <a:r>
              <a:rPr lang="en-US" dirty="0"/>
              <a:t>('Old salary: '</a:t>
            </a:r>
            <a:r>
              <a:rPr lang="en-US" dirty="0">
                <a:effectLst/>
              </a:rPr>
              <a:t> </a:t>
            </a:r>
            <a:r>
              <a:rPr lang="en-US" dirty="0"/>
              <a:t>||</a:t>
            </a:r>
            <a:r>
              <a:rPr lang="en-US" dirty="0">
                <a:effectLst/>
              </a:rPr>
              <a:t> </a:t>
            </a:r>
            <a:r>
              <a:rPr lang="en-US" dirty="0"/>
              <a:t>:</a:t>
            </a:r>
            <a:r>
              <a:rPr lang="en-US" dirty="0" err="1">
                <a:effectLst/>
              </a:rPr>
              <a:t>OLD</a:t>
            </a:r>
            <a:r>
              <a:rPr lang="en-US" dirty="0" err="1"/>
              <a:t>.</a:t>
            </a:r>
            <a:r>
              <a:rPr lang="en-US" dirty="0" err="1">
                <a:effectLst/>
              </a:rPr>
              <a:t>salary</a:t>
            </a:r>
            <a:r>
              <a:rPr lang="en-US" dirty="0"/>
              <a:t>);</a:t>
            </a:r>
            <a:r>
              <a:rPr lang="en-US" dirty="0">
                <a:effectLst/>
              </a:rPr>
              <a:t> </a:t>
            </a:r>
            <a:r>
              <a:rPr lang="en-US" dirty="0" err="1">
                <a:effectLst/>
              </a:rPr>
              <a:t>dbms_output</a:t>
            </a:r>
            <a:r>
              <a:rPr lang="en-US" dirty="0" err="1"/>
              <a:t>.</a:t>
            </a:r>
            <a:r>
              <a:rPr lang="en-US" dirty="0" err="1">
                <a:effectLst/>
              </a:rPr>
              <a:t>put_line</a:t>
            </a:r>
            <a:r>
              <a:rPr lang="en-US" dirty="0"/>
              <a:t>('New salary: '</a:t>
            </a:r>
            <a:r>
              <a:rPr lang="en-US" dirty="0">
                <a:effectLst/>
              </a:rPr>
              <a:t> </a:t>
            </a:r>
            <a:r>
              <a:rPr lang="en-US" dirty="0"/>
              <a:t>||</a:t>
            </a:r>
            <a:r>
              <a:rPr lang="en-US" dirty="0">
                <a:effectLst/>
              </a:rPr>
              <a:t> </a:t>
            </a:r>
            <a:r>
              <a:rPr lang="en-US" dirty="0"/>
              <a:t>:</a:t>
            </a:r>
            <a:r>
              <a:rPr lang="en-US" dirty="0" err="1">
                <a:effectLst/>
              </a:rPr>
              <a:t>NEW</a:t>
            </a:r>
            <a:r>
              <a:rPr lang="en-US" dirty="0" err="1"/>
              <a:t>.</a:t>
            </a:r>
            <a:r>
              <a:rPr lang="en-US" dirty="0" err="1">
                <a:effectLst/>
              </a:rPr>
              <a:t>salary</a:t>
            </a:r>
            <a:r>
              <a:rPr lang="en-US" dirty="0"/>
              <a:t>);</a:t>
            </a:r>
            <a:r>
              <a:rPr lang="en-US" dirty="0">
                <a:effectLst/>
              </a:rPr>
              <a:t> </a:t>
            </a:r>
          </a:p>
          <a:p>
            <a:pPr marL="0" indent="0">
              <a:buNone/>
            </a:pPr>
            <a:r>
              <a:rPr lang="en-US" dirty="0" err="1">
                <a:effectLst/>
              </a:rPr>
              <a:t>dbms_output</a:t>
            </a:r>
            <a:r>
              <a:rPr lang="en-US" dirty="0" err="1"/>
              <a:t>.</a:t>
            </a:r>
            <a:r>
              <a:rPr lang="en-US" dirty="0" err="1">
                <a:effectLst/>
              </a:rPr>
              <a:t>put_line</a:t>
            </a:r>
            <a:r>
              <a:rPr lang="en-US" dirty="0"/>
              <a:t>('Salary difference: '</a:t>
            </a:r>
            <a:r>
              <a:rPr lang="en-US" dirty="0">
                <a:effectLst/>
              </a:rPr>
              <a:t> </a:t>
            </a:r>
            <a:r>
              <a:rPr lang="en-US" dirty="0"/>
              <a:t>||</a:t>
            </a:r>
            <a:r>
              <a:rPr lang="en-US" dirty="0">
                <a:effectLst/>
              </a:rPr>
              <a:t> </a:t>
            </a:r>
            <a:r>
              <a:rPr lang="en-US" dirty="0" err="1">
                <a:effectLst/>
              </a:rPr>
              <a:t>sal_diff</a:t>
            </a:r>
            <a:r>
              <a:rPr lang="en-US" dirty="0"/>
              <a:t>);</a:t>
            </a:r>
            <a:r>
              <a:rPr lang="en-US" dirty="0">
                <a:effectLst/>
              </a:rPr>
              <a:t> </a:t>
            </a:r>
          </a:p>
          <a:p>
            <a:pPr marL="0" indent="0">
              <a:buNone/>
            </a:pPr>
            <a:r>
              <a:rPr lang="en-US" dirty="0"/>
              <a:t>END;</a:t>
            </a:r>
            <a:r>
              <a:rPr lang="en-US" dirty="0">
                <a:effectLst/>
              </a:rPr>
              <a:t> </a:t>
            </a:r>
            <a:endParaRPr lang="en-US" dirty="0"/>
          </a:p>
        </p:txBody>
      </p:sp>
    </p:spTree>
    <p:extLst>
      <p:ext uri="{BB962C8B-B14F-4D97-AF65-F5344CB8AC3E}">
        <p14:creationId xmlns:p14="http://schemas.microsoft.com/office/powerpoint/2010/main" val="270755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buFont typeface="Wingdings" panose="05000000000000000000" pitchFamily="2" charset="2"/>
              <a:buChar char="§"/>
            </a:pPr>
            <a:r>
              <a:rPr lang="en-US" dirty="0"/>
              <a:t>OLD and NEW references are not available for table-level triggers, rather you can use them for record-level triggers.</a:t>
            </a:r>
          </a:p>
          <a:p>
            <a:pPr>
              <a:buFont typeface="Wingdings" panose="05000000000000000000" pitchFamily="2" charset="2"/>
              <a:buChar char="§"/>
            </a:pPr>
            <a:endParaRPr lang="en-US" dirty="0"/>
          </a:p>
          <a:p>
            <a:pPr>
              <a:buFont typeface="Wingdings" panose="05000000000000000000" pitchFamily="2" charset="2"/>
              <a:buChar char="§"/>
            </a:pPr>
            <a:r>
              <a:rPr lang="en-US" dirty="0"/>
              <a:t>If you want to query the table in the same trigger, then you should use the AFTER keyword, because triggers can query the table or change it again only after the initial changes are applied and the table is back in a consistent state.</a:t>
            </a:r>
          </a:p>
        </p:txBody>
      </p:sp>
    </p:spTree>
    <p:extLst>
      <p:ext uri="{BB962C8B-B14F-4D97-AF65-F5344CB8AC3E}">
        <p14:creationId xmlns:p14="http://schemas.microsoft.com/office/powerpoint/2010/main" val="1277825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buFont typeface="Wingdings" panose="05000000000000000000" pitchFamily="2" charset="2"/>
              <a:buChar char="§"/>
            </a:pPr>
            <a:r>
              <a:rPr lang="en-US" dirty="0"/>
              <a:t>Here trigger has been written in such a way that it will fire before any DELETE or INSERT or UPDATE operation on the table, but you can write your trigger on a single or multiple operations.</a:t>
            </a:r>
          </a:p>
          <a:p>
            <a:pPr>
              <a:buFont typeface="Wingdings" panose="05000000000000000000" pitchFamily="2" charset="2"/>
              <a:buChar char="§"/>
            </a:pPr>
            <a:r>
              <a:rPr lang="en-US" dirty="0"/>
              <a:t> For example BEFORE DELETE, which will fire whenever a record will be deleted using the DELETE operation on the table.</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4189519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Font typeface="Wingdings" panose="05000000000000000000" pitchFamily="2" charset="2"/>
              <a:buChar char="§"/>
            </a:pPr>
            <a:r>
              <a:rPr lang="en-US" dirty="0"/>
              <a:t>Let us perform some DML operations on the CUSTOMERS table. </a:t>
            </a:r>
          </a:p>
          <a:p>
            <a:pPr>
              <a:buFont typeface="Wingdings" panose="05000000000000000000" pitchFamily="2" charset="2"/>
              <a:buChar char="§"/>
            </a:pPr>
            <a:endParaRPr lang="en-US" dirty="0"/>
          </a:p>
          <a:p>
            <a:pPr>
              <a:buFont typeface="Wingdings" panose="05000000000000000000" pitchFamily="2" charset="2"/>
              <a:buChar char="§"/>
            </a:pPr>
            <a:r>
              <a:rPr lang="en-US" dirty="0"/>
              <a:t>Here is one INSERT statement, which will create a new record in the table </a:t>
            </a:r>
          </a:p>
          <a:p>
            <a:pPr>
              <a:buFont typeface="Wingdings" panose="05000000000000000000" pitchFamily="2" charset="2"/>
              <a:buChar char="§"/>
            </a:pPr>
            <a:endParaRPr lang="en-US" dirty="0"/>
          </a:p>
          <a:p>
            <a:pPr>
              <a:buFont typeface="Wingdings" panose="05000000000000000000" pitchFamily="2" charset="2"/>
              <a:buChar char="§"/>
            </a:pPr>
            <a:r>
              <a:rPr lang="en-US" dirty="0">
                <a:effectLst/>
              </a:rPr>
              <a:t>INSERT INTO CUSTOMERS </a:t>
            </a:r>
            <a:r>
              <a:rPr lang="en-US" dirty="0"/>
              <a:t>(</a:t>
            </a:r>
            <a:r>
              <a:rPr lang="en-US" dirty="0">
                <a:effectLst/>
              </a:rPr>
              <a:t>ID</a:t>
            </a:r>
            <a:r>
              <a:rPr lang="en-US" dirty="0"/>
              <a:t>,</a:t>
            </a:r>
            <a:r>
              <a:rPr lang="en-US" dirty="0">
                <a:effectLst/>
              </a:rPr>
              <a:t>NAME</a:t>
            </a:r>
            <a:r>
              <a:rPr lang="en-US" dirty="0"/>
              <a:t>,</a:t>
            </a:r>
            <a:r>
              <a:rPr lang="en-US" dirty="0">
                <a:effectLst/>
              </a:rPr>
              <a:t>AGE</a:t>
            </a:r>
            <a:r>
              <a:rPr lang="en-US" dirty="0"/>
              <a:t>,</a:t>
            </a:r>
            <a:r>
              <a:rPr lang="en-US" dirty="0">
                <a:effectLst/>
              </a:rPr>
              <a:t>ADDRESS</a:t>
            </a:r>
            <a:r>
              <a:rPr lang="en-US" dirty="0"/>
              <a:t>,</a:t>
            </a:r>
            <a:r>
              <a:rPr lang="en-US" dirty="0">
                <a:effectLst/>
              </a:rPr>
              <a:t>SALARY</a:t>
            </a:r>
            <a:r>
              <a:rPr lang="en-US" dirty="0"/>
              <a:t>)</a:t>
            </a:r>
            <a:r>
              <a:rPr lang="en-US" dirty="0">
                <a:effectLst/>
              </a:rPr>
              <a:t> VALUES </a:t>
            </a:r>
            <a:r>
              <a:rPr lang="en-US" dirty="0"/>
              <a:t>(7,</a:t>
            </a:r>
            <a:r>
              <a:rPr lang="en-US" dirty="0">
                <a:effectLst/>
              </a:rPr>
              <a:t> </a:t>
            </a:r>
            <a:r>
              <a:rPr lang="en-US" dirty="0"/>
              <a:t>'</a:t>
            </a:r>
            <a:r>
              <a:rPr lang="en-US" dirty="0" err="1"/>
              <a:t>Kriti</a:t>
            </a:r>
            <a:r>
              <a:rPr lang="en-US" dirty="0"/>
              <a:t>',</a:t>
            </a:r>
            <a:r>
              <a:rPr lang="en-US" dirty="0">
                <a:effectLst/>
              </a:rPr>
              <a:t> </a:t>
            </a:r>
            <a:r>
              <a:rPr lang="en-US" dirty="0"/>
              <a:t>22,</a:t>
            </a:r>
            <a:r>
              <a:rPr lang="en-US" dirty="0">
                <a:effectLst/>
              </a:rPr>
              <a:t> </a:t>
            </a:r>
            <a:r>
              <a:rPr lang="en-US" dirty="0"/>
              <a:t>'HP',</a:t>
            </a:r>
            <a:r>
              <a:rPr lang="en-US" dirty="0">
                <a:effectLst/>
              </a:rPr>
              <a:t> </a:t>
            </a:r>
            <a:r>
              <a:rPr lang="en-US" dirty="0"/>
              <a:t>75000.00</a:t>
            </a:r>
            <a:r>
              <a:rPr lang="en-US" dirty="0">
                <a:effectLst/>
              </a:rPr>
              <a:t> </a:t>
            </a:r>
            <a:r>
              <a:rPr lang="en-US" dirty="0"/>
              <a:t>);</a:t>
            </a:r>
            <a:r>
              <a:rPr lang="en-US" dirty="0">
                <a:effectLst/>
              </a:rPr>
              <a:t> </a:t>
            </a:r>
          </a:p>
        </p:txBody>
      </p:sp>
    </p:spTree>
    <p:extLst>
      <p:ext uri="{BB962C8B-B14F-4D97-AF65-F5344CB8AC3E}">
        <p14:creationId xmlns:p14="http://schemas.microsoft.com/office/powerpoint/2010/main" val="2475076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Font typeface="Wingdings" panose="05000000000000000000" pitchFamily="2" charset="2"/>
              <a:buChar char="§"/>
            </a:pPr>
            <a:r>
              <a:rPr lang="en-US" dirty="0"/>
              <a:t>Let us perform some DML operations on the CUSTOMERS table. </a:t>
            </a:r>
          </a:p>
          <a:p>
            <a:pPr>
              <a:buFont typeface="Wingdings" panose="05000000000000000000" pitchFamily="2" charset="2"/>
              <a:buChar char="§"/>
            </a:pPr>
            <a:endParaRPr lang="en-US" dirty="0"/>
          </a:p>
          <a:p>
            <a:pPr>
              <a:buFont typeface="Wingdings" panose="05000000000000000000" pitchFamily="2" charset="2"/>
              <a:buChar char="§"/>
            </a:pPr>
            <a:r>
              <a:rPr lang="en-US" dirty="0"/>
              <a:t>Here is one INSERT statement, which will create a new record in the table </a:t>
            </a:r>
          </a:p>
          <a:p>
            <a:pPr>
              <a:buFont typeface="Wingdings" panose="05000000000000000000" pitchFamily="2" charset="2"/>
              <a:buChar char="§"/>
            </a:pPr>
            <a:endParaRPr lang="en-US" dirty="0"/>
          </a:p>
          <a:p>
            <a:pPr>
              <a:buFont typeface="Wingdings" panose="05000000000000000000" pitchFamily="2" charset="2"/>
              <a:buChar char="§"/>
            </a:pPr>
            <a:r>
              <a:rPr lang="en-US" dirty="0">
                <a:effectLst/>
              </a:rPr>
              <a:t>INSERT INTO CUSTOMERS </a:t>
            </a:r>
            <a:r>
              <a:rPr lang="en-US" dirty="0"/>
              <a:t>(</a:t>
            </a:r>
            <a:r>
              <a:rPr lang="en-US" dirty="0">
                <a:effectLst/>
              </a:rPr>
              <a:t>ID</a:t>
            </a:r>
            <a:r>
              <a:rPr lang="en-US" dirty="0"/>
              <a:t>,</a:t>
            </a:r>
            <a:r>
              <a:rPr lang="en-US" dirty="0">
                <a:effectLst/>
              </a:rPr>
              <a:t>NAME</a:t>
            </a:r>
            <a:r>
              <a:rPr lang="en-US" dirty="0"/>
              <a:t>,</a:t>
            </a:r>
            <a:r>
              <a:rPr lang="en-US" dirty="0">
                <a:effectLst/>
              </a:rPr>
              <a:t>AGE</a:t>
            </a:r>
            <a:r>
              <a:rPr lang="en-US" dirty="0"/>
              <a:t>,</a:t>
            </a:r>
            <a:r>
              <a:rPr lang="en-US" dirty="0">
                <a:effectLst/>
              </a:rPr>
              <a:t>ADDRESS</a:t>
            </a:r>
            <a:r>
              <a:rPr lang="en-US" dirty="0"/>
              <a:t>,</a:t>
            </a:r>
            <a:r>
              <a:rPr lang="en-US" dirty="0">
                <a:effectLst/>
              </a:rPr>
              <a:t>SALARY</a:t>
            </a:r>
            <a:r>
              <a:rPr lang="en-US" dirty="0"/>
              <a:t>)</a:t>
            </a:r>
            <a:r>
              <a:rPr lang="en-US" dirty="0">
                <a:effectLst/>
              </a:rPr>
              <a:t> VALUES </a:t>
            </a:r>
            <a:r>
              <a:rPr lang="en-US" dirty="0"/>
              <a:t>(7,</a:t>
            </a:r>
            <a:r>
              <a:rPr lang="en-US" dirty="0">
                <a:effectLst/>
              </a:rPr>
              <a:t> </a:t>
            </a:r>
            <a:r>
              <a:rPr lang="en-US" dirty="0"/>
              <a:t>'</a:t>
            </a:r>
            <a:r>
              <a:rPr lang="en-US" dirty="0" err="1"/>
              <a:t>Kriti</a:t>
            </a:r>
            <a:r>
              <a:rPr lang="en-US" dirty="0"/>
              <a:t>',</a:t>
            </a:r>
            <a:r>
              <a:rPr lang="en-US" dirty="0">
                <a:effectLst/>
              </a:rPr>
              <a:t> </a:t>
            </a:r>
            <a:r>
              <a:rPr lang="en-US" dirty="0"/>
              <a:t>22,</a:t>
            </a:r>
            <a:r>
              <a:rPr lang="en-US" dirty="0">
                <a:effectLst/>
              </a:rPr>
              <a:t> </a:t>
            </a:r>
            <a:r>
              <a:rPr lang="en-US" dirty="0"/>
              <a:t>'HP',</a:t>
            </a:r>
            <a:r>
              <a:rPr lang="en-US" dirty="0">
                <a:effectLst/>
              </a:rPr>
              <a:t> </a:t>
            </a:r>
            <a:r>
              <a:rPr lang="en-US" dirty="0"/>
              <a:t>75000.00</a:t>
            </a:r>
            <a:r>
              <a:rPr lang="en-US" dirty="0">
                <a:effectLst/>
              </a:rPr>
              <a:t> </a:t>
            </a:r>
            <a:r>
              <a:rPr lang="en-US" dirty="0"/>
              <a:t>);</a:t>
            </a:r>
            <a:r>
              <a:rPr lang="en-US" dirty="0">
                <a:effectLst/>
              </a:rPr>
              <a:t> </a:t>
            </a:r>
          </a:p>
        </p:txBody>
      </p:sp>
    </p:spTree>
    <p:extLst>
      <p:ext uri="{BB962C8B-B14F-4D97-AF65-F5344CB8AC3E}">
        <p14:creationId xmlns:p14="http://schemas.microsoft.com/office/powerpoint/2010/main" val="2506523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Font typeface="Wingdings" panose="05000000000000000000" pitchFamily="2" charset="2"/>
              <a:buChar char="§"/>
            </a:pPr>
            <a:r>
              <a:rPr lang="en-US" dirty="0"/>
              <a:t>When a record is created in the CUSTOMERS table, the trigger, </a:t>
            </a:r>
            <a:r>
              <a:rPr lang="en-US" b="1" dirty="0" err="1"/>
              <a:t>display_salary_changes</a:t>
            </a:r>
            <a:r>
              <a:rPr lang="en-US" dirty="0"/>
              <a:t> will be fired and it will display the following result </a:t>
            </a:r>
          </a:p>
          <a:p>
            <a:pPr>
              <a:buFont typeface="Wingdings" panose="05000000000000000000" pitchFamily="2" charset="2"/>
              <a:buChar char="§"/>
            </a:pPr>
            <a:endParaRPr lang="en-US" dirty="0"/>
          </a:p>
          <a:p>
            <a:pPr>
              <a:buFont typeface="Wingdings" panose="05000000000000000000" pitchFamily="2" charset="2"/>
              <a:buChar char="§"/>
            </a:pPr>
            <a:r>
              <a:rPr lang="en-US" dirty="0"/>
              <a:t>Old salary: New salary: 75000</a:t>
            </a:r>
          </a:p>
          <a:p>
            <a:pPr>
              <a:buFont typeface="Wingdings" panose="05000000000000000000" pitchFamily="2" charset="2"/>
              <a:buChar char="§"/>
            </a:pPr>
            <a:r>
              <a:rPr lang="en-US" dirty="0"/>
              <a:t> Salary difference: </a:t>
            </a:r>
          </a:p>
          <a:p>
            <a:pPr>
              <a:buFont typeface="Wingdings" panose="05000000000000000000" pitchFamily="2" charset="2"/>
              <a:buChar char="§"/>
            </a:pPr>
            <a:r>
              <a:rPr lang="en-US" dirty="0"/>
              <a:t>Because this is a new record, old salary is not available and the above result comes as null.</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694763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buFont typeface="Wingdings" panose="05000000000000000000" pitchFamily="2" charset="2"/>
              <a:buChar char="§"/>
            </a:pPr>
            <a:r>
              <a:rPr lang="en-US" dirty="0"/>
              <a:t>The UPDATE statement will update an existing record in the table −</a:t>
            </a:r>
          </a:p>
          <a:p>
            <a:pPr>
              <a:buFont typeface="Wingdings" panose="05000000000000000000" pitchFamily="2" charset="2"/>
              <a:buChar char="§"/>
            </a:pPr>
            <a:r>
              <a:rPr lang="en-US" dirty="0">
                <a:effectLst/>
              </a:rPr>
              <a:t>UPDATE customers SET salary </a:t>
            </a:r>
            <a:r>
              <a:rPr lang="en-US" dirty="0"/>
              <a:t>=</a:t>
            </a:r>
            <a:r>
              <a:rPr lang="en-US" dirty="0">
                <a:effectLst/>
              </a:rPr>
              <a:t> salary </a:t>
            </a:r>
            <a:r>
              <a:rPr lang="en-US" dirty="0"/>
              <a:t>+</a:t>
            </a:r>
            <a:r>
              <a:rPr lang="en-US" dirty="0">
                <a:effectLst/>
              </a:rPr>
              <a:t> </a:t>
            </a:r>
            <a:r>
              <a:rPr lang="en-US" dirty="0"/>
              <a:t>5000</a:t>
            </a:r>
            <a:r>
              <a:rPr lang="en-US" dirty="0">
                <a:effectLst/>
              </a:rPr>
              <a:t> WHERE id </a:t>
            </a:r>
            <a:r>
              <a:rPr lang="en-US" dirty="0"/>
              <a:t>=</a:t>
            </a:r>
            <a:r>
              <a:rPr lang="en-US" dirty="0">
                <a:effectLst/>
              </a:rPr>
              <a:t> </a:t>
            </a:r>
            <a:r>
              <a:rPr lang="en-US" dirty="0"/>
              <a:t>2;</a:t>
            </a:r>
            <a:r>
              <a:rPr lang="en-US" dirty="0">
                <a:effectLst/>
              </a:rPr>
              <a:t> </a:t>
            </a:r>
          </a:p>
          <a:p>
            <a:pPr>
              <a:buFont typeface="Wingdings" panose="05000000000000000000" pitchFamily="2" charset="2"/>
              <a:buChar char="§"/>
            </a:pPr>
            <a:r>
              <a:rPr lang="en-US" dirty="0"/>
              <a:t>When a record is updated in the CUSTOMERS table, the trigger, </a:t>
            </a:r>
            <a:r>
              <a:rPr lang="en-US" b="1" dirty="0" err="1"/>
              <a:t>display_salary_changes</a:t>
            </a:r>
            <a:r>
              <a:rPr lang="en-US" dirty="0"/>
              <a:t> will be fired and it will display the following result −</a:t>
            </a:r>
          </a:p>
          <a:p>
            <a:pPr>
              <a:buFont typeface="Wingdings" panose="05000000000000000000" pitchFamily="2" charset="2"/>
              <a:buChar char="§"/>
            </a:pPr>
            <a:r>
              <a:rPr lang="en-US" dirty="0"/>
              <a:t>Old salary: 65000 New salary: 20000 Salary difference: 85000</a:t>
            </a:r>
          </a:p>
        </p:txBody>
      </p:sp>
    </p:spTree>
    <p:extLst>
      <p:ext uri="{BB962C8B-B14F-4D97-AF65-F5344CB8AC3E}">
        <p14:creationId xmlns:p14="http://schemas.microsoft.com/office/powerpoint/2010/main" val="971896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1860917339A24CBF48CA72FD87A938" ma:contentTypeVersion="4" ma:contentTypeDescription="Create a new document." ma:contentTypeScope="" ma:versionID="980b02646fa074ec6df36e14e32d67b1">
  <xsd:schema xmlns:xsd="http://www.w3.org/2001/XMLSchema" xmlns:xs="http://www.w3.org/2001/XMLSchema" xmlns:p="http://schemas.microsoft.com/office/2006/metadata/properties" xmlns:ns2="add626ea-3744-4bc4-9968-be3225425790" xmlns:ns3="be0a9719-4ac4-4ca6-8b98-e7dd01bc4f66" targetNamespace="http://schemas.microsoft.com/office/2006/metadata/properties" ma:root="true" ma:fieldsID="8108df76a192e00ecce4cadae88a104d" ns2:_="" ns3:_="">
    <xsd:import namespace="add626ea-3744-4bc4-9968-be3225425790"/>
    <xsd:import namespace="be0a9719-4ac4-4ca6-8b98-e7dd01bc4f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d626ea-3744-4bc4-9968-be322542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0a9719-4ac4-4ca6-8b98-e7dd01bc4f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299CDC-D4EB-47A2-94E3-2234781D0A03}">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0d751855-8ec5-4dae-b5f0-246e4d043203"/>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A26723D1-94D7-4D8E-9C7C-FE765E5AD2CC}">
  <ds:schemaRefs>
    <ds:schemaRef ds:uri="http://schemas.microsoft.com/sharepoint/v3/contenttype/forms"/>
  </ds:schemaRefs>
</ds:datastoreItem>
</file>

<file path=customXml/itemProps3.xml><?xml version="1.0" encoding="utf-8"?>
<ds:datastoreItem xmlns:ds="http://schemas.openxmlformats.org/officeDocument/2006/customXml" ds:itemID="{34050C6B-DEB1-4185-A7CD-CB0E9D3A36E2}"/>
</file>

<file path=docProps/app.xml><?xml version="1.0" encoding="utf-8"?>
<Properties xmlns="http://schemas.openxmlformats.org/officeDocument/2006/extended-properties" xmlns:vt="http://schemas.openxmlformats.org/officeDocument/2006/docPropsVTypes">
  <TotalTime>54</TotalTime>
  <Words>770</Words>
  <Application>Microsoft Office PowerPoint</Application>
  <PresentationFormat>On-screen Show (4:3)</PresentationFormat>
  <Paragraphs>92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Triggers IN SQL</vt:lpstr>
      <vt:lpstr>Triggers</vt:lpstr>
      <vt:lpstr>Triggers</vt:lpstr>
      <vt:lpstr>Triggers</vt:lpstr>
      <vt:lpstr> Benefits of Triggers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Triggers IN SQL</dc:title>
  <dc:creator>Reshma Malik</dc:creator>
  <cp:lastModifiedBy>Lenovo</cp:lastModifiedBy>
  <cp:revision>12</cp:revision>
  <dcterms:created xsi:type="dcterms:W3CDTF">2018-09-30T10:46:42Z</dcterms:created>
  <dcterms:modified xsi:type="dcterms:W3CDTF">2022-11-10T21:46:43Z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0x010100821860917339A24CBF48CA72FD87A938</vt:lpwstr>
  </property>
</Properties>
</file>