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5" r:id="rId6"/>
    <p:sldId id="286" r:id="rId7"/>
    <p:sldId id="287" r:id="rId8"/>
    <p:sldId id="288" r:id="rId9"/>
    <p:sldId id="257" r:id="rId10"/>
    <p:sldId id="289" r:id="rId11"/>
    <p:sldId id="260" r:id="rId12"/>
    <p:sldId id="258" r:id="rId13"/>
    <p:sldId id="259" r:id="rId14"/>
    <p:sldId id="261" r:id="rId15"/>
    <p:sldId id="264" r:id="rId16"/>
    <p:sldId id="266" r:id="rId17"/>
    <p:sldId id="263" r:id="rId18"/>
    <p:sldId id="267" r:id="rId19"/>
    <p:sldId id="262" r:id="rId20"/>
    <p:sldId id="268" r:id="rId21"/>
    <p:sldId id="265" r:id="rId22"/>
    <p:sldId id="270" r:id="rId23"/>
    <p:sldId id="271" r:id="rId24"/>
    <p:sldId id="272" r:id="rId25"/>
    <p:sldId id="269" r:id="rId26"/>
    <p:sldId id="273" r:id="rId27"/>
    <p:sldId id="274" r:id="rId28"/>
    <p:sldId id="276" r:id="rId29"/>
    <p:sldId id="275" r:id="rId30"/>
    <p:sldId id="277" r:id="rId31"/>
    <p:sldId id="278" r:id="rId32"/>
    <p:sldId id="279" r:id="rId33"/>
    <p:sldId id="280" r:id="rId34"/>
    <p:sldId id="281" r:id="rId35"/>
    <p:sldId id="282" r:id="rId36"/>
    <p:sldId id="284" r:id="rId37"/>
    <p:sldId id="283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0C4F2-ACE5-42A3-85F5-2B11D695CB0D}" v="2" dt="2022-10-15T11:16:57.359"/>
    <p1510:client id="{BCFE4E94-754B-424A-B4B5-AA908ADEA5E9}" v="1" dt="2022-10-15T14:35:57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8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V JAIN" userId="S::manav.jain215041@tsecedu.org::dbd96821-9229-4c3f-bb70-a5d6eec1d520" providerId="AD" clId="Web-{BCFE4E94-754B-424A-B4B5-AA908ADEA5E9}"/>
    <pc:docChg chg="sldOrd">
      <pc:chgData name="MANAV JAIN" userId="S::manav.jain215041@tsecedu.org::dbd96821-9229-4c3f-bb70-a5d6eec1d520" providerId="AD" clId="Web-{BCFE4E94-754B-424A-B4B5-AA908ADEA5E9}" dt="2022-10-15T14:35:57.206" v="0"/>
      <pc:docMkLst>
        <pc:docMk/>
      </pc:docMkLst>
      <pc:sldChg chg="ord">
        <pc:chgData name="MANAV JAIN" userId="S::manav.jain215041@tsecedu.org::dbd96821-9229-4c3f-bb70-a5d6eec1d520" providerId="AD" clId="Web-{BCFE4E94-754B-424A-B4B5-AA908ADEA5E9}" dt="2022-10-15T14:35:57.206" v="0"/>
        <pc:sldMkLst>
          <pc:docMk/>
          <pc:sldMk cId="3076191148" sldId="284"/>
        </pc:sldMkLst>
      </pc:sldChg>
    </pc:docChg>
  </pc:docChgLst>
  <pc:docChgLst>
    <pc:chgData name="MANAS DIVEKAR" userId="S::manas.divekar215057@tsecedu.org::1a71a6bd-4c51-47d4-82b0-63b70d28bb7e" providerId="AD" clId="Web-{A140C4F2-ACE5-42A3-85F5-2B11D695CB0D}"/>
    <pc:docChg chg="modSld">
      <pc:chgData name="MANAS DIVEKAR" userId="S::manas.divekar215057@tsecedu.org::1a71a6bd-4c51-47d4-82b0-63b70d28bb7e" providerId="AD" clId="Web-{A140C4F2-ACE5-42A3-85F5-2B11D695CB0D}" dt="2022-10-15T11:16:57.359" v="1" actId="1076"/>
      <pc:docMkLst>
        <pc:docMk/>
      </pc:docMkLst>
      <pc:sldChg chg="modSp">
        <pc:chgData name="MANAS DIVEKAR" userId="S::manas.divekar215057@tsecedu.org::1a71a6bd-4c51-47d4-82b0-63b70d28bb7e" providerId="AD" clId="Web-{A140C4F2-ACE5-42A3-85F5-2B11D695CB0D}" dt="2022-10-15T11:16:57.359" v="1" actId="1076"/>
        <pc:sldMkLst>
          <pc:docMk/>
          <pc:sldMk cId="3650061886" sldId="256"/>
        </pc:sldMkLst>
        <pc:spChg chg="mod">
          <ac:chgData name="MANAS DIVEKAR" userId="S::manas.divekar215057@tsecedu.org::1a71a6bd-4c51-47d4-82b0-63b70d28bb7e" providerId="AD" clId="Web-{A140C4F2-ACE5-42A3-85F5-2B11D695CB0D}" dt="2022-10-15T11:16:57.359" v="1" actId="1076"/>
          <ac:spMkLst>
            <pc:docMk/>
            <pc:sldMk cId="3650061886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E26E-A427-4842-BE93-19CF926D2D45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43E6-6F45-41F6-BF72-805268A79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0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E26E-A427-4842-BE93-19CF926D2D45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43E6-6F45-41F6-BF72-805268A79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73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E26E-A427-4842-BE93-19CF926D2D45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43E6-6F45-41F6-BF72-805268A79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2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E26E-A427-4842-BE93-19CF926D2D45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43E6-6F45-41F6-BF72-805268A79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62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E26E-A427-4842-BE93-19CF926D2D45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43E6-6F45-41F6-BF72-805268A79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E26E-A427-4842-BE93-19CF926D2D45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43E6-6F45-41F6-BF72-805268A79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74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E26E-A427-4842-BE93-19CF926D2D45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43E6-6F45-41F6-BF72-805268A79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77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E26E-A427-4842-BE93-19CF926D2D45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43E6-6F45-41F6-BF72-805268A79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E26E-A427-4842-BE93-19CF926D2D45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43E6-6F45-41F6-BF72-805268A79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E26E-A427-4842-BE93-19CF926D2D45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43E6-6F45-41F6-BF72-805268A79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3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BE26E-A427-4842-BE93-19CF926D2D45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43E6-6F45-41F6-BF72-805268A79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45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BE26E-A427-4842-BE93-19CF926D2D45}" type="datetimeFigureOut">
              <a:rPr lang="en-US" smtClean="0"/>
              <a:t>10/15/2022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C43E6-6F45-41F6-BF72-805268A79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709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67295"/>
            <a:ext cx="7772400" cy="1470025"/>
          </a:xfrm>
        </p:spPr>
        <p:txBody>
          <a:bodyPr/>
          <a:lstStyle/>
          <a:p>
            <a:r>
              <a:rPr lang="en-US" b="1" dirty="0"/>
              <a:t>SQL QUERIES</a:t>
            </a:r>
          </a:p>
        </p:txBody>
      </p:sp>
    </p:spTree>
    <p:extLst>
      <p:ext uri="{BB962C8B-B14F-4D97-AF65-F5344CB8AC3E}">
        <p14:creationId xmlns:p14="http://schemas.microsoft.com/office/powerpoint/2010/main" val="3650061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SUBQUERY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Subquery or Inner query or a Nested query is a query within another SQL query.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subquery is used to return data that will be used in the main query as a condition to  restrict the data to be retrieved.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Subqueries can be used with the SELECT, INSERT, UPDATE, and DELETE statements along with the operators like =, &lt;, &gt;, &gt;=, &lt;=, IN, BETWEEN, etc.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160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SUBQUERY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Subqueries must be enclosed within parentheses.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An ORDER BY command cannot be used in a subquery, although the main query can use an ORDER BY.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GROUP BY command can be used to perform the same function as the ORDER BY in a subquery.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35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SUBQUERY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Subqueries that return more than one row can only be used with multiple value operators such as the </a:t>
            </a:r>
            <a:r>
              <a:rPr lang="en-US" b="1" dirty="0"/>
              <a:t>IN operator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SELECT list cannot include any references to values that evaluate to a BLOB, ARRAY, CLOB, or NCLOB.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subquery cannot be immediately enclosed in a set function.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BETWEEN operator cannot be used with a subquery. However, the BETWEEN operator can be used within the subquery.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207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SUBQUERY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Subqueries are most frequently used with the SELECT statement.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basic syntax is as follows −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FF0000"/>
                </a:solidFill>
              </a:rPr>
              <a:t>SELECT </a:t>
            </a:r>
            <a:r>
              <a:rPr lang="en-US" b="1" dirty="0" err="1">
                <a:solidFill>
                  <a:srgbClr val="FF0000"/>
                </a:solidFill>
              </a:rPr>
              <a:t>column_name</a:t>
            </a:r>
            <a:r>
              <a:rPr lang="en-US" b="1" dirty="0">
                <a:solidFill>
                  <a:srgbClr val="FF0000"/>
                </a:solidFill>
              </a:rPr>
              <a:t> [, </a:t>
            </a:r>
            <a:r>
              <a:rPr lang="en-US" b="1" dirty="0" err="1">
                <a:solidFill>
                  <a:srgbClr val="FF0000"/>
                </a:solidFill>
              </a:rPr>
              <a:t>column_name</a:t>
            </a:r>
            <a:r>
              <a:rPr lang="en-US" b="1" dirty="0">
                <a:solidFill>
                  <a:srgbClr val="FF0000"/>
                </a:solidFill>
              </a:rPr>
              <a:t> ]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	FROM table1 [, table2 ]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	WHERE </a:t>
            </a:r>
            <a:r>
              <a:rPr lang="en-US" b="1" dirty="0" err="1">
                <a:solidFill>
                  <a:srgbClr val="FF0000"/>
                </a:solidFill>
              </a:rPr>
              <a:t>column_name</a:t>
            </a:r>
            <a:r>
              <a:rPr lang="en-US" b="1" dirty="0">
                <a:solidFill>
                  <a:srgbClr val="FF0000"/>
                </a:solidFill>
              </a:rPr>
              <a:t>  OPERATOR (SELECT 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                    </a:t>
            </a:r>
            <a:r>
              <a:rPr lang="en-US" b="1" dirty="0" err="1">
                <a:solidFill>
                  <a:srgbClr val="FF0000"/>
                </a:solidFill>
              </a:rPr>
              <a:t>column_name</a:t>
            </a:r>
            <a:r>
              <a:rPr lang="en-US" b="1" dirty="0">
                <a:solidFill>
                  <a:srgbClr val="FF0000"/>
                </a:solidFill>
              </a:rPr>
              <a:t> [, </a:t>
            </a:r>
            <a:r>
              <a:rPr lang="en-US" b="1" dirty="0" err="1">
                <a:solidFill>
                  <a:srgbClr val="FF0000"/>
                </a:solidFill>
              </a:rPr>
              <a:t>column_name</a:t>
            </a:r>
            <a:r>
              <a:rPr lang="en-US" b="1" dirty="0">
                <a:solidFill>
                  <a:srgbClr val="FF0000"/>
                </a:solidFill>
              </a:rPr>
              <a:t> ]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                    FROM table1 [, table2 ] [WHERE])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44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Employee Table (</a:t>
            </a:r>
            <a:r>
              <a:rPr lang="en-US" b="1" dirty="0" err="1"/>
              <a:t>emp</a:t>
            </a:r>
            <a:r>
              <a:rPr lang="en-US" b="1" dirty="0"/>
              <a:t>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3139128"/>
              </p:ext>
            </p:extLst>
          </p:nvPr>
        </p:nvGraphicFramePr>
        <p:xfrm>
          <a:off x="457200" y="1600200"/>
          <a:ext cx="822960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err="1"/>
                        <a:t>Emp_id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Emp_name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Dept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Adams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Johnson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Willams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591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205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 SQL Query to display maximum salary from </a:t>
            </a:r>
            <a:r>
              <a:rPr lang="en-US" dirty="0" err="1"/>
              <a:t>emp</a:t>
            </a:r>
            <a:r>
              <a:rPr lang="en-US" dirty="0"/>
              <a:t> table.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maximum salary </a:t>
            </a:r>
          </a:p>
          <a:p>
            <a:pPr marL="0" indent="0">
              <a:buNone/>
            </a:pPr>
            <a:r>
              <a:rPr lang="en-US" dirty="0"/>
              <a:t>Hence, use an Aggregate function here as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MAX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8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000" dirty="0"/>
              <a:t>Select MAX(Salary)</a:t>
            </a:r>
          </a:p>
          <a:p>
            <a:pPr marL="0" indent="0">
              <a:buNone/>
            </a:pPr>
            <a:r>
              <a:rPr lang="en-US" sz="4000" dirty="0"/>
              <a:t>From </a:t>
            </a:r>
            <a:r>
              <a:rPr lang="en-US" sz="4000" dirty="0" err="1"/>
              <a:t>emp</a:t>
            </a:r>
            <a:r>
              <a:rPr lang="en-US" sz="4000" dirty="0"/>
              <a:t>;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C00000"/>
                </a:solidFill>
              </a:rPr>
              <a:t>Output: 90000</a:t>
            </a:r>
          </a:p>
        </p:txBody>
      </p:sp>
    </p:spTree>
    <p:extLst>
      <p:ext uri="{BB962C8B-B14F-4D97-AF65-F5344CB8AC3E}">
        <p14:creationId xmlns:p14="http://schemas.microsoft.com/office/powerpoint/2010/main" val="1404884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 SQL Query to display  employee name who earns maximum salary from </a:t>
            </a:r>
            <a:r>
              <a:rPr lang="en-US" dirty="0" err="1"/>
              <a:t>emp</a:t>
            </a:r>
            <a:r>
              <a:rPr lang="en-US" dirty="0"/>
              <a:t> table.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nested query:</a:t>
            </a:r>
          </a:p>
          <a:p>
            <a:pPr marL="0" indent="0">
              <a:buNone/>
            </a:pPr>
            <a:r>
              <a:rPr lang="en-US" dirty="0"/>
              <a:t>consist of outer query ( executes after inner query) &amp; inner query (executes before outer query)</a:t>
            </a:r>
          </a:p>
        </p:txBody>
      </p:sp>
    </p:spTree>
    <p:extLst>
      <p:ext uri="{BB962C8B-B14F-4D97-AF65-F5344CB8AC3E}">
        <p14:creationId xmlns:p14="http://schemas.microsoft.com/office/powerpoint/2010/main" val="2687233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000" dirty="0"/>
              <a:t> Select </a:t>
            </a:r>
            <a:r>
              <a:rPr lang="en-US" sz="4000" dirty="0" err="1"/>
              <a:t>Emp_name</a:t>
            </a:r>
            <a:r>
              <a:rPr lang="en-US" sz="4000" dirty="0"/>
              <a:t> </a:t>
            </a:r>
          </a:p>
          <a:p>
            <a:pPr marL="0" indent="0">
              <a:buNone/>
            </a:pPr>
            <a:r>
              <a:rPr lang="en-US" sz="4000" dirty="0"/>
              <a:t> from </a:t>
            </a:r>
            <a:r>
              <a:rPr lang="en-US" sz="4000" dirty="0" err="1"/>
              <a:t>emp</a:t>
            </a:r>
            <a:endParaRPr lang="en-US" sz="4000" dirty="0"/>
          </a:p>
          <a:p>
            <a:pPr marL="0" indent="0">
              <a:buNone/>
            </a:pPr>
            <a:r>
              <a:rPr lang="en-US" sz="4000" dirty="0"/>
              <a:t> where salary= (Select MAX(Salary)</a:t>
            </a:r>
          </a:p>
          <a:p>
            <a:pPr marL="0" indent="0">
              <a:buNone/>
            </a:pPr>
            <a:r>
              <a:rPr lang="en-US" sz="4000" dirty="0"/>
              <a:t>                                          From </a:t>
            </a:r>
            <a:r>
              <a:rPr lang="en-US" sz="4000" dirty="0" err="1"/>
              <a:t>emp</a:t>
            </a:r>
            <a:r>
              <a:rPr lang="en-US" sz="4000" dirty="0"/>
              <a:t>;)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C00000"/>
                </a:solidFill>
              </a:rPr>
              <a:t>Here output of inner query  executes once with result as 90000 , then outer query will execute.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C00000"/>
                </a:solidFill>
              </a:rPr>
              <a:t>Salary  column value is compare with 90000 and print output as Smith.</a:t>
            </a:r>
          </a:p>
        </p:txBody>
      </p:sp>
    </p:spTree>
    <p:extLst>
      <p:ext uri="{BB962C8B-B14F-4D97-AF65-F5344CB8AC3E}">
        <p14:creationId xmlns:p14="http://schemas.microsoft.com/office/powerpoint/2010/main" val="2382587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Write a SQL Query to display second  highest  salary from </a:t>
            </a:r>
            <a:r>
              <a:rPr lang="en-US" dirty="0" err="1"/>
              <a:t>emp</a:t>
            </a:r>
            <a:r>
              <a:rPr lang="en-US" dirty="0"/>
              <a:t> table.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find out highest salary and then find highest from rest of the values.</a:t>
            </a:r>
          </a:p>
          <a:p>
            <a:pPr marL="0" indent="0">
              <a:buNone/>
            </a:pPr>
            <a:r>
              <a:rPr lang="en-US" dirty="0"/>
              <a:t>As inner query executes first it is bottom up approach</a:t>
            </a:r>
          </a:p>
        </p:txBody>
      </p:sp>
    </p:spTree>
    <p:extLst>
      <p:ext uri="{BB962C8B-B14F-4D97-AF65-F5344CB8AC3E}">
        <p14:creationId xmlns:p14="http://schemas.microsoft.com/office/powerpoint/2010/main" val="999849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000" dirty="0"/>
              <a:t> Select  MAX (Salary) from </a:t>
            </a:r>
            <a:r>
              <a:rPr lang="en-US" sz="4000" dirty="0" err="1"/>
              <a:t>emp</a:t>
            </a:r>
            <a:endParaRPr lang="en-US" sz="4000" dirty="0"/>
          </a:p>
          <a:p>
            <a:pPr marL="0" indent="0">
              <a:buNone/>
            </a:pPr>
            <a:r>
              <a:rPr lang="en-US" sz="4000" dirty="0"/>
              <a:t> where salary&lt;&gt; (Select MAX(Salary)</a:t>
            </a:r>
          </a:p>
          <a:p>
            <a:pPr marL="0" indent="0">
              <a:buNone/>
            </a:pPr>
            <a:r>
              <a:rPr lang="en-US" sz="4000" dirty="0"/>
              <a:t>                                          From </a:t>
            </a:r>
            <a:r>
              <a:rPr lang="en-US" sz="4000" dirty="0" err="1"/>
              <a:t>emp</a:t>
            </a:r>
            <a:r>
              <a:rPr lang="en-US" sz="4000" dirty="0"/>
              <a:t>;)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C00000"/>
                </a:solidFill>
              </a:rPr>
              <a:t>Here output of inner query  executes once with result as 90000 , then outer query will execute.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C00000"/>
                </a:solidFill>
              </a:rPr>
              <a:t>Salary  column value is compare with 90000 and print output as 80000.</a:t>
            </a:r>
          </a:p>
        </p:txBody>
      </p:sp>
    </p:spTree>
    <p:extLst>
      <p:ext uri="{BB962C8B-B14F-4D97-AF65-F5344CB8AC3E}">
        <p14:creationId xmlns:p14="http://schemas.microsoft.com/office/powerpoint/2010/main" val="1978244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Write a SQL Query to display  employee name who earns second  highest  salary from </a:t>
            </a:r>
            <a:r>
              <a:rPr lang="en-US" dirty="0" err="1"/>
              <a:t>emp</a:t>
            </a:r>
            <a:r>
              <a:rPr lang="en-US" dirty="0"/>
              <a:t> table.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 = or In operator</a:t>
            </a:r>
          </a:p>
          <a:p>
            <a:pPr marL="0" indent="0">
              <a:buNone/>
            </a:pPr>
            <a:r>
              <a:rPr lang="en-US" dirty="0"/>
              <a:t>= is use for single value comparison.</a:t>
            </a:r>
          </a:p>
          <a:p>
            <a:pPr marL="0" indent="0">
              <a:buNone/>
            </a:pPr>
            <a:r>
              <a:rPr lang="en-US" dirty="0"/>
              <a:t>In is used to compare multiple values.</a:t>
            </a:r>
          </a:p>
        </p:txBody>
      </p:sp>
    </p:spTree>
    <p:extLst>
      <p:ext uri="{BB962C8B-B14F-4D97-AF65-F5344CB8AC3E}">
        <p14:creationId xmlns:p14="http://schemas.microsoft.com/office/powerpoint/2010/main" val="2229529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91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000" dirty="0"/>
              <a:t> Select </a:t>
            </a:r>
            <a:r>
              <a:rPr lang="en-US" sz="4000" dirty="0" err="1"/>
              <a:t>Emp_name</a:t>
            </a:r>
            <a:r>
              <a:rPr lang="en-US" sz="4000" dirty="0"/>
              <a:t>  </a:t>
            </a:r>
          </a:p>
          <a:p>
            <a:pPr marL="0" indent="0">
              <a:buNone/>
            </a:pPr>
            <a:r>
              <a:rPr lang="en-US" sz="4000" dirty="0"/>
              <a:t> From </a:t>
            </a:r>
            <a:r>
              <a:rPr lang="en-US" sz="4000" dirty="0" err="1"/>
              <a:t>emp</a:t>
            </a:r>
            <a:endParaRPr lang="en-US" sz="4000" dirty="0"/>
          </a:p>
          <a:p>
            <a:pPr marL="0" indent="0">
              <a:buNone/>
            </a:pPr>
            <a:r>
              <a:rPr lang="en-US" sz="4000" dirty="0"/>
              <a:t> where Salary= (Select MAX(Salary)</a:t>
            </a:r>
          </a:p>
          <a:p>
            <a:pPr marL="0" indent="0">
              <a:buNone/>
            </a:pPr>
            <a:r>
              <a:rPr lang="en-US" sz="4000" dirty="0"/>
              <a:t>                            From </a:t>
            </a:r>
            <a:r>
              <a:rPr lang="en-US" sz="4000" dirty="0" err="1"/>
              <a:t>emp</a:t>
            </a:r>
            <a:r>
              <a:rPr lang="en-US" sz="4000" dirty="0"/>
              <a:t> </a:t>
            </a:r>
          </a:p>
          <a:p>
            <a:pPr marL="0" indent="0">
              <a:buNone/>
            </a:pPr>
            <a:r>
              <a:rPr lang="en-US" sz="4000" dirty="0"/>
              <a:t>                            where  Salary=(Select MAX(Salary) from </a:t>
            </a:r>
            <a:r>
              <a:rPr lang="en-US" sz="4000" dirty="0" err="1"/>
              <a:t>emp</a:t>
            </a:r>
            <a:r>
              <a:rPr lang="en-US" sz="4000" dirty="0"/>
              <a:t>));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C00000"/>
                </a:solidFill>
              </a:rPr>
              <a:t>print output as </a:t>
            </a:r>
            <a:r>
              <a:rPr lang="en-US" sz="4000" b="1" dirty="0" err="1">
                <a:solidFill>
                  <a:srgbClr val="C00000"/>
                </a:solidFill>
              </a:rPr>
              <a:t>Willams</a:t>
            </a:r>
            <a:r>
              <a:rPr lang="en-US" sz="4000" b="1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8273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Write a SQL Query to display all the department names along with number of employee count  from </a:t>
            </a:r>
            <a:r>
              <a:rPr lang="en-US" dirty="0" err="1"/>
              <a:t>emp</a:t>
            </a:r>
            <a:r>
              <a:rPr lang="en-US" dirty="0"/>
              <a:t> table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Group by clause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clasuse</a:t>
            </a:r>
            <a:r>
              <a:rPr lang="en-US" dirty="0"/>
              <a:t> works on entire table and once.</a:t>
            </a:r>
          </a:p>
        </p:txBody>
      </p:sp>
    </p:spTree>
    <p:extLst>
      <p:ext uri="{BB962C8B-B14F-4D97-AF65-F5344CB8AC3E}">
        <p14:creationId xmlns:p14="http://schemas.microsoft.com/office/powerpoint/2010/main" val="3449167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000" dirty="0"/>
              <a:t> Select  </a:t>
            </a:r>
            <a:r>
              <a:rPr lang="en-US" sz="4000" dirty="0" err="1"/>
              <a:t>Dept,COUNT</a:t>
            </a:r>
            <a:r>
              <a:rPr lang="en-US" sz="4000" dirty="0"/>
              <a:t>(*)</a:t>
            </a:r>
          </a:p>
          <a:p>
            <a:pPr marL="0" indent="0">
              <a:buNone/>
            </a:pPr>
            <a:r>
              <a:rPr lang="en-US" sz="4000" dirty="0"/>
              <a:t> from </a:t>
            </a:r>
            <a:r>
              <a:rPr lang="en-US" sz="4000" dirty="0" err="1"/>
              <a:t>emp</a:t>
            </a:r>
            <a:endParaRPr lang="en-US" sz="4000" dirty="0"/>
          </a:p>
          <a:p>
            <a:pPr marL="0" indent="0">
              <a:buNone/>
            </a:pPr>
            <a:r>
              <a:rPr lang="en-US" sz="4000" dirty="0"/>
              <a:t> group by </a:t>
            </a:r>
            <a:r>
              <a:rPr lang="en-US" sz="4000" dirty="0" err="1"/>
              <a:t>Dept</a:t>
            </a:r>
            <a:r>
              <a:rPr lang="en-US" sz="4000" dirty="0"/>
              <a:t>;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Condition of group by clause: </a:t>
            </a:r>
            <a:r>
              <a:rPr lang="en-US" sz="4000" b="1" dirty="0">
                <a:solidFill>
                  <a:srgbClr val="C00000"/>
                </a:solidFill>
              </a:rPr>
              <a:t>The attribute used with group by is used in select other than aggregate function.</a:t>
            </a:r>
          </a:p>
        </p:txBody>
      </p:sp>
    </p:spTree>
    <p:extLst>
      <p:ext uri="{BB962C8B-B14F-4D97-AF65-F5344CB8AC3E}">
        <p14:creationId xmlns:p14="http://schemas.microsoft.com/office/powerpoint/2010/main" val="3283177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 SQL Query to display  employee name who earns maximum salary from </a:t>
            </a:r>
            <a:r>
              <a:rPr lang="en-US" dirty="0" err="1"/>
              <a:t>emp</a:t>
            </a:r>
            <a:r>
              <a:rPr lang="en-US" dirty="0"/>
              <a:t> table.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nested query:</a:t>
            </a:r>
          </a:p>
          <a:p>
            <a:pPr marL="0" indent="0">
              <a:buNone/>
            </a:pPr>
            <a:r>
              <a:rPr lang="en-US" dirty="0"/>
              <a:t>consist of outer query ( executes after inner query) &amp; inner query (executes before outer query)</a:t>
            </a:r>
          </a:p>
        </p:txBody>
      </p:sp>
    </p:spTree>
    <p:extLst>
      <p:ext uri="{BB962C8B-B14F-4D97-AF65-F5344CB8AC3E}">
        <p14:creationId xmlns:p14="http://schemas.microsoft.com/office/powerpoint/2010/main" val="3572775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COUNT(*)  is used for counting the value of every group by element.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Output: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Sales        2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Research 1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HR            2</a:t>
            </a: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619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Write a SQL Query to display all the department names where number of  employee are less than two from </a:t>
            </a:r>
            <a:r>
              <a:rPr lang="en-US" dirty="0" err="1"/>
              <a:t>emp</a:t>
            </a:r>
            <a:r>
              <a:rPr lang="en-US" dirty="0"/>
              <a:t> table.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Dept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emp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Dept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Having COUNT (*) &lt;2;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478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Output is Research</a:t>
            </a:r>
          </a:p>
        </p:txBody>
      </p:sp>
    </p:spTree>
    <p:extLst>
      <p:ext uri="{BB962C8B-B14F-4D97-AF65-F5344CB8AC3E}">
        <p14:creationId xmlns:p14="http://schemas.microsoft.com/office/powerpoint/2010/main" val="2967528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000" dirty="0"/>
              <a:t>Write a SQL Query to display  </a:t>
            </a:r>
            <a:r>
              <a:rPr lang="en-US" sz="4000" dirty="0" err="1"/>
              <a:t>empolyee</a:t>
            </a:r>
            <a:r>
              <a:rPr lang="en-US" sz="4000" dirty="0"/>
              <a:t> name where number of  employee are less than two from </a:t>
            </a:r>
            <a:r>
              <a:rPr lang="en-US" sz="4000" dirty="0" err="1"/>
              <a:t>emp</a:t>
            </a:r>
            <a:r>
              <a:rPr lang="en-US" sz="4000" dirty="0"/>
              <a:t> table.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Select </a:t>
            </a:r>
            <a:r>
              <a:rPr lang="en-US" sz="4000" dirty="0" err="1"/>
              <a:t>Emp_name</a:t>
            </a:r>
            <a:endParaRPr lang="en-US" sz="4000" dirty="0"/>
          </a:p>
          <a:p>
            <a:pPr marL="0" indent="0">
              <a:buNone/>
            </a:pPr>
            <a:r>
              <a:rPr lang="en-US" sz="4000" dirty="0"/>
              <a:t>From </a:t>
            </a:r>
            <a:r>
              <a:rPr lang="en-US" sz="4000" dirty="0" err="1"/>
              <a:t>emp</a:t>
            </a:r>
            <a:endParaRPr lang="en-US" sz="4000" dirty="0"/>
          </a:p>
          <a:p>
            <a:pPr marL="0" indent="0">
              <a:buNone/>
            </a:pPr>
            <a:r>
              <a:rPr lang="en-US" sz="4000" dirty="0"/>
              <a:t>Where </a:t>
            </a:r>
            <a:r>
              <a:rPr lang="en-US" sz="4000" dirty="0" err="1"/>
              <a:t>Dept</a:t>
            </a:r>
            <a:r>
              <a:rPr lang="en-US" sz="4000" dirty="0"/>
              <a:t> In (Select </a:t>
            </a:r>
            <a:r>
              <a:rPr lang="en-US" sz="4000" dirty="0" err="1"/>
              <a:t>Dept</a:t>
            </a:r>
            <a:r>
              <a:rPr lang="en-US" sz="4000" dirty="0"/>
              <a:t> </a:t>
            </a:r>
          </a:p>
          <a:p>
            <a:pPr marL="0" indent="0">
              <a:buNone/>
            </a:pPr>
            <a:r>
              <a:rPr lang="en-US" sz="4000" dirty="0"/>
              <a:t>                             from </a:t>
            </a:r>
            <a:r>
              <a:rPr lang="en-US" sz="4000" dirty="0" err="1"/>
              <a:t>emp</a:t>
            </a:r>
            <a:r>
              <a:rPr lang="en-US" sz="4000" dirty="0"/>
              <a:t> </a:t>
            </a:r>
          </a:p>
          <a:p>
            <a:pPr marL="0" indent="0">
              <a:buNone/>
            </a:pPr>
            <a:r>
              <a:rPr lang="en-US" sz="4000" dirty="0"/>
              <a:t>                             group by </a:t>
            </a:r>
            <a:r>
              <a:rPr lang="en-US" sz="4000" dirty="0" err="1"/>
              <a:t>Dept</a:t>
            </a:r>
            <a:r>
              <a:rPr lang="en-US" sz="4000" dirty="0"/>
              <a:t> having COUNT(*) &lt;2);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260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Output is Smith</a:t>
            </a:r>
          </a:p>
        </p:txBody>
      </p:sp>
    </p:spTree>
    <p:extLst>
      <p:ext uri="{BB962C8B-B14F-4D97-AF65-F5344CB8AC3E}">
        <p14:creationId xmlns:p14="http://schemas.microsoft.com/office/powerpoint/2010/main" val="2290940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000" dirty="0"/>
              <a:t>Write a SQL Query to display  highest salary department wise and name of  </a:t>
            </a:r>
            <a:r>
              <a:rPr lang="en-US" sz="4000" dirty="0" err="1"/>
              <a:t>empolyee</a:t>
            </a:r>
            <a:r>
              <a:rPr lang="en-US" sz="4000" dirty="0"/>
              <a:t>  who earns highest salary </a:t>
            </a:r>
            <a:r>
              <a:rPr lang="en-US" sz="4000" dirty="0" err="1"/>
              <a:t>emp</a:t>
            </a:r>
            <a:r>
              <a:rPr lang="en-US" sz="4000" dirty="0"/>
              <a:t> table.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Select  MAX(Salary),</a:t>
            </a:r>
            <a:r>
              <a:rPr lang="en-US" sz="4000" dirty="0" err="1"/>
              <a:t>Dept</a:t>
            </a:r>
            <a:r>
              <a:rPr lang="en-US" sz="4000" dirty="0"/>
              <a:t> </a:t>
            </a:r>
          </a:p>
          <a:p>
            <a:pPr marL="0" indent="0">
              <a:buNone/>
            </a:pPr>
            <a:r>
              <a:rPr lang="en-US" sz="4000" dirty="0"/>
              <a:t>From </a:t>
            </a:r>
            <a:r>
              <a:rPr lang="en-US" sz="4000" dirty="0" err="1"/>
              <a:t>emp</a:t>
            </a:r>
            <a:endParaRPr lang="en-US" sz="4000" dirty="0"/>
          </a:p>
          <a:p>
            <a:pPr marL="0" indent="0">
              <a:buNone/>
            </a:pPr>
            <a:r>
              <a:rPr lang="en-US" sz="4000" dirty="0"/>
              <a:t>group by </a:t>
            </a:r>
            <a:r>
              <a:rPr lang="en-US" sz="4000" dirty="0" err="1"/>
              <a:t>Dept</a:t>
            </a:r>
            <a:r>
              <a:rPr lang="en-US" sz="4000" dirty="0"/>
              <a:t>) produces output as Sales  50000</a:t>
            </a:r>
          </a:p>
          <a:p>
            <a:pPr marL="0" indent="0">
              <a:buNone/>
            </a:pPr>
            <a:r>
              <a:rPr lang="en-US" sz="4000" dirty="0"/>
              <a:t>                                                                HR      80000</a:t>
            </a:r>
          </a:p>
          <a:p>
            <a:pPr marL="0" indent="0">
              <a:buNone/>
            </a:pPr>
            <a:r>
              <a:rPr lang="en-US" sz="4000" dirty="0"/>
              <a:t>                                                         Research  90000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855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000" dirty="0"/>
              <a:t>Select </a:t>
            </a:r>
            <a:r>
              <a:rPr lang="en-US" sz="4000" dirty="0" err="1"/>
              <a:t>Emp_name</a:t>
            </a:r>
            <a:r>
              <a:rPr lang="en-US" sz="4000" dirty="0"/>
              <a:t> </a:t>
            </a:r>
          </a:p>
          <a:p>
            <a:pPr marL="0" indent="0">
              <a:buNone/>
            </a:pPr>
            <a:r>
              <a:rPr lang="en-US" sz="4000" dirty="0"/>
              <a:t>From </a:t>
            </a:r>
            <a:r>
              <a:rPr lang="en-US" sz="4000" dirty="0" err="1"/>
              <a:t>emp</a:t>
            </a:r>
            <a:r>
              <a:rPr lang="en-US" sz="4000" dirty="0"/>
              <a:t> </a:t>
            </a:r>
          </a:p>
          <a:p>
            <a:pPr marL="0" indent="0">
              <a:buNone/>
            </a:pPr>
            <a:r>
              <a:rPr lang="en-US" sz="4000" dirty="0"/>
              <a:t>Where Salary In</a:t>
            </a:r>
          </a:p>
          <a:p>
            <a:pPr marL="0" indent="0">
              <a:buNone/>
            </a:pPr>
            <a:r>
              <a:rPr lang="en-US" sz="4000" dirty="0"/>
              <a:t>(Select  MAX(Salary),</a:t>
            </a:r>
            <a:r>
              <a:rPr lang="en-US" sz="4000" dirty="0" err="1"/>
              <a:t>Dept</a:t>
            </a:r>
            <a:r>
              <a:rPr lang="en-US" sz="4000" dirty="0"/>
              <a:t> </a:t>
            </a:r>
          </a:p>
          <a:p>
            <a:pPr marL="0" indent="0">
              <a:buNone/>
            </a:pPr>
            <a:r>
              <a:rPr lang="en-US" sz="4000" dirty="0"/>
              <a:t>From </a:t>
            </a:r>
            <a:r>
              <a:rPr lang="en-US" sz="4000" dirty="0" err="1"/>
              <a:t>emp</a:t>
            </a:r>
            <a:endParaRPr lang="en-US" sz="4000" dirty="0"/>
          </a:p>
          <a:p>
            <a:pPr marL="0" indent="0">
              <a:buNone/>
            </a:pPr>
            <a:r>
              <a:rPr lang="en-US" sz="4000" dirty="0"/>
              <a:t>group by </a:t>
            </a:r>
            <a:r>
              <a:rPr lang="en-US" sz="4000" dirty="0" err="1"/>
              <a:t>Dept</a:t>
            </a:r>
            <a:r>
              <a:rPr lang="en-US" sz="4000" dirty="0"/>
              <a:t>)</a:t>
            </a:r>
          </a:p>
          <a:p>
            <a:pPr marL="0" indent="0">
              <a:buNone/>
            </a:pP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724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Output is 50000 Johnson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            80000 </a:t>
            </a:r>
            <a:r>
              <a:rPr lang="en-US" b="1" dirty="0" err="1">
                <a:solidFill>
                  <a:srgbClr val="C00000"/>
                </a:solidFill>
              </a:rPr>
              <a:t>Willams</a:t>
            </a: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            90000 Smith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35193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In/Not In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1830897"/>
              </p:ext>
            </p:extLst>
          </p:nvPr>
        </p:nvGraphicFramePr>
        <p:xfrm>
          <a:off x="2133600" y="1905000"/>
          <a:ext cx="4953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err="1"/>
                        <a:t>Eid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E_Name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Adams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Stamford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Harrison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Johnson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Woodside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Princeton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Willams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Palo Alto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741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In/Not In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5834036"/>
              </p:ext>
            </p:extLst>
          </p:nvPr>
        </p:nvGraphicFramePr>
        <p:xfrm>
          <a:off x="2209800" y="1752600"/>
          <a:ext cx="609600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2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Eid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Pid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Pname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Android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Stamford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Harrison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DataAnalytics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Princeton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BigData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WSoodside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0589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In/Not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details of the employee who’s address is either Woodside, Palo Alto or Stamford.</a:t>
            </a:r>
          </a:p>
          <a:p>
            <a:pPr marL="0" indent="0">
              <a:buNone/>
            </a:pPr>
            <a:r>
              <a:rPr lang="en-US" dirty="0"/>
              <a:t>    Select  *</a:t>
            </a:r>
          </a:p>
          <a:p>
            <a:pPr marL="0" indent="0">
              <a:buNone/>
            </a:pPr>
            <a:r>
              <a:rPr lang="en-US" dirty="0"/>
              <a:t>    From </a:t>
            </a:r>
            <a:r>
              <a:rPr lang="en-US" dirty="0" err="1"/>
              <a:t>emp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Where Address In(‘Woodside’, ‘Palo Alto’,      </a:t>
            </a:r>
          </a:p>
          <a:p>
            <a:pPr marL="0" indent="0">
              <a:buNone/>
            </a:pPr>
            <a:r>
              <a:rPr lang="en-US" dirty="0"/>
              <a:t>                                    ‘Stamford’);</a:t>
            </a:r>
          </a:p>
        </p:txBody>
      </p:sp>
    </p:spTree>
    <p:extLst>
      <p:ext uri="{BB962C8B-B14F-4D97-AF65-F5344CB8AC3E}">
        <p14:creationId xmlns:p14="http://schemas.microsoft.com/office/powerpoint/2010/main" val="3230883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In/Not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details of the employee who’s address is other than  Woodside, Palo Alto or Stamford.</a:t>
            </a:r>
          </a:p>
          <a:p>
            <a:pPr marL="0" indent="0">
              <a:buNone/>
            </a:pPr>
            <a:r>
              <a:rPr lang="en-US" dirty="0"/>
              <a:t>    Select  *</a:t>
            </a:r>
          </a:p>
          <a:p>
            <a:pPr marL="0" indent="0">
              <a:buNone/>
            </a:pPr>
            <a:r>
              <a:rPr lang="en-US" dirty="0"/>
              <a:t>    From </a:t>
            </a:r>
            <a:r>
              <a:rPr lang="en-US" dirty="0" err="1"/>
              <a:t>emp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Where Address Not In(‘Woodside’, ‘Palo Alto’,      </a:t>
            </a:r>
          </a:p>
          <a:p>
            <a:pPr marL="0" indent="0">
              <a:buNone/>
            </a:pPr>
            <a:r>
              <a:rPr lang="en-US" dirty="0"/>
              <a:t>                                    ‘Stamford’);</a:t>
            </a:r>
          </a:p>
        </p:txBody>
      </p:sp>
    </p:spTree>
    <p:extLst>
      <p:ext uri="{BB962C8B-B14F-4D97-AF65-F5344CB8AC3E}">
        <p14:creationId xmlns:p14="http://schemas.microsoft.com/office/powerpoint/2010/main" val="211007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Find the name of employee who are working on a project .</a:t>
            </a:r>
          </a:p>
          <a:p>
            <a:endParaRPr lang="en-US" dirty="0"/>
          </a:p>
          <a:p>
            <a:r>
              <a:rPr lang="en-US" dirty="0"/>
              <a:t>Select </a:t>
            </a:r>
            <a:r>
              <a:rPr lang="en-US" dirty="0" err="1"/>
              <a:t>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From </a:t>
            </a:r>
            <a:r>
              <a:rPr lang="en-US" dirty="0" err="1"/>
              <a:t>emp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Where </a:t>
            </a:r>
            <a:r>
              <a:rPr lang="en-US" dirty="0" err="1"/>
              <a:t>Eid</a:t>
            </a:r>
            <a:r>
              <a:rPr lang="en-US" dirty="0"/>
              <a:t> In(Select Distinct(</a:t>
            </a:r>
            <a:r>
              <a:rPr lang="en-US" dirty="0" err="1"/>
              <a:t>Eid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                             From Project </a:t>
            </a:r>
          </a:p>
          <a:p>
            <a:pPr marL="0" indent="0">
              <a:buNone/>
            </a:pPr>
            <a:r>
              <a:rPr lang="en-US" dirty="0"/>
              <a:t>                             Where </a:t>
            </a:r>
            <a:r>
              <a:rPr lang="en-US" dirty="0" err="1"/>
              <a:t>Emp.Eid</a:t>
            </a:r>
            <a:r>
              <a:rPr lang="en-US" dirty="0"/>
              <a:t>=</a:t>
            </a:r>
            <a:r>
              <a:rPr lang="en-US" dirty="0" err="1"/>
              <a:t>Project.Eid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015527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Exist/Not Exist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in co related queries.</a:t>
            </a:r>
          </a:p>
          <a:p>
            <a:r>
              <a:rPr lang="en-US" dirty="0"/>
              <a:t>Co related query is special type of query  it executes first outer query then inner query.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567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TOP DOWN APPROACH.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1911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Find the details of employee who are working on </a:t>
            </a:r>
            <a:r>
              <a:rPr lang="en-US" dirty="0" err="1"/>
              <a:t>atleast</a:t>
            </a:r>
            <a:r>
              <a:rPr lang="en-US" dirty="0"/>
              <a:t> one project.</a:t>
            </a:r>
          </a:p>
          <a:p>
            <a:endParaRPr lang="en-US" dirty="0"/>
          </a:p>
          <a:p>
            <a:r>
              <a:rPr lang="en-US" dirty="0"/>
              <a:t>Select * </a:t>
            </a:r>
          </a:p>
          <a:p>
            <a:pPr marL="0" indent="0">
              <a:buNone/>
            </a:pPr>
            <a:r>
              <a:rPr lang="en-US" dirty="0"/>
              <a:t>    From </a:t>
            </a:r>
            <a:r>
              <a:rPr lang="en-US" dirty="0" err="1"/>
              <a:t>emp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Where </a:t>
            </a:r>
            <a:r>
              <a:rPr lang="en-US" dirty="0" err="1"/>
              <a:t>Eid</a:t>
            </a:r>
            <a:r>
              <a:rPr lang="en-US" dirty="0"/>
              <a:t> exist (Select </a:t>
            </a:r>
            <a:r>
              <a:rPr lang="en-US" dirty="0" err="1"/>
              <a:t>Eid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From Project </a:t>
            </a:r>
          </a:p>
          <a:p>
            <a:pPr marL="0" indent="0">
              <a:buNone/>
            </a:pPr>
            <a:r>
              <a:rPr lang="en-US" dirty="0"/>
              <a:t>                             Where </a:t>
            </a:r>
            <a:r>
              <a:rPr lang="en-US" dirty="0" err="1"/>
              <a:t>Emp.Eid</a:t>
            </a:r>
            <a:r>
              <a:rPr lang="en-US" dirty="0"/>
              <a:t>=</a:t>
            </a:r>
            <a:r>
              <a:rPr lang="en-US" dirty="0" err="1"/>
              <a:t>Project.Eid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621669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1860917339A24CBF48CA72FD87A938" ma:contentTypeVersion="4" ma:contentTypeDescription="Create a new document." ma:contentTypeScope="" ma:versionID="980b02646fa074ec6df36e14e32d67b1">
  <xsd:schema xmlns:xsd="http://www.w3.org/2001/XMLSchema" xmlns:xs="http://www.w3.org/2001/XMLSchema" xmlns:p="http://schemas.microsoft.com/office/2006/metadata/properties" xmlns:ns2="add626ea-3744-4bc4-9968-be3225425790" xmlns:ns3="be0a9719-4ac4-4ca6-8b98-e7dd01bc4f66" targetNamespace="http://schemas.microsoft.com/office/2006/metadata/properties" ma:root="true" ma:fieldsID="8108df76a192e00ecce4cadae88a104d" ns2:_="" ns3:_="">
    <xsd:import namespace="add626ea-3744-4bc4-9968-be3225425790"/>
    <xsd:import namespace="be0a9719-4ac4-4ca6-8b98-e7dd01bc4f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d626ea-3744-4bc4-9968-be32254257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0a9719-4ac4-4ca6-8b98-e7dd01bc4f6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41B53E-374C-4231-BD64-8E5160CD0992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d751855-8ec5-4dae-b5f0-246e4d043203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B7B1399-D80D-4ABE-9E79-338BD862FB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6F76A9-5242-4A5A-A04C-C4149AF09060}"/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1074</Words>
  <Application>Microsoft Office PowerPoint</Application>
  <PresentationFormat>On-screen Show (4:3)</PresentationFormat>
  <Paragraphs>255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SQL QUERIES</vt:lpstr>
      <vt:lpstr> SUBQUERY</vt:lpstr>
      <vt:lpstr>SUBQUERY</vt:lpstr>
      <vt:lpstr>SUBQUERY</vt:lpstr>
      <vt:lpstr>SUBQUERY</vt:lpstr>
      <vt:lpstr>Employee Table (emp)</vt:lpstr>
      <vt:lpstr>eXAMPLES</vt:lpstr>
      <vt:lpstr>SQL Query</vt:lpstr>
      <vt:lpstr>SQL Query</vt:lpstr>
      <vt:lpstr>SQL Query</vt:lpstr>
      <vt:lpstr>SQL Query</vt:lpstr>
      <vt:lpstr>SQL Query</vt:lpstr>
      <vt:lpstr>SQL Query</vt:lpstr>
      <vt:lpstr>SQL Query</vt:lpstr>
      <vt:lpstr>SQL Query</vt:lpstr>
      <vt:lpstr>SQL Query</vt:lpstr>
      <vt:lpstr>SQL Query</vt:lpstr>
      <vt:lpstr>SQL Query</vt:lpstr>
      <vt:lpstr>SQL Query</vt:lpstr>
      <vt:lpstr>SQL Query</vt:lpstr>
      <vt:lpstr>SQL Query</vt:lpstr>
      <vt:lpstr>SQL Query</vt:lpstr>
      <vt:lpstr>SQL Query</vt:lpstr>
      <vt:lpstr>SQL Query</vt:lpstr>
      <vt:lpstr>SQL Query</vt:lpstr>
      <vt:lpstr>SQL Query</vt:lpstr>
      <vt:lpstr>In/Not In</vt:lpstr>
      <vt:lpstr>In/Not In</vt:lpstr>
      <vt:lpstr>In/Not In</vt:lpstr>
      <vt:lpstr>In/Not In</vt:lpstr>
      <vt:lpstr>SQL QUERY</vt:lpstr>
      <vt:lpstr>Exist/Not Exist</vt:lpstr>
      <vt:lpstr>SQL QUERY</vt:lpstr>
      <vt:lpstr>SQL QUERY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QUERIES</dc:title>
  <dc:creator>Hp</dc:creator>
  <cp:lastModifiedBy>Lenovo</cp:lastModifiedBy>
  <cp:revision>15</cp:revision>
  <dcterms:created xsi:type="dcterms:W3CDTF">2020-10-10T06:13:39Z</dcterms:created>
  <dcterms:modified xsi:type="dcterms:W3CDTF">2022-10-15T14:35:57Z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0x010100821860917339A24CBF48CA72FD87A938</vt:lpwstr>
  </property>
</Properties>
</file>