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2" r:id="rId9"/>
    <p:sldId id="271" r:id="rId10"/>
    <p:sldId id="270" r:id="rId11"/>
    <p:sldId id="269" r:id="rId12"/>
    <p:sldId id="272" r:id="rId13"/>
    <p:sldId id="273" r:id="rId14"/>
    <p:sldId id="275" r:id="rId15"/>
    <p:sldId id="261" r:id="rId16"/>
    <p:sldId id="276" r:id="rId17"/>
    <p:sldId id="277" r:id="rId18"/>
    <p:sldId id="278" r:id="rId19"/>
    <p:sldId id="279" r:id="rId20"/>
    <p:sldId id="302" r:id="rId21"/>
    <p:sldId id="303" r:id="rId22"/>
    <p:sldId id="304" r:id="rId23"/>
    <p:sldId id="305" r:id="rId24"/>
    <p:sldId id="280" r:id="rId25"/>
    <p:sldId id="283" r:id="rId26"/>
    <p:sldId id="281" r:id="rId27"/>
    <p:sldId id="282" r:id="rId28"/>
    <p:sldId id="284" r:id="rId29"/>
    <p:sldId id="285" r:id="rId30"/>
    <p:sldId id="289" r:id="rId31"/>
    <p:sldId id="290" r:id="rId32"/>
    <p:sldId id="287" r:id="rId33"/>
    <p:sldId id="286" r:id="rId34"/>
    <p:sldId id="292" r:id="rId35"/>
    <p:sldId id="291" r:id="rId36"/>
    <p:sldId id="293" r:id="rId37"/>
    <p:sldId id="294" r:id="rId38"/>
    <p:sldId id="295" r:id="rId39"/>
    <p:sldId id="296" r:id="rId40"/>
    <p:sldId id="298" r:id="rId41"/>
    <p:sldId id="299" r:id="rId42"/>
    <p:sldId id="300" r:id="rId43"/>
    <p:sldId id="301" r:id="rId44"/>
    <p:sldId id="297" r:id="rId45"/>
    <p:sldId id="306" r:id="rId46"/>
    <p:sldId id="307" r:id="rId47"/>
    <p:sldId id="30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C27FA-7691-40CF-8FF2-A26B8E74905A}" v="1" dt="2022-10-16T17:45:25.956"/>
    <p1510:client id="{C9B5D83A-07F6-4D99-8460-EBCB298A3DA5}" v="6" dt="2022-10-16T06:19:27.201"/>
    <p1510:client id="{F53A324B-26AD-4D48-8E2C-34526EE2667A}" v="2" dt="2022-10-15T19:02:56.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DIVEKAR" userId="S::manas.divekar215057@tsecedu.org::1a71a6bd-4c51-47d4-82b0-63b70d28bb7e" providerId="AD" clId="Web-{35CC27FA-7691-40CF-8FF2-A26B8E74905A}"/>
    <pc:docChg chg="sldOrd">
      <pc:chgData name="MANAS DIVEKAR" userId="S::manas.divekar215057@tsecedu.org::1a71a6bd-4c51-47d4-82b0-63b70d28bb7e" providerId="AD" clId="Web-{35CC27FA-7691-40CF-8FF2-A26B8E74905A}" dt="2022-10-16T17:45:25.956" v="0"/>
      <pc:docMkLst>
        <pc:docMk/>
      </pc:docMkLst>
      <pc:sldChg chg="ord">
        <pc:chgData name="MANAS DIVEKAR" userId="S::manas.divekar215057@tsecedu.org::1a71a6bd-4c51-47d4-82b0-63b70d28bb7e" providerId="AD" clId="Web-{35CC27FA-7691-40CF-8FF2-A26B8E74905A}" dt="2022-10-16T17:45:25.956" v="0"/>
        <pc:sldMkLst>
          <pc:docMk/>
          <pc:sldMk cId="322888457" sldId="291"/>
        </pc:sldMkLst>
      </pc:sldChg>
    </pc:docChg>
  </pc:docChgLst>
  <pc:docChgLst>
    <pc:chgData name="RUDRANI CHAVARKAR" userId="S::rudrani.chavarkar215018@tsecedu.org::0f2b4a07-6e78-4cf6-a376-a6334aee5067" providerId="AD" clId="Web-{C9B5D83A-07F6-4D99-8460-EBCB298A3DA5}"/>
    <pc:docChg chg="modSld">
      <pc:chgData name="RUDRANI CHAVARKAR" userId="S::rudrani.chavarkar215018@tsecedu.org::0f2b4a07-6e78-4cf6-a376-a6334aee5067" providerId="AD" clId="Web-{C9B5D83A-07F6-4D99-8460-EBCB298A3DA5}" dt="2022-10-16T06:19:27.201" v="4" actId="20577"/>
      <pc:docMkLst>
        <pc:docMk/>
      </pc:docMkLst>
      <pc:sldChg chg="modSp">
        <pc:chgData name="RUDRANI CHAVARKAR" userId="S::rudrani.chavarkar215018@tsecedu.org::0f2b4a07-6e78-4cf6-a376-a6334aee5067" providerId="AD" clId="Web-{C9B5D83A-07F6-4D99-8460-EBCB298A3DA5}" dt="2022-10-16T06:17:42.104" v="2" actId="20577"/>
        <pc:sldMkLst>
          <pc:docMk/>
          <pc:sldMk cId="322888457" sldId="291"/>
        </pc:sldMkLst>
        <pc:spChg chg="mod">
          <ac:chgData name="RUDRANI CHAVARKAR" userId="S::rudrani.chavarkar215018@tsecedu.org::0f2b4a07-6e78-4cf6-a376-a6334aee5067" providerId="AD" clId="Web-{C9B5D83A-07F6-4D99-8460-EBCB298A3DA5}" dt="2022-10-16T06:17:42.104" v="2" actId="20577"/>
          <ac:spMkLst>
            <pc:docMk/>
            <pc:sldMk cId="322888457" sldId="291"/>
            <ac:spMk id="3" creationId="{00000000-0000-0000-0000-000000000000}"/>
          </ac:spMkLst>
        </pc:spChg>
      </pc:sldChg>
      <pc:sldChg chg="modSp">
        <pc:chgData name="RUDRANI CHAVARKAR" userId="S::rudrani.chavarkar215018@tsecedu.org::0f2b4a07-6e78-4cf6-a376-a6334aee5067" providerId="AD" clId="Web-{C9B5D83A-07F6-4D99-8460-EBCB298A3DA5}" dt="2022-10-16T06:19:27.201" v="4" actId="20577"/>
        <pc:sldMkLst>
          <pc:docMk/>
          <pc:sldMk cId="3120341812" sldId="298"/>
        </pc:sldMkLst>
        <pc:spChg chg="mod">
          <ac:chgData name="RUDRANI CHAVARKAR" userId="S::rudrani.chavarkar215018@tsecedu.org::0f2b4a07-6e78-4cf6-a376-a6334aee5067" providerId="AD" clId="Web-{C9B5D83A-07F6-4D99-8460-EBCB298A3DA5}" dt="2022-10-16T06:19:27.201" v="4" actId="20577"/>
          <ac:spMkLst>
            <pc:docMk/>
            <pc:sldMk cId="3120341812" sldId="298"/>
            <ac:spMk id="3" creationId="{00000000-0000-0000-0000-000000000000}"/>
          </ac:spMkLst>
        </pc:spChg>
      </pc:sldChg>
    </pc:docChg>
  </pc:docChgLst>
  <pc:docChgLst>
    <pc:chgData name="KRISH CHAURASIYA" userId="S::krish.chaurasiya215017@tsecedu.org::39fe52ce-0cb2-4bae-bc18-2eecbed8560e" providerId="AD" clId="Web-{F53A324B-26AD-4D48-8E2C-34526EE2667A}"/>
    <pc:docChg chg="sldOrd">
      <pc:chgData name="KRISH CHAURASIYA" userId="S::krish.chaurasiya215017@tsecedu.org::39fe52ce-0cb2-4bae-bc18-2eecbed8560e" providerId="AD" clId="Web-{F53A324B-26AD-4D48-8E2C-34526EE2667A}" dt="2022-10-15T19:02:56.880" v="1"/>
      <pc:docMkLst>
        <pc:docMk/>
      </pc:docMkLst>
      <pc:sldChg chg="ord">
        <pc:chgData name="KRISH CHAURASIYA" userId="S::krish.chaurasiya215017@tsecedu.org::39fe52ce-0cb2-4bae-bc18-2eecbed8560e" providerId="AD" clId="Web-{F53A324B-26AD-4D48-8E2C-34526EE2667A}" dt="2022-10-15T19:02:56.880" v="1"/>
        <pc:sldMkLst>
          <pc:docMk/>
          <pc:sldMk cId="4041864431" sldId="2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D076BB-C604-4AC9-BF0B-1C6D12203B93}"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2489317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D076BB-C604-4AC9-BF0B-1C6D12203B93}"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23385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076BB-C604-4AC9-BF0B-1C6D12203B93}"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113102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AD076BB-C604-4AC9-BF0B-1C6D12203B93}" type="datetimeFigureOut">
              <a:rPr lang="en-US" smtClean="0"/>
              <a:t>10/16/2022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3217938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D076BB-C604-4AC9-BF0B-1C6D12203B93}" type="datetimeFigureOut">
              <a:rPr lang="en-US" smtClean="0"/>
              <a:t>10/16/2022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4193201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D076BB-C604-4AC9-BF0B-1C6D12203B93}" type="datetimeFigureOut">
              <a:rPr lang="en-US" smtClean="0"/>
              <a:t>10/16/2022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643776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D076BB-C604-4AC9-BF0B-1C6D12203B93}" type="datetimeFigureOut">
              <a:rPr lang="en-US" smtClean="0"/>
              <a:t>10/16/2022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854821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076BB-C604-4AC9-BF0B-1C6D12203B93}" type="datetimeFigureOut">
              <a:rPr lang="en-US" smtClean="0"/>
              <a:t>10/16/2022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2151076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076BB-C604-4AC9-BF0B-1C6D12203B93}" type="datetimeFigureOut">
              <a:rPr lang="en-US" smtClean="0"/>
              <a:t>10/16/2022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367391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D076BB-C604-4AC9-BF0B-1C6D12203B93}"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4214714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D076BB-C604-4AC9-BF0B-1C6D12203B93}"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DF455-C242-4C53-8863-B7F057C630A1}" type="slidenum">
              <a:rPr lang="en-US" smtClean="0"/>
              <a:t>‹#›</a:t>
            </a:fld>
            <a:endParaRPr lang="en-US"/>
          </a:p>
        </p:txBody>
      </p:sp>
    </p:spTree>
    <p:extLst>
      <p:ext uri="{BB962C8B-B14F-4D97-AF65-F5344CB8AC3E}">
        <p14:creationId xmlns:p14="http://schemas.microsoft.com/office/powerpoint/2010/main" val="3229908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D076BB-C604-4AC9-BF0B-1C6D12203B93}" type="datetimeFigureOut">
              <a:rPr lang="en-US" smtClean="0"/>
              <a:t>10/16/2022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CDF455-C242-4C53-8863-B7F057C630A1}" type="slidenum">
              <a:rPr lang="en-US" smtClean="0"/>
              <a:t>‹#›</a:t>
            </a:fld>
            <a:endParaRPr lang="en-US"/>
          </a:p>
        </p:txBody>
      </p:sp>
    </p:spTree>
    <p:extLst>
      <p:ext uri="{BB962C8B-B14F-4D97-AF65-F5344CB8AC3E}">
        <p14:creationId xmlns:p14="http://schemas.microsoft.com/office/powerpoint/2010/main" val="146650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Database Normalization</a:t>
            </a:r>
          </a:p>
        </p:txBody>
      </p:sp>
    </p:spTree>
    <p:extLst>
      <p:ext uri="{BB962C8B-B14F-4D97-AF65-F5344CB8AC3E}">
        <p14:creationId xmlns:p14="http://schemas.microsoft.com/office/powerpoint/2010/main" val="4041864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Objective</a:t>
            </a:r>
          </a:p>
        </p:txBody>
      </p:sp>
      <p:sp>
        <p:nvSpPr>
          <p:cNvPr id="3" name="Content Placeholder 2"/>
          <p:cNvSpPr>
            <a:spLocks noGrp="1"/>
          </p:cNvSpPr>
          <p:nvPr>
            <p:ph idx="1"/>
          </p:nvPr>
        </p:nvSpPr>
        <p:spPr>
          <a:xfrm>
            <a:off x="457200" y="1600200"/>
            <a:ext cx="8686800" cy="4953000"/>
          </a:xfrm>
        </p:spPr>
        <p:txBody>
          <a:bodyPr>
            <a:normAutofit/>
          </a:bodyPr>
          <a:lstStyle/>
          <a:p>
            <a:r>
              <a:rPr lang="en-US" b="1"/>
              <a:t>Normalization</a:t>
            </a:r>
            <a:r>
              <a:rPr lang="en-US"/>
              <a:t> is the process of minimizing redundancy from a relation or set of relations.  </a:t>
            </a:r>
          </a:p>
          <a:p>
            <a:r>
              <a:rPr lang="en-US"/>
              <a:t>It is systematic approach of decomposing tables to eliminate data redundancy(duplication). </a:t>
            </a:r>
          </a:p>
          <a:p>
            <a:r>
              <a:rPr lang="en-US" b="1"/>
              <a:t>Redundancy in relation may cause </a:t>
            </a:r>
          </a:p>
          <a:p>
            <a:pPr lvl="1"/>
            <a:r>
              <a:rPr lang="en-US"/>
              <a:t>Insertion anomalies, </a:t>
            </a:r>
          </a:p>
          <a:p>
            <a:pPr lvl="1"/>
            <a:r>
              <a:rPr lang="en-US"/>
              <a:t>deletion anomalies  </a:t>
            </a:r>
          </a:p>
          <a:p>
            <a:pPr lvl="1"/>
            <a:r>
              <a:rPr lang="en-US"/>
              <a:t>updation anomalies. </a:t>
            </a:r>
          </a:p>
        </p:txBody>
      </p:sp>
    </p:spTree>
    <p:extLst>
      <p:ext uri="{BB962C8B-B14F-4D97-AF65-F5344CB8AC3E}">
        <p14:creationId xmlns:p14="http://schemas.microsoft.com/office/powerpoint/2010/main" val="1117953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Objective</a:t>
            </a:r>
          </a:p>
        </p:txBody>
      </p:sp>
      <p:sp>
        <p:nvSpPr>
          <p:cNvPr id="3" name="Content Placeholder 2"/>
          <p:cNvSpPr>
            <a:spLocks noGrp="1"/>
          </p:cNvSpPr>
          <p:nvPr>
            <p:ph idx="1"/>
          </p:nvPr>
        </p:nvSpPr>
        <p:spPr/>
        <p:txBody>
          <a:bodyPr>
            <a:normAutofit/>
          </a:bodyPr>
          <a:lstStyle/>
          <a:p>
            <a:r>
              <a:rPr lang="en-US"/>
              <a:t>Normal forms are used to eliminate or reduce redundancy in </a:t>
            </a:r>
            <a:r>
              <a:rPr lang="en-US" b="1"/>
              <a:t>database</a:t>
            </a:r>
            <a:r>
              <a:rPr lang="en-US"/>
              <a:t> tables.</a:t>
            </a:r>
          </a:p>
          <a:p>
            <a:r>
              <a:rPr lang="en-US"/>
              <a:t>It is a multi-step process that puts data into tabular form, removing duplicated data from the relation tables.</a:t>
            </a:r>
          </a:p>
        </p:txBody>
      </p:sp>
    </p:spTree>
    <p:extLst>
      <p:ext uri="{BB962C8B-B14F-4D97-AF65-F5344CB8AC3E}">
        <p14:creationId xmlns:p14="http://schemas.microsoft.com/office/powerpoint/2010/main" val="306841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Objective</a:t>
            </a:r>
          </a:p>
        </p:txBody>
      </p:sp>
      <p:sp>
        <p:nvSpPr>
          <p:cNvPr id="3" name="Content Placeholder 2"/>
          <p:cNvSpPr>
            <a:spLocks noGrp="1"/>
          </p:cNvSpPr>
          <p:nvPr>
            <p:ph idx="1"/>
          </p:nvPr>
        </p:nvSpPr>
        <p:spPr/>
        <p:txBody>
          <a:bodyPr>
            <a:normAutofit/>
          </a:bodyPr>
          <a:lstStyle/>
          <a:p>
            <a:r>
              <a:rPr lang="en-US"/>
              <a:t>Normalization is used for mainly two purposes,</a:t>
            </a:r>
          </a:p>
          <a:p>
            <a:pPr marL="0" indent="0">
              <a:buNone/>
            </a:pPr>
            <a:r>
              <a:rPr lang="en-US"/>
              <a:t>              1.Eliminating redundant(useless) data.</a:t>
            </a:r>
          </a:p>
          <a:p>
            <a:pPr marL="0" indent="0">
              <a:buNone/>
            </a:pPr>
            <a:r>
              <a:rPr lang="en-US"/>
              <a:t>              2.Ensuring data dependencies make </a:t>
            </a:r>
          </a:p>
          <a:p>
            <a:pPr marL="0" indent="0">
              <a:buNone/>
            </a:pPr>
            <a:r>
              <a:rPr lang="en-US"/>
              <a:t>                   sense </a:t>
            </a:r>
            <a:r>
              <a:rPr lang="en-US" err="1"/>
              <a:t>i.e</a:t>
            </a:r>
            <a:r>
              <a:rPr lang="en-US"/>
              <a:t> data is logically stored</a:t>
            </a:r>
          </a:p>
        </p:txBody>
      </p:sp>
    </p:spTree>
    <p:extLst>
      <p:ext uri="{BB962C8B-B14F-4D97-AF65-F5344CB8AC3E}">
        <p14:creationId xmlns:p14="http://schemas.microsoft.com/office/powerpoint/2010/main" val="919131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a:br>
            <a:r>
              <a:rPr lang="en-US" b="1"/>
              <a:t>Why to use Normalization?</a:t>
            </a:r>
            <a:br>
              <a:rPr lang="en-US" b="1"/>
            </a:br>
            <a:endParaRPr lang="en-US" b="1"/>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t>If a table is not properly normalized then </a:t>
            </a:r>
          </a:p>
          <a:p>
            <a:pPr lvl="1">
              <a:buFont typeface="Wingdings" panose="05000000000000000000" pitchFamily="2" charset="2"/>
              <a:buChar char="§"/>
            </a:pPr>
            <a:r>
              <a:rPr lang="en-US"/>
              <a:t>It takes  extra memory space </a:t>
            </a:r>
          </a:p>
          <a:p>
            <a:pPr lvl="1">
              <a:buFont typeface="Wingdings" panose="05000000000000000000" pitchFamily="2" charset="2"/>
              <a:buChar char="§"/>
            </a:pPr>
            <a:r>
              <a:rPr lang="en-US"/>
              <a:t>it  become difficult to handle and update the database, without facing data loss.</a:t>
            </a:r>
          </a:p>
          <a:p>
            <a:pPr>
              <a:buFont typeface="Wingdings" panose="05000000000000000000" pitchFamily="2" charset="2"/>
              <a:buChar char="§"/>
            </a:pPr>
            <a:r>
              <a:rPr lang="en-US"/>
              <a:t> Insertion, Updation and Deletion Anomalies are very frequent if database is not normalized. </a:t>
            </a:r>
          </a:p>
        </p:txBody>
      </p:sp>
    </p:spTree>
    <p:extLst>
      <p:ext uri="{BB962C8B-B14F-4D97-AF65-F5344CB8AC3E}">
        <p14:creationId xmlns:p14="http://schemas.microsoft.com/office/powerpoint/2010/main" val="340819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Why to use Normalization?</a:t>
            </a:r>
            <a:br>
              <a:rPr lang="en-US"/>
            </a:b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To understand these anomalies let us take an example of a </a:t>
            </a:r>
            <a:r>
              <a:rPr lang="en-US" b="1"/>
              <a:t>Student</a:t>
            </a:r>
            <a:r>
              <a:rPr lang="en-US"/>
              <a:t> table.</a:t>
            </a:r>
          </a:p>
          <a:p>
            <a:pPr>
              <a:buFont typeface="Wingdings" panose="05000000000000000000" pitchFamily="2" charset="2"/>
              <a:buChar char="§"/>
            </a:pPr>
            <a:endParaRPr lang="en-US"/>
          </a:p>
          <a:p>
            <a:pPr>
              <a:buFont typeface="Wingdings" panose="05000000000000000000" pitchFamily="2" charset="2"/>
              <a:buChar char="§"/>
            </a:pP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494235060"/>
              </p:ext>
            </p:extLst>
          </p:nvPr>
        </p:nvGraphicFramePr>
        <p:xfrm>
          <a:off x="914400" y="2667000"/>
          <a:ext cx="7848600" cy="2929255"/>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992841">
                  <a:extLst>
                    <a:ext uri="{9D8B030D-6E8A-4147-A177-3AD203B41FA5}">
                      <a16:colId xmlns:a16="http://schemas.microsoft.com/office/drawing/2014/main" val="20002"/>
                    </a:ext>
                  </a:extLst>
                </a:gridCol>
                <a:gridCol w="2436159">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09600">
                <a:tc>
                  <a:txBody>
                    <a:bodyPr/>
                    <a:lstStyle/>
                    <a:p>
                      <a:pPr algn="ctr"/>
                      <a:r>
                        <a:rPr lang="en-US" sz="2000" err="1"/>
                        <a:t>Roll_No</a:t>
                      </a:r>
                      <a:endParaRPr lang="en-US" sz="200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err="1"/>
                        <a:t>Student_Name</a:t>
                      </a:r>
                      <a:endParaRPr lang="en-US" sz="2000"/>
                    </a:p>
                    <a:p>
                      <a:pPr algn="ctr"/>
                      <a:endParaRPr lang="en-US" sz="2000"/>
                    </a:p>
                  </a:txBody>
                  <a:tcPr/>
                </a:tc>
                <a:tc>
                  <a:txBody>
                    <a:bodyPr/>
                    <a:lstStyle/>
                    <a:p>
                      <a:pPr algn="ctr"/>
                      <a:r>
                        <a:rPr lang="en-US" sz="2000"/>
                        <a:t>Branch</a:t>
                      </a:r>
                    </a:p>
                  </a:txBody>
                  <a:tcPr/>
                </a:tc>
                <a:tc>
                  <a:txBody>
                    <a:bodyPr/>
                    <a:lstStyle/>
                    <a:p>
                      <a:pPr algn="ctr"/>
                      <a:r>
                        <a:rPr lang="en-US" sz="2000" err="1"/>
                        <a:t>AcademeicDean</a:t>
                      </a:r>
                      <a:endParaRPr lang="en-US" sz="2000"/>
                    </a:p>
                  </a:txBody>
                  <a:tcPr/>
                </a:tc>
                <a:tc>
                  <a:txBody>
                    <a:bodyPr/>
                    <a:lstStyle/>
                    <a:p>
                      <a:pPr algn="ctr"/>
                      <a:r>
                        <a:rPr lang="en-US" sz="2000"/>
                        <a:t>College</a:t>
                      </a:r>
                    </a:p>
                  </a:txBody>
                  <a:tcPr/>
                </a:tc>
                <a:extLst>
                  <a:ext uri="{0D108BD9-81ED-4DB2-BD59-A6C34878D82A}">
                    <a16:rowId xmlns:a16="http://schemas.microsoft.com/office/drawing/2014/main" val="10000"/>
                  </a:ext>
                </a:extLst>
              </a:tr>
              <a:tr h="370840">
                <a:tc>
                  <a:txBody>
                    <a:bodyPr/>
                    <a:lstStyle/>
                    <a:p>
                      <a:pPr algn="ctr" fontAlgn="ctr"/>
                      <a:r>
                        <a:rPr lang="en-US" sz="2000" b="0" i="0" u="none" strike="noStrike">
                          <a:effectLst/>
                          <a:latin typeface="Segoe UI"/>
                        </a:rPr>
                        <a:t>71</a:t>
                      </a:r>
                    </a:p>
                  </a:txBody>
                  <a:tcPr marL="9525" marR="9525" marT="9525" marB="0" anchor="ctr"/>
                </a:tc>
                <a:tc>
                  <a:txBody>
                    <a:bodyPr/>
                    <a:lstStyle/>
                    <a:p>
                      <a:pPr algn="l" fontAlgn="b"/>
                      <a:r>
                        <a:rPr lang="en-US" sz="2000" b="0" i="0" u="none" strike="noStrike" err="1">
                          <a:effectLst/>
                          <a:latin typeface="Calibri"/>
                        </a:rPr>
                        <a:t>Jethani</a:t>
                      </a:r>
                      <a:r>
                        <a:rPr lang="en-US" sz="2000" b="0" i="0" u="none" strike="noStrike">
                          <a:effectLst/>
                          <a:latin typeface="Calibri"/>
                        </a:rPr>
                        <a:t> </a:t>
                      </a:r>
                      <a:r>
                        <a:rPr lang="en-US" sz="2000" b="0" i="0" u="none" strike="noStrike" err="1">
                          <a:effectLst/>
                          <a:latin typeface="Calibri"/>
                        </a:rPr>
                        <a:t>Vanshika</a:t>
                      </a:r>
                      <a:endParaRPr lang="en-US" sz="2000" b="0" i="0" u="none" strike="noStrike">
                        <a:effectLst/>
                        <a:latin typeface="Calibri"/>
                      </a:endParaRPr>
                    </a:p>
                  </a:txBody>
                  <a:tcPr marL="9525" marR="9525" marT="9525" marB="0" anchor="b"/>
                </a:tc>
                <a:tc>
                  <a:txBody>
                    <a:bodyPr/>
                    <a:lstStyle/>
                    <a:p>
                      <a:pPr algn="ctr"/>
                      <a:r>
                        <a:rPr lang="en-US" sz="2000" b="0"/>
                        <a:t>IT</a:t>
                      </a:r>
                    </a:p>
                  </a:txBody>
                  <a:tcPr marL="9525" marR="9525" marT="9525" marB="0" anchor="ctr"/>
                </a:tc>
                <a:tc>
                  <a:txBody>
                    <a:bodyPr/>
                    <a:lstStyle/>
                    <a:p>
                      <a:pPr algn="l"/>
                      <a:r>
                        <a:rPr lang="en-US" sz="2000" b="0"/>
                        <a:t>Nidhi Vaidya</a:t>
                      </a:r>
                    </a:p>
                  </a:txBody>
                  <a:tcPr marL="9525" marR="9525" marT="9525" marB="0" anchor="ctr"/>
                </a:tc>
                <a:tc>
                  <a:txBody>
                    <a:bodyPr/>
                    <a:lstStyle/>
                    <a:p>
                      <a:pPr algn="ctr"/>
                      <a:r>
                        <a:rPr lang="en-US" sz="2000" b="0"/>
                        <a:t>TSEC</a:t>
                      </a:r>
                    </a:p>
                  </a:txBody>
                  <a:tcPr marL="9525" marR="9525" marT="9525" marB="0" anchor="ctr"/>
                </a:tc>
                <a:extLst>
                  <a:ext uri="{0D108BD9-81ED-4DB2-BD59-A6C34878D82A}">
                    <a16:rowId xmlns:a16="http://schemas.microsoft.com/office/drawing/2014/main" val="10001"/>
                  </a:ext>
                </a:extLst>
              </a:tr>
              <a:tr h="432435">
                <a:tc>
                  <a:txBody>
                    <a:bodyPr/>
                    <a:lstStyle/>
                    <a:p>
                      <a:pPr algn="ctr" fontAlgn="ctr"/>
                      <a:r>
                        <a:rPr lang="en-US" sz="2000" b="0" i="0" u="none" strike="noStrike">
                          <a:effectLst/>
                          <a:latin typeface="Segoe UI"/>
                        </a:rPr>
                        <a:t>72</a:t>
                      </a:r>
                    </a:p>
                  </a:txBody>
                  <a:tcPr marL="9525" marR="9525" marT="9525" marB="0" anchor="ctr"/>
                </a:tc>
                <a:tc>
                  <a:txBody>
                    <a:bodyPr/>
                    <a:lstStyle/>
                    <a:p>
                      <a:pPr algn="l" fontAlgn="b"/>
                      <a:r>
                        <a:rPr lang="en-US" sz="2000" b="0" i="0" u="none" strike="noStrike">
                          <a:effectLst/>
                          <a:latin typeface="Calibri"/>
                        </a:rPr>
                        <a:t>Pranav Dani</a:t>
                      </a:r>
                    </a:p>
                  </a:txBody>
                  <a:tcPr marL="9525" marR="9525" marT="9525" marB="0" anchor="b"/>
                </a:tc>
                <a:tc>
                  <a:txBody>
                    <a:bodyPr/>
                    <a:lstStyle/>
                    <a:p>
                      <a:pPr algn="ctr"/>
                      <a:r>
                        <a:rPr lang="en-US" sz="2000" b="0"/>
                        <a:t>IT</a:t>
                      </a:r>
                    </a:p>
                  </a:txBody>
                  <a:tcPr marL="9525" marR="9525" marT="9525"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a:t>Nidhi Vaidya</a:t>
                      </a:r>
                    </a:p>
                    <a:p>
                      <a:pPr algn="l"/>
                      <a:endParaRPr lang="en-US" sz="2000" b="0"/>
                    </a:p>
                  </a:txBody>
                  <a:tcPr marL="9525" marR="9525" marT="9525" marB="0" anchor="ctr"/>
                </a:tc>
                <a:tc>
                  <a:txBody>
                    <a:bodyPr/>
                    <a:lstStyle/>
                    <a:p>
                      <a:pPr algn="ctr"/>
                      <a:r>
                        <a:rPr lang="en-US" sz="2000" b="0"/>
                        <a:t>TSEC</a:t>
                      </a:r>
                    </a:p>
                  </a:txBody>
                  <a:tcPr marL="9525" marR="9525" marT="9525" marB="0" anchor="ctr"/>
                </a:tc>
                <a:extLst>
                  <a:ext uri="{0D108BD9-81ED-4DB2-BD59-A6C34878D82A}">
                    <a16:rowId xmlns:a16="http://schemas.microsoft.com/office/drawing/2014/main" val="10002"/>
                  </a:ext>
                </a:extLst>
              </a:tr>
              <a:tr h="370840">
                <a:tc>
                  <a:txBody>
                    <a:bodyPr/>
                    <a:lstStyle/>
                    <a:p>
                      <a:pPr algn="ctr" fontAlgn="ctr"/>
                      <a:r>
                        <a:rPr lang="en-US" sz="2000" b="0" i="0" u="none" strike="noStrike">
                          <a:effectLst/>
                          <a:latin typeface="Segoe UI"/>
                        </a:rPr>
                        <a:t>73</a:t>
                      </a:r>
                    </a:p>
                  </a:txBody>
                  <a:tcPr marL="9525" marR="9525" marT="9525" marB="0" anchor="ctr"/>
                </a:tc>
                <a:tc>
                  <a:txBody>
                    <a:bodyPr/>
                    <a:lstStyle/>
                    <a:p>
                      <a:pPr algn="l" fontAlgn="b"/>
                      <a:r>
                        <a:rPr lang="en-US" sz="2000" b="0" i="0" u="none" strike="noStrike">
                          <a:effectLst/>
                          <a:latin typeface="Calibri"/>
                        </a:rPr>
                        <a:t>Pranav </a:t>
                      </a:r>
                      <a:r>
                        <a:rPr lang="en-US" sz="2000" b="0" i="0" u="none" strike="noStrike" err="1">
                          <a:effectLst/>
                          <a:latin typeface="Calibri"/>
                        </a:rPr>
                        <a:t>Shrivastava</a:t>
                      </a:r>
                      <a:endParaRPr lang="en-US" sz="2000" b="0" i="0" u="none" strike="noStrike">
                        <a:effectLst/>
                        <a:latin typeface="Calibri"/>
                      </a:endParaRPr>
                    </a:p>
                  </a:txBody>
                  <a:tcPr marL="9525" marR="9525" marT="9525" marB="0" anchor="b"/>
                </a:tc>
                <a:tc>
                  <a:txBody>
                    <a:bodyPr/>
                    <a:lstStyle/>
                    <a:p>
                      <a:pPr algn="ctr"/>
                      <a:r>
                        <a:rPr lang="en-US" sz="2000" b="0"/>
                        <a:t>IT</a:t>
                      </a:r>
                    </a:p>
                  </a:txBody>
                  <a:tcPr marL="9525" marR="9525" marT="9525"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a:t>Nidhi Vaidya</a:t>
                      </a:r>
                    </a:p>
                    <a:p>
                      <a:pPr algn="l"/>
                      <a:endParaRPr lang="en-US" sz="2000" b="0"/>
                    </a:p>
                  </a:txBody>
                  <a:tcPr marL="9525" marR="9525" marT="9525" marB="0" anchor="ctr"/>
                </a:tc>
                <a:tc>
                  <a:txBody>
                    <a:bodyPr/>
                    <a:lstStyle/>
                    <a:p>
                      <a:pPr algn="ctr"/>
                      <a:r>
                        <a:rPr lang="en-US" sz="2000" b="0"/>
                        <a:t>TSEC</a:t>
                      </a:r>
                    </a:p>
                  </a:txBody>
                  <a:tcPr marL="9525" marR="9525" marT="9525" marB="0" anchor="ctr"/>
                </a:tc>
                <a:extLst>
                  <a:ext uri="{0D108BD9-81ED-4DB2-BD59-A6C34878D82A}">
                    <a16:rowId xmlns:a16="http://schemas.microsoft.com/office/drawing/2014/main" val="10003"/>
                  </a:ext>
                </a:extLst>
              </a:tr>
              <a:tr h="370840">
                <a:tc>
                  <a:txBody>
                    <a:bodyPr/>
                    <a:lstStyle/>
                    <a:p>
                      <a:pPr algn="ctr" fontAlgn="ctr"/>
                      <a:r>
                        <a:rPr lang="en-US" sz="2000" b="0" i="0" u="none" strike="noStrike">
                          <a:effectLst/>
                          <a:latin typeface="Segoe UI"/>
                        </a:rPr>
                        <a:t>74</a:t>
                      </a:r>
                    </a:p>
                  </a:txBody>
                  <a:tcPr marL="9525" marR="9525" marT="9525" marB="0" anchor="ctr"/>
                </a:tc>
                <a:tc>
                  <a:txBody>
                    <a:bodyPr/>
                    <a:lstStyle/>
                    <a:p>
                      <a:pPr algn="l" fontAlgn="b"/>
                      <a:r>
                        <a:rPr lang="en-US" sz="2000" b="0" i="0" u="none" strike="noStrike" err="1">
                          <a:effectLst/>
                          <a:latin typeface="Calibri"/>
                        </a:rPr>
                        <a:t>Pratham</a:t>
                      </a:r>
                      <a:r>
                        <a:rPr lang="en-US" sz="2000" b="0" i="0" u="none" strike="noStrike">
                          <a:effectLst/>
                          <a:latin typeface="Calibri"/>
                        </a:rPr>
                        <a:t> Bharat</a:t>
                      </a:r>
                    </a:p>
                  </a:txBody>
                  <a:tcPr marL="9525" marR="9525" marT="9525" marB="0" anchor="b"/>
                </a:tc>
                <a:tc>
                  <a:txBody>
                    <a:bodyPr/>
                    <a:lstStyle/>
                    <a:p>
                      <a:pPr algn="ctr"/>
                      <a:r>
                        <a:rPr lang="en-US" sz="2000" b="0"/>
                        <a:t>IT</a:t>
                      </a:r>
                    </a:p>
                  </a:txBody>
                  <a:tcPr marL="9525" marR="9525" marT="9525"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a:t>Nidhi Vaidya</a:t>
                      </a:r>
                    </a:p>
                    <a:p>
                      <a:pPr algn="l"/>
                      <a:endParaRPr lang="en-US" sz="2000" b="0"/>
                    </a:p>
                  </a:txBody>
                  <a:tcPr marL="9525" marR="9525" marT="9525" marB="0" anchor="ctr"/>
                </a:tc>
                <a:tc>
                  <a:txBody>
                    <a:bodyPr/>
                    <a:lstStyle/>
                    <a:p>
                      <a:pPr algn="ctr"/>
                      <a:r>
                        <a:rPr lang="en-US" sz="2000" b="0"/>
                        <a:t>TSEC</a:t>
                      </a:r>
                    </a:p>
                  </a:txBody>
                  <a:tcPr marL="9525" marR="9525" marT="9525"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3756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Why to use Normalization?</a:t>
            </a:r>
            <a:br>
              <a:rPr lang="en-US"/>
            </a:br>
            <a:endParaRPr lang="en-US"/>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a:t> In Student table we have data of 4 IT students. Data for the fields Branch , Academic Dean ,college  is repeated for the students who are in the same department  in the college, this is </a:t>
            </a:r>
            <a:r>
              <a:rPr lang="en-US" b="1"/>
              <a:t>Data Redundancy</a:t>
            </a:r>
            <a:r>
              <a:rPr lang="en-US"/>
              <a:t>.</a:t>
            </a:r>
          </a:p>
        </p:txBody>
      </p:sp>
    </p:spTree>
    <p:extLst>
      <p:ext uri="{BB962C8B-B14F-4D97-AF65-F5344CB8AC3E}">
        <p14:creationId xmlns:p14="http://schemas.microsoft.com/office/powerpoint/2010/main" val="2244881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Insertion Anomaly</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a:t>For a new admission, until and unless a student opts for a branch, data of the student cannot be inserted, or else we will have to set the branch information as </a:t>
            </a:r>
            <a:r>
              <a:rPr lang="en-US" b="1"/>
              <a:t>NULL</a:t>
            </a:r>
            <a:r>
              <a:rPr lang="en-US"/>
              <a:t>.</a:t>
            </a:r>
          </a:p>
          <a:p>
            <a:pPr>
              <a:buFont typeface="Wingdings" panose="05000000000000000000" pitchFamily="2" charset="2"/>
              <a:buChar char="§"/>
            </a:pPr>
            <a:r>
              <a:rPr lang="en-US"/>
              <a:t>Also, if we have to insert data of 100 students of same branch, then the branch information will be repeated for all those 100 students.</a:t>
            </a:r>
          </a:p>
          <a:p>
            <a:pPr>
              <a:buFont typeface="Wingdings" panose="05000000000000000000" pitchFamily="2" charset="2"/>
              <a:buChar char="§"/>
            </a:pPr>
            <a:r>
              <a:rPr lang="en-US"/>
              <a:t>These scenario is known as  </a:t>
            </a:r>
            <a:r>
              <a:rPr lang="en-US" b="1">
                <a:solidFill>
                  <a:srgbClr val="FF0000"/>
                </a:solidFill>
              </a:rPr>
              <a:t>Insertion anomalies</a:t>
            </a:r>
            <a:r>
              <a:rPr lang="en-US">
                <a:solidFill>
                  <a:srgbClr val="FF0000"/>
                </a:solidFill>
              </a:rPr>
              <a:t>.</a:t>
            </a:r>
          </a:p>
        </p:txBody>
      </p:sp>
    </p:spTree>
    <p:extLst>
      <p:ext uri="{BB962C8B-B14F-4D97-AF65-F5344CB8AC3E}">
        <p14:creationId xmlns:p14="http://schemas.microsoft.com/office/powerpoint/2010/main" val="288360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Updation Anomaly</a:t>
            </a:r>
          </a:p>
        </p:txBody>
      </p:sp>
      <p:sp>
        <p:nvSpPr>
          <p:cNvPr id="3" name="Content Placeholder 2"/>
          <p:cNvSpPr>
            <a:spLocks noGrp="1"/>
          </p:cNvSpPr>
          <p:nvPr>
            <p:ph idx="1"/>
          </p:nvPr>
        </p:nvSpPr>
        <p:spPr/>
        <p:txBody>
          <a:bodyPr>
            <a:normAutofit/>
          </a:bodyPr>
          <a:lstStyle/>
          <a:p>
            <a:r>
              <a:rPr lang="en-US"/>
              <a:t>What if Academic Dean leaves the college? or is no longer the Dean? In that case all the student records will have to be updated, and if by mistake we miss any record, it will lead to data inconsistency. This is Updation anomaly.</a:t>
            </a:r>
          </a:p>
        </p:txBody>
      </p:sp>
    </p:spTree>
    <p:extLst>
      <p:ext uri="{BB962C8B-B14F-4D97-AF65-F5344CB8AC3E}">
        <p14:creationId xmlns:p14="http://schemas.microsoft.com/office/powerpoint/2010/main" val="54094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Deletion Anomaly</a:t>
            </a:r>
          </a:p>
        </p:txBody>
      </p:sp>
      <p:sp>
        <p:nvSpPr>
          <p:cNvPr id="3" name="Content Placeholder 2"/>
          <p:cNvSpPr>
            <a:spLocks noGrp="1"/>
          </p:cNvSpPr>
          <p:nvPr>
            <p:ph idx="1"/>
          </p:nvPr>
        </p:nvSpPr>
        <p:spPr/>
        <p:txBody>
          <a:bodyPr>
            <a:normAutofit/>
          </a:bodyPr>
          <a:lstStyle/>
          <a:p>
            <a:endParaRPr lang="en-US"/>
          </a:p>
          <a:p>
            <a:pPr>
              <a:buFont typeface="Wingdings" panose="05000000000000000000" pitchFamily="2" charset="2"/>
              <a:buChar char="§"/>
            </a:pPr>
            <a:r>
              <a:rPr lang="en-US"/>
              <a:t>In our </a:t>
            </a:r>
            <a:r>
              <a:rPr lang="en-US" b="1"/>
              <a:t>Student</a:t>
            </a:r>
            <a:r>
              <a:rPr lang="en-US"/>
              <a:t> table,  contains the Student information and Branch information. </a:t>
            </a:r>
          </a:p>
          <a:p>
            <a:pPr>
              <a:buFont typeface="Wingdings" panose="05000000000000000000" pitchFamily="2" charset="2"/>
              <a:buChar char="§"/>
            </a:pPr>
            <a:r>
              <a:rPr lang="en-US"/>
              <a:t>Hence, at the end of the academic year, if student records are deleted, we will also lose the branch information. </a:t>
            </a:r>
          </a:p>
          <a:p>
            <a:pPr>
              <a:buFont typeface="Wingdings" panose="05000000000000000000" pitchFamily="2" charset="2"/>
              <a:buChar char="§"/>
            </a:pPr>
            <a:r>
              <a:rPr lang="en-US"/>
              <a:t>This is </a:t>
            </a:r>
            <a:r>
              <a:rPr lang="en-US" b="1">
                <a:solidFill>
                  <a:srgbClr val="FF0000"/>
                </a:solidFill>
              </a:rPr>
              <a:t>Deletion anomaly.</a:t>
            </a:r>
          </a:p>
          <a:p>
            <a:pPr>
              <a:buFont typeface="Wingdings" panose="05000000000000000000" pitchFamily="2" charset="2"/>
              <a:buChar char="§"/>
            </a:pPr>
            <a:endParaRPr lang="en-US"/>
          </a:p>
        </p:txBody>
      </p:sp>
    </p:spTree>
    <p:extLst>
      <p:ext uri="{BB962C8B-B14F-4D97-AF65-F5344CB8AC3E}">
        <p14:creationId xmlns:p14="http://schemas.microsoft.com/office/powerpoint/2010/main" val="3582041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NF - Normalization in SQL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838200"/>
            <a:ext cx="73152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156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Normalization</a:t>
            </a:r>
          </a:p>
        </p:txBody>
      </p:sp>
      <p:sp>
        <p:nvSpPr>
          <p:cNvPr id="3" name="Content Placeholder 2"/>
          <p:cNvSpPr>
            <a:spLocks noGrp="1"/>
          </p:cNvSpPr>
          <p:nvPr>
            <p:ph idx="1"/>
          </p:nvPr>
        </p:nvSpPr>
        <p:spPr/>
        <p:txBody>
          <a:bodyPr>
            <a:normAutofit fontScale="92500" lnSpcReduction="20000"/>
          </a:bodyPr>
          <a:lstStyle/>
          <a:p>
            <a:r>
              <a:rPr lang="en-CA" altLang="en-US" b="1"/>
              <a:t>There is a sequence to normal forms: </a:t>
            </a:r>
          </a:p>
          <a:p>
            <a:pPr lvl="1"/>
            <a:r>
              <a:rPr lang="en-CA" altLang="en-US"/>
              <a:t>1NF is considered the weakest, </a:t>
            </a:r>
          </a:p>
          <a:p>
            <a:pPr lvl="1"/>
            <a:r>
              <a:rPr lang="en-CA" altLang="en-US"/>
              <a:t>2NF is stronger than 1NF, </a:t>
            </a:r>
          </a:p>
          <a:p>
            <a:pPr lvl="1"/>
            <a:r>
              <a:rPr lang="en-CA" altLang="en-US"/>
              <a:t>3NF is stronger than 2NF, and </a:t>
            </a:r>
          </a:p>
          <a:p>
            <a:pPr lvl="1"/>
            <a:r>
              <a:rPr lang="en-CA" altLang="en-US"/>
              <a:t>BCNF is considered the strongest</a:t>
            </a:r>
          </a:p>
          <a:p>
            <a:endParaRPr lang="en-CA" altLang="en-US"/>
          </a:p>
          <a:p>
            <a:r>
              <a:rPr lang="en-CA" altLang="en-US"/>
              <a:t>Also, </a:t>
            </a:r>
          </a:p>
          <a:p>
            <a:pPr lvl="1"/>
            <a:r>
              <a:rPr lang="en-CA" altLang="en-US"/>
              <a:t>any relation that is in BCNF, is in 3NF; </a:t>
            </a:r>
          </a:p>
          <a:p>
            <a:pPr lvl="1"/>
            <a:r>
              <a:rPr lang="en-CA" altLang="en-US"/>
              <a:t>any relation in 3NF is in 2NF; and </a:t>
            </a:r>
          </a:p>
          <a:p>
            <a:pPr lvl="1"/>
            <a:r>
              <a:rPr lang="en-CA" altLang="en-US"/>
              <a:t>any relation in 2NF is in 1NF. </a:t>
            </a:r>
          </a:p>
          <a:p>
            <a:pPr>
              <a:buFont typeface="Wingdings" panose="05000000000000000000" pitchFamily="2" charset="2"/>
              <a:buChar char="§"/>
            </a:pPr>
            <a:endParaRPr lang="en-US"/>
          </a:p>
        </p:txBody>
      </p:sp>
    </p:spTree>
    <p:extLst>
      <p:ext uri="{BB962C8B-B14F-4D97-AF65-F5344CB8AC3E}">
        <p14:creationId xmlns:p14="http://schemas.microsoft.com/office/powerpoint/2010/main" val="746685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b="1"/>
              <a:t>First Normal Form (1NF)</a:t>
            </a:r>
            <a:br>
              <a:rPr lang="en-US" b="1"/>
            </a:br>
            <a:endParaRPr lang="en-US" b="1"/>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a:t>First Normal Form is defined in the definition of relations (tables) itself. </a:t>
            </a:r>
          </a:p>
          <a:p>
            <a:pPr>
              <a:buFont typeface="Wingdings" panose="05000000000000000000" pitchFamily="2" charset="2"/>
              <a:buChar char="§"/>
            </a:pPr>
            <a:r>
              <a:rPr lang="en-US"/>
              <a:t>This rule defines that all the attributes in a relation must have atomic domains. </a:t>
            </a:r>
          </a:p>
          <a:p>
            <a:pPr>
              <a:buFont typeface="Wingdings" panose="05000000000000000000" pitchFamily="2" charset="2"/>
              <a:buChar char="§"/>
            </a:pPr>
            <a:r>
              <a:rPr lang="en-US"/>
              <a:t>The values in an atomic domain are indivisible units.</a:t>
            </a:r>
          </a:p>
          <a:p>
            <a:pPr marL="0" indent="0">
              <a:buNone/>
            </a:pPr>
            <a:endParaRPr lang="en-US"/>
          </a:p>
        </p:txBody>
      </p:sp>
    </p:spTree>
    <p:extLst>
      <p:ext uri="{BB962C8B-B14F-4D97-AF65-F5344CB8AC3E}">
        <p14:creationId xmlns:p14="http://schemas.microsoft.com/office/powerpoint/2010/main" val="2705499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First Normal Form (1NF)</a:t>
            </a:r>
            <a:br>
              <a:rPr lang="en-US"/>
            </a:br>
            <a:endParaRPr lang="en-US"/>
          </a:p>
        </p:txBody>
      </p:sp>
      <p:sp>
        <p:nvSpPr>
          <p:cNvPr id="3" name="Content Placeholder 2"/>
          <p:cNvSpPr>
            <a:spLocks noGrp="1"/>
          </p:cNvSpPr>
          <p:nvPr>
            <p:ph idx="1"/>
          </p:nvPr>
        </p:nvSpPr>
        <p:spPr/>
        <p:txBody>
          <a:bodyPr/>
          <a:lstStyle/>
          <a:p>
            <a:endParaRPr lang="en-US"/>
          </a:p>
          <a:p>
            <a:endParaRPr lang="en-US"/>
          </a:p>
          <a:p>
            <a:endParaRPr lang="en-US"/>
          </a:p>
          <a:p>
            <a:endParaRPr lang="en-US"/>
          </a:p>
          <a:p>
            <a:pPr>
              <a:buFont typeface="Wingdings" panose="05000000000000000000" pitchFamily="2" charset="2"/>
              <a:buChar char="§"/>
            </a:pPr>
            <a:r>
              <a:rPr lang="en-US"/>
              <a:t>We re-arrange the relation (table), to convert it to First Normal Form.</a:t>
            </a:r>
          </a:p>
        </p:txBody>
      </p:sp>
      <p:graphicFrame>
        <p:nvGraphicFramePr>
          <p:cNvPr id="4" name="Table 3"/>
          <p:cNvGraphicFramePr>
            <a:graphicFrameLocks noGrp="1"/>
          </p:cNvGraphicFramePr>
          <p:nvPr>
            <p:extLst>
              <p:ext uri="{D42A27DB-BD31-4B8C-83A1-F6EECF244321}">
                <p14:modId xmlns:p14="http://schemas.microsoft.com/office/powerpoint/2010/main" val="3177550913"/>
              </p:ext>
            </p:extLst>
          </p:nvPr>
        </p:nvGraphicFramePr>
        <p:xfrm>
          <a:off x="1676400" y="1676400"/>
          <a:ext cx="5501965" cy="1849836"/>
        </p:xfrm>
        <a:graphic>
          <a:graphicData uri="http://schemas.openxmlformats.org/drawingml/2006/table">
            <a:tbl>
              <a:tblPr firstRow="1" bandRow="1">
                <a:tableStyleId>{5C22544A-7EE6-4342-B048-85BDC9FD1C3A}</a:tableStyleId>
              </a:tblPr>
              <a:tblGrid>
                <a:gridCol w="1113493">
                  <a:extLst>
                    <a:ext uri="{9D8B030D-6E8A-4147-A177-3AD203B41FA5}">
                      <a16:colId xmlns:a16="http://schemas.microsoft.com/office/drawing/2014/main" val="20000"/>
                    </a:ext>
                  </a:extLst>
                </a:gridCol>
                <a:gridCol w="2194236">
                  <a:extLst>
                    <a:ext uri="{9D8B030D-6E8A-4147-A177-3AD203B41FA5}">
                      <a16:colId xmlns:a16="http://schemas.microsoft.com/office/drawing/2014/main" val="20001"/>
                    </a:ext>
                  </a:extLst>
                </a:gridCol>
                <a:gridCol w="2194236">
                  <a:extLst>
                    <a:ext uri="{9D8B030D-6E8A-4147-A177-3AD203B41FA5}">
                      <a16:colId xmlns:a16="http://schemas.microsoft.com/office/drawing/2014/main" val="20002"/>
                    </a:ext>
                  </a:extLst>
                </a:gridCol>
              </a:tblGrid>
              <a:tr h="228600">
                <a:tc>
                  <a:txBody>
                    <a:bodyPr/>
                    <a:lstStyle/>
                    <a:p>
                      <a:pPr algn="l" fontAlgn="t"/>
                      <a:r>
                        <a:rPr lang="en-US" err="1">
                          <a:effectLst/>
                        </a:rPr>
                        <a:t>Roll_no</a:t>
                      </a:r>
                      <a:endParaRPr lang="en-US">
                        <a:effectLst/>
                      </a:endParaRPr>
                    </a:p>
                  </a:txBody>
                  <a:tcPr marL="76200" marR="76200" marT="76200" marB="76200"/>
                </a:tc>
                <a:tc>
                  <a:txBody>
                    <a:bodyPr/>
                    <a:lstStyle/>
                    <a:p>
                      <a:pPr algn="l" fontAlgn="t"/>
                      <a:r>
                        <a:rPr lang="en-US">
                          <a:effectLst/>
                        </a:rPr>
                        <a:t>name</a:t>
                      </a:r>
                    </a:p>
                  </a:txBody>
                  <a:tcPr marL="76200" marR="76200" marT="76200" marB="76200"/>
                </a:tc>
                <a:tc>
                  <a:txBody>
                    <a:bodyPr/>
                    <a:lstStyle/>
                    <a:p>
                      <a:pPr algn="l" fontAlgn="t"/>
                      <a:r>
                        <a:rPr lang="en-US">
                          <a:effectLst/>
                        </a:rPr>
                        <a:t>subject</a:t>
                      </a:r>
                    </a:p>
                  </a:txBody>
                  <a:tcPr marL="76200" marR="76200" marT="76200" marB="76200"/>
                </a:tc>
                <a:extLst>
                  <a:ext uri="{0D108BD9-81ED-4DB2-BD59-A6C34878D82A}">
                    <a16:rowId xmlns:a16="http://schemas.microsoft.com/office/drawing/2014/main" val="10000"/>
                  </a:ext>
                </a:extLst>
              </a:tr>
              <a:tr h="567386">
                <a:tc>
                  <a:txBody>
                    <a:bodyPr/>
                    <a:lstStyle/>
                    <a:p>
                      <a:pPr fontAlgn="t"/>
                      <a:r>
                        <a:rPr lang="en-US">
                          <a:effectLst/>
                        </a:rPr>
                        <a:t>101</a:t>
                      </a:r>
                    </a:p>
                  </a:txBody>
                  <a:tcPr marL="76200" marR="76200" marT="76200" marB="76200"/>
                </a:tc>
                <a:tc>
                  <a:txBody>
                    <a:bodyPr/>
                    <a:lstStyle/>
                    <a:p>
                      <a:pPr fontAlgn="t"/>
                      <a:r>
                        <a:rPr lang="en-US" err="1">
                          <a:effectLst/>
                        </a:rPr>
                        <a:t>Annaya</a:t>
                      </a:r>
                      <a:endParaRPr lang="en-US">
                        <a:effectLst/>
                      </a:endParaRPr>
                    </a:p>
                  </a:txBody>
                  <a:tcPr marL="76200" marR="76200" marT="76200" marB="76200"/>
                </a:tc>
                <a:tc>
                  <a:txBody>
                    <a:bodyPr/>
                    <a:lstStyle/>
                    <a:p>
                      <a:pPr fontAlgn="t"/>
                      <a:r>
                        <a:rPr lang="en-US">
                          <a:effectLst/>
                        </a:rPr>
                        <a:t>OS, CN</a:t>
                      </a:r>
                    </a:p>
                  </a:txBody>
                  <a:tcPr marL="76200" marR="76200" marT="76200" marB="76200"/>
                </a:tc>
                <a:extLst>
                  <a:ext uri="{0D108BD9-81ED-4DB2-BD59-A6C34878D82A}">
                    <a16:rowId xmlns:a16="http://schemas.microsoft.com/office/drawing/2014/main" val="10001"/>
                  </a:ext>
                </a:extLst>
              </a:tr>
              <a:tr h="855730">
                <a:tc>
                  <a:txBody>
                    <a:bodyPr/>
                    <a:lstStyle/>
                    <a:p>
                      <a:pPr fontAlgn="t"/>
                      <a:r>
                        <a:rPr lang="en-US">
                          <a:effectLst/>
                        </a:rPr>
                        <a:t>103</a:t>
                      </a:r>
                    </a:p>
                  </a:txBody>
                  <a:tcPr marL="76200" marR="76200" marT="76200" marB="76200"/>
                </a:tc>
                <a:tc>
                  <a:txBody>
                    <a:bodyPr/>
                    <a:lstStyle/>
                    <a:p>
                      <a:pPr fontAlgn="t"/>
                      <a:r>
                        <a:rPr lang="en-US">
                          <a:effectLst/>
                        </a:rPr>
                        <a:t>Abhishek</a:t>
                      </a:r>
                    </a:p>
                  </a:txBody>
                  <a:tcPr marL="76200" marR="76200" marT="76200" marB="76200"/>
                </a:tc>
                <a:tc>
                  <a:txBody>
                    <a:bodyPr/>
                    <a:lstStyle/>
                    <a:p>
                      <a:pPr fontAlgn="t"/>
                      <a:r>
                        <a:rPr lang="en-US">
                          <a:effectLst/>
                        </a:rPr>
                        <a:t>Java</a:t>
                      </a:r>
                    </a:p>
                  </a:txBody>
                  <a:tcPr marL="76200" marR="76200" marT="76200" marB="7620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5911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First Normal Form (1NF)</a:t>
            </a:r>
            <a:br>
              <a:rPr lang="en-US"/>
            </a:br>
            <a:endParaRPr lang="en-US"/>
          </a:p>
        </p:txBody>
      </p:sp>
      <p:sp>
        <p:nvSpPr>
          <p:cNvPr id="3" name="Content Placeholder 2"/>
          <p:cNvSpPr>
            <a:spLocks noGrp="1"/>
          </p:cNvSpPr>
          <p:nvPr>
            <p:ph idx="1"/>
          </p:nvPr>
        </p:nvSpPr>
        <p:spPr>
          <a:xfrm>
            <a:off x="457200" y="1295400"/>
            <a:ext cx="8229600" cy="5410200"/>
          </a:xfrm>
        </p:spPr>
        <p:txBody>
          <a:bodyPr>
            <a:normAutofit fontScale="40000" lnSpcReduction="20000"/>
          </a:bodyPr>
          <a:lstStyle/>
          <a:p>
            <a:pPr>
              <a:buFont typeface="Wingdings" panose="05000000000000000000" pitchFamily="2" charset="2"/>
              <a:buChar char="§"/>
            </a:pPr>
            <a:endParaRPr lang="en-US"/>
          </a:p>
          <a:p>
            <a:pPr marL="0" indent="0">
              <a:buNone/>
            </a:pPr>
            <a:endParaRPr lang="en-US"/>
          </a:p>
          <a:p>
            <a:pPr>
              <a:buFont typeface="Wingdings" panose="05000000000000000000" pitchFamily="2" charset="2"/>
              <a:buChar char="§"/>
            </a:pPr>
            <a:endParaRPr lang="en-US"/>
          </a:p>
          <a:p>
            <a:pPr>
              <a:buFont typeface="Wingdings" panose="05000000000000000000" pitchFamily="2" charset="2"/>
              <a:buChar char="§"/>
            </a:pPr>
            <a:endParaRPr lang="en-US"/>
          </a:p>
          <a:p>
            <a:pPr>
              <a:buFont typeface="Wingdings" panose="05000000000000000000" pitchFamily="2" charset="2"/>
              <a:buChar char="§"/>
            </a:pPr>
            <a:endParaRPr lang="en-US"/>
          </a:p>
          <a:p>
            <a:pPr>
              <a:buFont typeface="Wingdings" panose="05000000000000000000" pitchFamily="2" charset="2"/>
              <a:buChar char="§"/>
            </a:pPr>
            <a:endParaRPr lang="en-US"/>
          </a:p>
          <a:p>
            <a:pPr>
              <a:buFont typeface="Wingdings" panose="05000000000000000000" pitchFamily="2" charset="2"/>
              <a:buChar char="§"/>
            </a:pPr>
            <a:endParaRPr lang="en-US"/>
          </a:p>
          <a:p>
            <a:pPr>
              <a:buFont typeface="Wingdings" panose="05000000000000000000" pitchFamily="2" charset="2"/>
              <a:buChar char="§"/>
            </a:pPr>
            <a:endParaRPr lang="en-US" sz="5100"/>
          </a:p>
          <a:p>
            <a:pPr>
              <a:buFont typeface="Wingdings" panose="05000000000000000000" pitchFamily="2" charset="2"/>
              <a:buChar char="§"/>
            </a:pPr>
            <a:endParaRPr lang="en-US" sz="5100"/>
          </a:p>
          <a:p>
            <a:pPr>
              <a:buFont typeface="Wingdings" panose="05000000000000000000" pitchFamily="2" charset="2"/>
              <a:buChar char="§"/>
            </a:pPr>
            <a:endParaRPr lang="en-US" sz="5100"/>
          </a:p>
          <a:p>
            <a:pPr>
              <a:buFont typeface="Wingdings" panose="05000000000000000000" pitchFamily="2" charset="2"/>
              <a:buChar char="§"/>
            </a:pPr>
            <a:r>
              <a:rPr lang="en-US" sz="6500"/>
              <a:t>By doing so, although a few values are getting repeated but values for the subject column are now atomic for each record/row.</a:t>
            </a:r>
          </a:p>
          <a:p>
            <a:pPr>
              <a:buFont typeface="Wingdings" panose="05000000000000000000" pitchFamily="2" charset="2"/>
              <a:buChar char="§"/>
            </a:pPr>
            <a:r>
              <a:rPr lang="en-US" sz="6500" b="1">
                <a:solidFill>
                  <a:srgbClr val="FF0000"/>
                </a:solidFill>
              </a:rPr>
              <a:t>Using the First Normal Form, data redundancy increases</a:t>
            </a:r>
            <a:r>
              <a:rPr lang="en-US" sz="6500"/>
              <a:t>, as there will be many columns with same data in multiple rows but each row as a whole will be unique.</a:t>
            </a:r>
          </a:p>
          <a:p>
            <a:pPr marL="0" indent="0">
              <a:buNone/>
            </a:pPr>
            <a:br>
              <a:rPr lang="en-US" sz="6500"/>
            </a:br>
            <a:endParaRPr lang="en-US" sz="6500"/>
          </a:p>
        </p:txBody>
      </p:sp>
      <p:graphicFrame>
        <p:nvGraphicFramePr>
          <p:cNvPr id="4" name="Table 3"/>
          <p:cNvGraphicFramePr>
            <a:graphicFrameLocks noGrp="1"/>
          </p:cNvGraphicFramePr>
          <p:nvPr>
            <p:extLst>
              <p:ext uri="{D42A27DB-BD31-4B8C-83A1-F6EECF244321}">
                <p14:modId xmlns:p14="http://schemas.microsoft.com/office/powerpoint/2010/main" val="2825708351"/>
              </p:ext>
            </p:extLst>
          </p:nvPr>
        </p:nvGraphicFramePr>
        <p:xfrm>
          <a:off x="1524000" y="1508760"/>
          <a:ext cx="6096000" cy="19202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97840">
                <a:tc>
                  <a:txBody>
                    <a:bodyPr/>
                    <a:lstStyle/>
                    <a:p>
                      <a:pPr algn="l" fontAlgn="t"/>
                      <a:r>
                        <a:rPr lang="en-US" err="1">
                          <a:effectLst/>
                        </a:rPr>
                        <a:t>Roll_no</a:t>
                      </a:r>
                      <a:endParaRPr lang="en-US">
                        <a:effectLst/>
                      </a:endParaRPr>
                    </a:p>
                  </a:txBody>
                  <a:tcPr marL="76200" marR="76200" marT="76200" marB="76200"/>
                </a:tc>
                <a:tc>
                  <a:txBody>
                    <a:bodyPr/>
                    <a:lstStyle/>
                    <a:p>
                      <a:pPr algn="l" fontAlgn="t"/>
                      <a:r>
                        <a:rPr lang="en-US">
                          <a:effectLst/>
                        </a:rPr>
                        <a:t>name</a:t>
                      </a:r>
                    </a:p>
                  </a:txBody>
                  <a:tcPr marL="76200" marR="76200" marT="76200" marB="76200"/>
                </a:tc>
                <a:tc>
                  <a:txBody>
                    <a:bodyPr/>
                    <a:lstStyle/>
                    <a:p>
                      <a:pPr algn="l" fontAlgn="t"/>
                      <a:r>
                        <a:rPr lang="en-US">
                          <a:effectLst/>
                        </a:rPr>
                        <a:t>subject</a:t>
                      </a:r>
                    </a:p>
                  </a:txBody>
                  <a:tcPr marL="76200" marR="76200" marT="76200" marB="76200"/>
                </a:tc>
                <a:extLst>
                  <a:ext uri="{0D108BD9-81ED-4DB2-BD59-A6C34878D82A}">
                    <a16:rowId xmlns:a16="http://schemas.microsoft.com/office/drawing/2014/main" val="10000"/>
                  </a:ext>
                </a:extLst>
              </a:tr>
              <a:tr h="497840">
                <a:tc>
                  <a:txBody>
                    <a:bodyPr/>
                    <a:lstStyle/>
                    <a:p>
                      <a:pPr fontAlgn="t"/>
                      <a:r>
                        <a:rPr lang="en-US">
                          <a:effectLst/>
                        </a:rPr>
                        <a:t>101</a:t>
                      </a:r>
                    </a:p>
                  </a:txBody>
                  <a:tcPr marL="76200" marR="76200" marT="76200" marB="76200"/>
                </a:tc>
                <a:tc>
                  <a:txBody>
                    <a:bodyPr/>
                    <a:lstStyle/>
                    <a:p>
                      <a:pPr fontAlgn="t"/>
                      <a:r>
                        <a:rPr lang="en-US" err="1">
                          <a:effectLst/>
                        </a:rPr>
                        <a:t>Annaya</a:t>
                      </a:r>
                      <a:endParaRPr lang="en-US">
                        <a:effectLst/>
                      </a:endParaRPr>
                    </a:p>
                  </a:txBody>
                  <a:tcPr marL="76200" marR="76200" marT="76200" marB="76200"/>
                </a:tc>
                <a:tc>
                  <a:txBody>
                    <a:bodyPr/>
                    <a:lstStyle/>
                    <a:p>
                      <a:pPr fontAlgn="t"/>
                      <a:r>
                        <a:rPr lang="en-US">
                          <a:effectLst/>
                        </a:rPr>
                        <a:t>OS</a:t>
                      </a:r>
                    </a:p>
                  </a:txBody>
                  <a:tcPr marL="76200" marR="76200" marT="76200" marB="76200"/>
                </a:tc>
                <a:extLst>
                  <a:ext uri="{0D108BD9-81ED-4DB2-BD59-A6C34878D82A}">
                    <a16:rowId xmlns:a16="http://schemas.microsoft.com/office/drawing/2014/main" val="10001"/>
                  </a:ext>
                </a:extLst>
              </a:tr>
              <a:tr h="497840">
                <a:tc>
                  <a:txBody>
                    <a:bodyPr/>
                    <a:lstStyle/>
                    <a:p>
                      <a:pPr fontAlgn="t"/>
                      <a:r>
                        <a:rPr lang="en-US">
                          <a:effectLst/>
                        </a:rPr>
                        <a:t>101</a:t>
                      </a:r>
                    </a:p>
                  </a:txBody>
                  <a:tcPr marL="76200" marR="76200" marT="76200" marB="76200"/>
                </a:tc>
                <a:tc>
                  <a:txBody>
                    <a:bodyPr/>
                    <a:lstStyle/>
                    <a:p>
                      <a:pPr fontAlgn="t"/>
                      <a:r>
                        <a:rPr lang="en-US" err="1">
                          <a:effectLst/>
                        </a:rPr>
                        <a:t>Annaya</a:t>
                      </a:r>
                      <a:endParaRPr lang="en-US">
                        <a:effectLst/>
                      </a:endParaRPr>
                    </a:p>
                  </a:txBody>
                  <a:tcPr marL="76200" marR="76200" marT="76200" marB="76200"/>
                </a:tc>
                <a:tc>
                  <a:txBody>
                    <a:bodyPr/>
                    <a:lstStyle/>
                    <a:p>
                      <a:pPr fontAlgn="t"/>
                      <a:r>
                        <a:rPr lang="en-US">
                          <a:effectLst/>
                        </a:rPr>
                        <a:t>CN</a:t>
                      </a:r>
                    </a:p>
                  </a:txBody>
                  <a:tcPr marL="76200" marR="76200" marT="76200" marB="76200"/>
                </a:tc>
                <a:extLst>
                  <a:ext uri="{0D108BD9-81ED-4DB2-BD59-A6C34878D82A}">
                    <a16:rowId xmlns:a16="http://schemas.microsoft.com/office/drawing/2014/main" val="10002"/>
                  </a:ext>
                </a:extLst>
              </a:tr>
              <a:tr h="259080">
                <a:tc>
                  <a:txBody>
                    <a:bodyPr/>
                    <a:lstStyle/>
                    <a:p>
                      <a:pPr fontAlgn="t"/>
                      <a:r>
                        <a:rPr lang="en-US">
                          <a:effectLst/>
                        </a:rPr>
                        <a:t>103</a:t>
                      </a:r>
                    </a:p>
                  </a:txBody>
                  <a:tcPr marL="76200" marR="76200" marT="76200" marB="76200"/>
                </a:tc>
                <a:tc>
                  <a:txBody>
                    <a:bodyPr/>
                    <a:lstStyle/>
                    <a:p>
                      <a:pPr fontAlgn="t"/>
                      <a:r>
                        <a:rPr lang="en-US">
                          <a:effectLst/>
                        </a:rPr>
                        <a:t>Abhishek</a:t>
                      </a:r>
                    </a:p>
                  </a:txBody>
                  <a:tcPr marL="76200" marR="76200" marT="76200" marB="76200"/>
                </a:tc>
                <a:tc>
                  <a:txBody>
                    <a:bodyPr/>
                    <a:lstStyle/>
                    <a:p>
                      <a:pPr fontAlgn="t"/>
                      <a:r>
                        <a:rPr lang="en-US">
                          <a:effectLst/>
                        </a:rPr>
                        <a:t>Java</a:t>
                      </a: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9725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b="1"/>
              <a:t>What is Second Normal Form?</a:t>
            </a:r>
            <a:br>
              <a:rPr lang="en-US" b="1"/>
            </a:br>
            <a:br>
              <a:rPr lang="en-US" b="1"/>
            </a:br>
            <a:endParaRPr lang="en-US" b="1"/>
          </a:p>
        </p:txBody>
      </p:sp>
      <p:sp>
        <p:nvSpPr>
          <p:cNvPr id="3" name="Content Placeholder 2"/>
          <p:cNvSpPr>
            <a:spLocks noGrp="1"/>
          </p:cNvSpPr>
          <p:nvPr>
            <p:ph idx="1"/>
          </p:nvPr>
        </p:nvSpPr>
        <p:spPr/>
        <p:txBody>
          <a:bodyPr/>
          <a:lstStyle/>
          <a:p>
            <a:pPr>
              <a:buFont typeface="Wingdings" panose="05000000000000000000" pitchFamily="2" charset="2"/>
              <a:buChar char="§"/>
            </a:pPr>
            <a:r>
              <a:rPr lang="en-US" b="1">
                <a:solidFill>
                  <a:srgbClr val="FF0000"/>
                </a:solidFill>
              </a:rPr>
              <a:t>For a table to be in the Second Normal Form, it must satisfy two conditions:</a:t>
            </a:r>
          </a:p>
          <a:p>
            <a:pPr lvl="1">
              <a:buFont typeface="Wingdings" panose="05000000000000000000" pitchFamily="2" charset="2"/>
              <a:buChar char="§"/>
            </a:pPr>
            <a:r>
              <a:rPr lang="en-US"/>
              <a:t>The table should be in the First Normal Form.</a:t>
            </a:r>
          </a:p>
          <a:p>
            <a:pPr lvl="1">
              <a:buFont typeface="Wingdings" panose="05000000000000000000" pitchFamily="2" charset="2"/>
              <a:buChar char="§"/>
            </a:pPr>
            <a:r>
              <a:rPr lang="en-US"/>
              <a:t>There should be no Partial Dependency.</a:t>
            </a:r>
          </a:p>
          <a:p>
            <a:pPr lvl="1">
              <a:buFont typeface="Wingdings" panose="05000000000000000000" pitchFamily="2" charset="2"/>
              <a:buChar char="§"/>
            </a:pPr>
            <a:endParaRPr lang="en-US"/>
          </a:p>
        </p:txBody>
      </p:sp>
    </p:spTree>
    <p:extLst>
      <p:ext uri="{BB962C8B-B14F-4D97-AF65-F5344CB8AC3E}">
        <p14:creationId xmlns:p14="http://schemas.microsoft.com/office/powerpoint/2010/main" val="131712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cs typeface="Times New Roman" pitchFamily="18" charset="0"/>
              </a:rPr>
              <a:t>Functional Dependencies</a:t>
            </a:r>
            <a:r>
              <a:rPr lang="en-US" altLang="en-US"/>
              <a:t> </a:t>
            </a:r>
            <a:endParaRPr lang="en-US"/>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
            </a:pPr>
            <a:r>
              <a:rPr lang="en-US" altLang="en-US">
                <a:cs typeface="Times New Roman" pitchFamily="18" charset="0"/>
              </a:rPr>
              <a:t>Functional dependencies (FDs) are used to specify </a:t>
            </a:r>
            <a:r>
              <a:rPr lang="en-US" altLang="en-US" b="1" i="1">
                <a:cs typeface="Times New Roman" pitchFamily="18" charset="0"/>
              </a:rPr>
              <a:t>formal measures</a:t>
            </a:r>
            <a:r>
              <a:rPr lang="en-US" altLang="en-US">
                <a:cs typeface="Times New Roman" pitchFamily="18" charset="0"/>
              </a:rPr>
              <a:t>  of the "goodness" of relational designs</a:t>
            </a:r>
            <a:r>
              <a:rPr lang="en-US" altLang="en-US"/>
              <a:t> </a:t>
            </a:r>
          </a:p>
          <a:p>
            <a:pPr>
              <a:lnSpc>
                <a:spcPct val="90000"/>
              </a:lnSpc>
              <a:buFont typeface="Wingdings" panose="05000000000000000000" pitchFamily="2" charset="2"/>
              <a:buChar char="§"/>
            </a:pPr>
            <a:r>
              <a:rPr lang="en-US" altLang="en-US">
                <a:cs typeface="Times New Roman" pitchFamily="18" charset="0"/>
              </a:rPr>
              <a:t> FDs and keys are used to define </a:t>
            </a:r>
            <a:r>
              <a:rPr lang="en-US" altLang="en-US" b="1">
                <a:cs typeface="Times New Roman" pitchFamily="18" charset="0"/>
              </a:rPr>
              <a:t>normal forms</a:t>
            </a:r>
            <a:r>
              <a:rPr lang="en-US" altLang="en-US">
                <a:cs typeface="Times New Roman" pitchFamily="18" charset="0"/>
              </a:rPr>
              <a:t> for relations</a:t>
            </a:r>
            <a:r>
              <a:rPr lang="en-US" altLang="en-US"/>
              <a:t> </a:t>
            </a:r>
          </a:p>
          <a:p>
            <a:pPr>
              <a:lnSpc>
                <a:spcPct val="90000"/>
              </a:lnSpc>
              <a:buFont typeface="Wingdings" panose="05000000000000000000" pitchFamily="2" charset="2"/>
              <a:buChar char="§"/>
            </a:pPr>
            <a:r>
              <a:rPr lang="en-US" altLang="en-US">
                <a:cs typeface="Times New Roman" pitchFamily="18" charset="0"/>
              </a:rPr>
              <a:t> FDs are </a:t>
            </a:r>
            <a:r>
              <a:rPr lang="en-US" altLang="en-US" b="1">
                <a:cs typeface="Times New Roman" pitchFamily="18" charset="0"/>
              </a:rPr>
              <a:t>constraints</a:t>
            </a:r>
            <a:r>
              <a:rPr lang="en-US" altLang="en-US">
                <a:cs typeface="Times New Roman" pitchFamily="18" charset="0"/>
              </a:rPr>
              <a:t> that are derived from the </a:t>
            </a:r>
            <a:r>
              <a:rPr lang="en-US" altLang="en-US" i="1">
                <a:cs typeface="Times New Roman" pitchFamily="18" charset="0"/>
              </a:rPr>
              <a:t>meaning</a:t>
            </a:r>
            <a:r>
              <a:rPr lang="en-US" altLang="en-US">
                <a:cs typeface="Times New Roman" pitchFamily="18" charset="0"/>
              </a:rPr>
              <a:t>  and </a:t>
            </a:r>
            <a:r>
              <a:rPr lang="en-US" altLang="en-US" i="1">
                <a:cs typeface="Times New Roman" pitchFamily="18" charset="0"/>
              </a:rPr>
              <a:t>interrelationships</a:t>
            </a:r>
            <a:r>
              <a:rPr lang="en-US" altLang="en-US">
                <a:cs typeface="Times New Roman" pitchFamily="18" charset="0"/>
              </a:rPr>
              <a:t>  of the data attributes</a:t>
            </a:r>
            <a:r>
              <a:rPr lang="en-US" altLang="en-US"/>
              <a:t> </a:t>
            </a:r>
            <a:endParaRPr lang="en-US" altLang="en-US">
              <a:cs typeface="Times New Roman" pitchFamily="18" charset="0"/>
            </a:endParaRPr>
          </a:p>
          <a:p>
            <a:pPr>
              <a:buFont typeface="Wingdings" panose="05000000000000000000" pitchFamily="2" charset="2"/>
              <a:buChar char="§"/>
            </a:pPr>
            <a:endParaRPr lang="en-US"/>
          </a:p>
        </p:txBody>
      </p:sp>
    </p:spTree>
    <p:extLst>
      <p:ext uri="{BB962C8B-B14F-4D97-AF65-F5344CB8AC3E}">
        <p14:creationId xmlns:p14="http://schemas.microsoft.com/office/powerpoint/2010/main" val="2850433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cs typeface="Times New Roman" pitchFamily="18" charset="0"/>
              </a:rPr>
              <a:t>Functional Dependency definition </a:t>
            </a:r>
            <a:endParaRPr lang="en-US"/>
          </a:p>
        </p:txBody>
      </p:sp>
      <p:sp>
        <p:nvSpPr>
          <p:cNvPr id="3" name="Content Placeholder 2"/>
          <p:cNvSpPr>
            <a:spLocks noGrp="1"/>
          </p:cNvSpPr>
          <p:nvPr>
            <p:ph idx="1"/>
          </p:nvPr>
        </p:nvSpPr>
        <p:spPr>
          <a:xfrm>
            <a:off x="457200" y="1600200"/>
            <a:ext cx="8229600" cy="5181600"/>
          </a:xfrm>
        </p:spPr>
        <p:txBody>
          <a:bodyPr>
            <a:noAutofit/>
          </a:bodyPr>
          <a:lstStyle/>
          <a:p>
            <a:pPr fontAlgn="auto">
              <a:spcAft>
                <a:spcPts val="0"/>
              </a:spcAft>
              <a:defRPr/>
            </a:pPr>
            <a:r>
              <a:rPr lang="en-US" sz="2800">
                <a:cs typeface="Times New Roman" charset="0"/>
              </a:rPr>
              <a:t>A set of attributes X </a:t>
            </a:r>
            <a:r>
              <a:rPr lang="en-US" sz="2800" i="1">
                <a:cs typeface="Times New Roman" charset="0"/>
              </a:rPr>
              <a:t>functionally determines</a:t>
            </a:r>
            <a:r>
              <a:rPr lang="en-US" sz="2800">
                <a:cs typeface="Times New Roman" charset="0"/>
              </a:rPr>
              <a:t>  a set of attributes Y if the value of X determines a unique value for Y</a:t>
            </a:r>
            <a:r>
              <a:rPr lang="en-US" sz="2800"/>
              <a:t> </a:t>
            </a:r>
          </a:p>
          <a:p>
            <a:pPr fontAlgn="auto">
              <a:spcAft>
                <a:spcPts val="0"/>
              </a:spcAft>
              <a:defRPr/>
            </a:pPr>
            <a:r>
              <a:rPr lang="en-US" sz="2800">
                <a:cs typeface="Times New Roman" charset="0"/>
              </a:rPr>
              <a:t>X </a:t>
            </a:r>
            <a:r>
              <a:rPr lang="en-US" sz="2800">
                <a:latin typeface="BostonII" charset="0"/>
                <a:cs typeface="Times New Roman" charset="0"/>
                <a:sym typeface="Wingdings" charset="0"/>
              </a:rPr>
              <a:t></a:t>
            </a:r>
            <a:r>
              <a:rPr lang="en-US" sz="2800">
                <a:cs typeface="Times New Roman" charset="0"/>
              </a:rPr>
              <a:t>Y holds if whenever two tuples have the same value for X, they </a:t>
            </a:r>
            <a:r>
              <a:rPr lang="en-US" sz="2800" i="1">
                <a:cs typeface="Times New Roman" charset="0"/>
              </a:rPr>
              <a:t>must have</a:t>
            </a:r>
            <a:r>
              <a:rPr lang="en-US" sz="2800">
                <a:cs typeface="Times New Roman" charset="0"/>
              </a:rPr>
              <a:t>  the same value for Y</a:t>
            </a:r>
          </a:p>
          <a:p>
            <a:pPr lvl="1" fontAlgn="auto">
              <a:spcAft>
                <a:spcPts val="0"/>
              </a:spcAft>
              <a:buClr>
                <a:schemeClr val="accent1">
                  <a:lumMod val="60000"/>
                  <a:lumOff val="40000"/>
                </a:schemeClr>
              </a:buClr>
              <a:buFont typeface="Wingdings" charset="0"/>
              <a:buNone/>
              <a:defRPr/>
            </a:pPr>
            <a:r>
              <a:rPr lang="en-US" i="1">
                <a:cs typeface="Times New Roman" charset="0"/>
              </a:rPr>
              <a:t>If</a:t>
            </a:r>
            <a:r>
              <a:rPr lang="en-US">
                <a:cs typeface="Times New Roman" charset="0"/>
              </a:rPr>
              <a:t>  t1[X]=t2[X], </a:t>
            </a:r>
            <a:r>
              <a:rPr lang="en-US" i="1">
                <a:cs typeface="Times New Roman" charset="0"/>
              </a:rPr>
              <a:t>then</a:t>
            </a:r>
            <a:r>
              <a:rPr lang="en-US">
                <a:cs typeface="Times New Roman" charset="0"/>
              </a:rPr>
              <a:t>  t1[Y]=t2[Y] in any relation instance r(R)</a:t>
            </a:r>
          </a:p>
          <a:p>
            <a:pPr fontAlgn="auto">
              <a:spcAft>
                <a:spcPts val="0"/>
              </a:spcAft>
              <a:defRPr/>
            </a:pPr>
            <a:r>
              <a:rPr lang="en-US" sz="2800">
                <a:cs typeface="Times New Roman" charset="0"/>
              </a:rPr>
              <a:t>X </a:t>
            </a:r>
            <a:r>
              <a:rPr lang="en-US" sz="2800">
                <a:latin typeface="BostonII" charset="0"/>
                <a:cs typeface="Times New Roman" charset="0"/>
                <a:sym typeface="Wingdings" charset="0"/>
              </a:rPr>
              <a:t></a:t>
            </a:r>
            <a:r>
              <a:rPr lang="en-US" sz="2800">
                <a:latin typeface="BostonII" charset="0"/>
                <a:cs typeface="Times New Roman" charset="0"/>
              </a:rPr>
              <a:t> </a:t>
            </a:r>
            <a:r>
              <a:rPr lang="en-US" sz="2800">
                <a:cs typeface="Times New Roman" charset="0"/>
              </a:rPr>
              <a:t>Y in R specifies a </a:t>
            </a:r>
            <a:r>
              <a:rPr lang="en-US" sz="2800" i="1">
                <a:cs typeface="Times New Roman" charset="0"/>
              </a:rPr>
              <a:t>constraint</a:t>
            </a:r>
            <a:r>
              <a:rPr lang="en-US" sz="2800">
                <a:cs typeface="Times New Roman" charset="0"/>
              </a:rPr>
              <a:t> on all relation instances r(R)</a:t>
            </a:r>
          </a:p>
          <a:p>
            <a:pPr fontAlgn="auto">
              <a:spcAft>
                <a:spcPts val="0"/>
              </a:spcAft>
              <a:defRPr/>
            </a:pPr>
            <a:r>
              <a:rPr lang="en-US" sz="2800">
                <a:cs typeface="Times New Roman" charset="0"/>
              </a:rPr>
              <a:t>FDs are derived from the real-world constraints on the attributes</a:t>
            </a:r>
          </a:p>
          <a:p>
            <a:pPr>
              <a:buFont typeface="Wingdings" panose="05000000000000000000" pitchFamily="2" charset="2"/>
              <a:buChar char="§"/>
            </a:pPr>
            <a:endParaRPr lang="en-US" sz="2800"/>
          </a:p>
        </p:txBody>
      </p:sp>
    </p:spTree>
    <p:extLst>
      <p:ext uri="{BB962C8B-B14F-4D97-AF65-F5344CB8AC3E}">
        <p14:creationId xmlns:p14="http://schemas.microsoft.com/office/powerpoint/2010/main" val="1617163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cs typeface="Times New Roman" pitchFamily="18" charset="0"/>
              </a:rPr>
              <a:t>Examples of FD constraints</a:t>
            </a:r>
            <a:r>
              <a:rPr lang="en-US" altLang="en-US"/>
              <a:t> </a:t>
            </a:r>
            <a:endParaRPr lang="en-US"/>
          </a:p>
        </p:txBody>
      </p:sp>
      <p:sp>
        <p:nvSpPr>
          <p:cNvPr id="3" name="Content Placeholder 2"/>
          <p:cNvSpPr>
            <a:spLocks noGrp="1"/>
          </p:cNvSpPr>
          <p:nvPr>
            <p:ph idx="1"/>
          </p:nvPr>
        </p:nvSpPr>
        <p:spPr/>
        <p:txBody>
          <a:bodyPr/>
          <a:lstStyle/>
          <a:p>
            <a:pPr>
              <a:lnSpc>
                <a:spcPct val="90000"/>
              </a:lnSpc>
            </a:pPr>
            <a:r>
              <a:rPr lang="en-US" altLang="en-US" sz="2800"/>
              <a:t>S</a:t>
            </a:r>
            <a:r>
              <a:rPr lang="en-US" altLang="en-US" sz="2800">
                <a:cs typeface="Times New Roman" pitchFamily="18" charset="0"/>
              </a:rPr>
              <a:t>ocial Security Number determines employee name</a:t>
            </a:r>
          </a:p>
          <a:p>
            <a:pPr lvl="1">
              <a:lnSpc>
                <a:spcPct val="90000"/>
              </a:lnSpc>
              <a:buFont typeface="Wingdings" pitchFamily="2" charset="2"/>
              <a:buNone/>
            </a:pPr>
            <a:r>
              <a:rPr lang="en-US" altLang="en-US" sz="2400">
                <a:cs typeface="Times New Roman" pitchFamily="18" charset="0"/>
              </a:rPr>
              <a:t>SSN </a:t>
            </a:r>
            <a:r>
              <a:rPr lang="en-US" altLang="en-US" sz="2400">
                <a:latin typeface="BostonII" charset="0"/>
                <a:cs typeface="Times New Roman" pitchFamily="18" charset="0"/>
                <a:sym typeface="Wingdings" pitchFamily="2" charset="2"/>
              </a:rPr>
              <a:t></a:t>
            </a:r>
            <a:r>
              <a:rPr lang="en-US" altLang="en-US" sz="2400">
                <a:latin typeface="BostonII" charset="0"/>
                <a:cs typeface="Times New Roman" pitchFamily="18" charset="0"/>
              </a:rPr>
              <a:t> </a:t>
            </a:r>
            <a:r>
              <a:rPr lang="en-US" altLang="en-US" sz="2400">
                <a:cs typeface="Times New Roman" pitchFamily="18" charset="0"/>
              </a:rPr>
              <a:t>ENAME</a:t>
            </a:r>
          </a:p>
          <a:p>
            <a:pPr>
              <a:lnSpc>
                <a:spcPct val="90000"/>
              </a:lnSpc>
            </a:pPr>
            <a:r>
              <a:rPr lang="en-US" altLang="en-US" sz="2800">
                <a:cs typeface="Times New Roman" pitchFamily="18" charset="0"/>
              </a:rPr>
              <a:t>Project Number determines project name and location</a:t>
            </a:r>
          </a:p>
          <a:p>
            <a:pPr lvl="1">
              <a:lnSpc>
                <a:spcPct val="90000"/>
              </a:lnSpc>
              <a:buFont typeface="Wingdings" pitchFamily="2" charset="2"/>
              <a:buNone/>
            </a:pPr>
            <a:r>
              <a:rPr lang="en-US" altLang="en-US" sz="2400">
                <a:cs typeface="Times New Roman" pitchFamily="18" charset="0"/>
              </a:rPr>
              <a:t>PNUMBER </a:t>
            </a:r>
            <a:r>
              <a:rPr lang="en-US" altLang="en-US" sz="2400">
                <a:latin typeface="BostonII" charset="0"/>
                <a:cs typeface="Times New Roman" pitchFamily="18" charset="0"/>
                <a:sym typeface="Wingdings" pitchFamily="2" charset="2"/>
              </a:rPr>
              <a:t></a:t>
            </a:r>
            <a:r>
              <a:rPr lang="en-US" altLang="en-US" sz="2400">
                <a:latin typeface="BostonII" charset="0"/>
                <a:cs typeface="Times New Roman" pitchFamily="18" charset="0"/>
              </a:rPr>
              <a:t> </a:t>
            </a:r>
            <a:r>
              <a:rPr lang="en-US" altLang="en-US" sz="2400">
                <a:cs typeface="Times New Roman" pitchFamily="18" charset="0"/>
              </a:rPr>
              <a:t>{PNAME, PLOCATION}</a:t>
            </a:r>
          </a:p>
          <a:p>
            <a:pPr>
              <a:lnSpc>
                <a:spcPct val="90000"/>
              </a:lnSpc>
            </a:pPr>
            <a:r>
              <a:rPr lang="en-US" altLang="en-US" sz="2800">
                <a:cs typeface="Times New Roman" pitchFamily="18" charset="0"/>
              </a:rPr>
              <a:t>Employee SSN and project number determines the hours per week that the employee works on the project</a:t>
            </a:r>
          </a:p>
          <a:p>
            <a:pPr lvl="1">
              <a:lnSpc>
                <a:spcPct val="90000"/>
              </a:lnSpc>
              <a:buFont typeface="Wingdings" pitchFamily="2" charset="2"/>
              <a:buNone/>
            </a:pPr>
            <a:r>
              <a:rPr lang="en-US" altLang="en-US" sz="2400">
                <a:cs typeface="Times New Roman" pitchFamily="18" charset="0"/>
              </a:rPr>
              <a:t>{SSN, PNUMBER} </a:t>
            </a:r>
            <a:r>
              <a:rPr lang="en-US" altLang="en-US" sz="2400">
                <a:cs typeface="Times New Roman" pitchFamily="18" charset="0"/>
                <a:sym typeface="Wingdings" pitchFamily="2" charset="2"/>
              </a:rPr>
              <a:t></a:t>
            </a:r>
            <a:r>
              <a:rPr lang="en-US" altLang="en-US" sz="2400">
                <a:latin typeface="BostonII" charset="0"/>
                <a:cs typeface="Times New Roman" pitchFamily="18" charset="0"/>
              </a:rPr>
              <a:t> </a:t>
            </a:r>
            <a:r>
              <a:rPr lang="en-US" altLang="en-US" sz="2400">
                <a:cs typeface="Times New Roman" pitchFamily="18" charset="0"/>
              </a:rPr>
              <a:t>HOURS</a:t>
            </a:r>
          </a:p>
          <a:p>
            <a:endParaRPr lang="en-US"/>
          </a:p>
        </p:txBody>
      </p:sp>
    </p:spTree>
    <p:extLst>
      <p:ext uri="{BB962C8B-B14F-4D97-AF65-F5344CB8AC3E}">
        <p14:creationId xmlns:p14="http://schemas.microsoft.com/office/powerpoint/2010/main" val="4005530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cs typeface="Times New Roman" pitchFamily="18" charset="0"/>
              </a:rPr>
              <a:t>Functional Dependencies and Keys</a:t>
            </a: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ltLang="en-US">
                <a:cs typeface="Times New Roman" pitchFamily="18" charset="0"/>
              </a:rPr>
              <a:t>An FD is a property of the attributes in the schema R </a:t>
            </a:r>
          </a:p>
          <a:p>
            <a:pPr>
              <a:buFont typeface="Wingdings" panose="05000000000000000000" pitchFamily="2" charset="2"/>
              <a:buChar char="§"/>
            </a:pPr>
            <a:r>
              <a:rPr lang="en-US" altLang="en-US">
                <a:cs typeface="Times New Roman" pitchFamily="18" charset="0"/>
              </a:rPr>
              <a:t>The constraint must hold on </a:t>
            </a:r>
            <a:r>
              <a:rPr lang="en-US" altLang="en-US" i="1">
                <a:cs typeface="Times New Roman" pitchFamily="18" charset="0"/>
              </a:rPr>
              <a:t>every relation instance</a:t>
            </a:r>
            <a:r>
              <a:rPr lang="en-US" altLang="en-US">
                <a:cs typeface="Times New Roman" pitchFamily="18" charset="0"/>
              </a:rPr>
              <a:t>  r(R)</a:t>
            </a:r>
          </a:p>
          <a:p>
            <a:pPr>
              <a:buFont typeface="Wingdings" panose="05000000000000000000" pitchFamily="2" charset="2"/>
              <a:buChar char="§"/>
            </a:pPr>
            <a:r>
              <a:rPr lang="en-US" altLang="en-US">
                <a:cs typeface="Times New Roman" pitchFamily="18" charset="0"/>
              </a:rPr>
              <a:t> If K is a key of R, then K functionally determines all attributes in R (since we never have two distinct tuples with t1[K]=t2[K])</a:t>
            </a:r>
          </a:p>
          <a:p>
            <a:pPr>
              <a:buFont typeface="Wingdings" panose="05000000000000000000" pitchFamily="2" charset="2"/>
              <a:buChar char="§"/>
            </a:pPr>
            <a:endParaRPr lang="en-US"/>
          </a:p>
        </p:txBody>
      </p:sp>
    </p:spTree>
    <p:extLst>
      <p:ext uri="{BB962C8B-B14F-4D97-AF65-F5344CB8AC3E}">
        <p14:creationId xmlns:p14="http://schemas.microsoft.com/office/powerpoint/2010/main" val="382457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b="1"/>
              <a:t>What is Dependency?</a:t>
            </a:r>
            <a:br>
              <a:rPr lang="en-US" b="1"/>
            </a:br>
            <a:endParaRPr lang="en-US" b="1"/>
          </a:p>
        </p:txBody>
      </p:sp>
      <p:sp>
        <p:nvSpPr>
          <p:cNvPr id="3" name="Content Placeholder 2"/>
          <p:cNvSpPr>
            <a:spLocks noGrp="1"/>
          </p:cNvSpPr>
          <p:nvPr>
            <p:ph idx="1"/>
          </p:nvPr>
        </p:nvSpPr>
        <p:spPr/>
        <p:txBody>
          <a:bodyPr/>
          <a:lstStyle/>
          <a:p>
            <a:r>
              <a:rPr lang="en-US"/>
              <a:t>Let's take an example of a </a:t>
            </a:r>
            <a:r>
              <a:rPr lang="en-US" b="1"/>
              <a:t>Student</a:t>
            </a:r>
            <a:r>
              <a:rPr lang="en-US"/>
              <a:t> table with columns </a:t>
            </a:r>
            <a:r>
              <a:rPr lang="en-US" err="1"/>
              <a:t>student_id</a:t>
            </a:r>
            <a:r>
              <a:rPr lang="en-US"/>
              <a:t>, name, </a:t>
            </a:r>
            <a:r>
              <a:rPr lang="en-US" err="1"/>
              <a:t>reg_no</a:t>
            </a:r>
            <a:r>
              <a:rPr lang="en-US"/>
              <a:t>(registration number), branch and address(student's home address).</a:t>
            </a:r>
          </a:p>
          <a:p>
            <a:pPr lvl="1">
              <a:buFont typeface="Wingdings" panose="05000000000000000000" pitchFamily="2" charset="2"/>
              <a:buChar char="§"/>
            </a:pP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895771300"/>
              </p:ext>
            </p:extLst>
          </p:nvPr>
        </p:nvGraphicFramePr>
        <p:xfrm>
          <a:off x="1219200" y="3962400"/>
          <a:ext cx="7543800" cy="153924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0">
                <a:tc>
                  <a:txBody>
                    <a:bodyPr/>
                    <a:lstStyle/>
                    <a:p>
                      <a:pPr algn="l" fontAlgn="t"/>
                      <a:r>
                        <a:rPr lang="en-US" err="1">
                          <a:effectLst/>
                        </a:rPr>
                        <a:t>Student_id</a:t>
                      </a:r>
                      <a:endParaRPr lang="en-US">
                        <a:effectLst/>
                      </a:endParaRPr>
                    </a:p>
                  </a:txBody>
                  <a:tcPr marL="76200" marR="76200" marT="76200" marB="76200"/>
                </a:tc>
                <a:tc>
                  <a:txBody>
                    <a:bodyPr/>
                    <a:lstStyle/>
                    <a:p>
                      <a:pPr algn="l" fontAlgn="t"/>
                      <a:r>
                        <a:rPr lang="en-US">
                          <a:effectLst/>
                        </a:rPr>
                        <a:t>Name</a:t>
                      </a:r>
                    </a:p>
                  </a:txBody>
                  <a:tcPr marL="76200" marR="76200" marT="76200" marB="76200"/>
                </a:tc>
                <a:tc>
                  <a:txBody>
                    <a:bodyPr/>
                    <a:lstStyle/>
                    <a:p>
                      <a:pPr algn="l" fontAlgn="t"/>
                      <a:r>
                        <a:rPr lang="en-US" err="1">
                          <a:effectLst/>
                        </a:rPr>
                        <a:t>Reg_no</a:t>
                      </a:r>
                      <a:endParaRPr lang="en-US">
                        <a:effectLst/>
                      </a:endParaRPr>
                    </a:p>
                  </a:txBody>
                  <a:tcPr marL="76200" marR="76200" marT="76200" marB="76200"/>
                </a:tc>
                <a:tc>
                  <a:txBody>
                    <a:bodyPr/>
                    <a:lstStyle/>
                    <a:p>
                      <a:r>
                        <a:rPr lang="en-US"/>
                        <a:t>Branch</a:t>
                      </a:r>
                    </a:p>
                  </a:txBody>
                  <a:tcPr/>
                </a:tc>
                <a:tc>
                  <a:txBody>
                    <a:bodyPr/>
                    <a:lstStyle/>
                    <a:p>
                      <a:r>
                        <a:rPr lang="en-US"/>
                        <a:t>Address</a:t>
                      </a:r>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40547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What is Dependency?</a:t>
            </a:r>
            <a:br>
              <a:rPr lang="en-US"/>
            </a:br>
            <a:endParaRPr lang="en-US"/>
          </a:p>
        </p:txBody>
      </p:sp>
      <p:sp>
        <p:nvSpPr>
          <p:cNvPr id="3" name="Content Placeholder 2"/>
          <p:cNvSpPr>
            <a:spLocks noGrp="1"/>
          </p:cNvSpPr>
          <p:nvPr>
            <p:ph idx="1"/>
          </p:nvPr>
        </p:nvSpPr>
        <p:spPr/>
        <p:txBody>
          <a:bodyPr/>
          <a:lstStyle/>
          <a:p>
            <a:r>
              <a:rPr lang="en-US"/>
              <a:t>In this table, </a:t>
            </a:r>
            <a:r>
              <a:rPr lang="en-US" err="1"/>
              <a:t>student_id</a:t>
            </a:r>
            <a:r>
              <a:rPr lang="en-US"/>
              <a:t> is the primary key and will be unique for every row.</a:t>
            </a:r>
          </a:p>
          <a:p>
            <a:r>
              <a:rPr lang="en-US"/>
              <a:t> Hence we can use </a:t>
            </a:r>
            <a:r>
              <a:rPr lang="en-US" err="1"/>
              <a:t>student_id</a:t>
            </a:r>
            <a:r>
              <a:rPr lang="en-US"/>
              <a:t> to fetch any row of data from this table</a:t>
            </a:r>
          </a:p>
          <a:p>
            <a:r>
              <a:rPr lang="en-US"/>
              <a:t>Even for a case, where student names are same, if we know the </a:t>
            </a:r>
            <a:r>
              <a:rPr lang="en-US" err="1"/>
              <a:t>student_id</a:t>
            </a:r>
            <a:r>
              <a:rPr lang="en-US"/>
              <a:t> we can easily fetch the correct record.</a:t>
            </a:r>
          </a:p>
          <a:p>
            <a:pPr>
              <a:buFont typeface="Wingdings" panose="05000000000000000000" pitchFamily="2" charset="2"/>
              <a:buChar char="§"/>
            </a:pPr>
            <a:endParaRPr lang="en-US"/>
          </a:p>
        </p:txBody>
      </p:sp>
    </p:spTree>
    <p:extLst>
      <p:ext uri="{BB962C8B-B14F-4D97-AF65-F5344CB8AC3E}">
        <p14:creationId xmlns:p14="http://schemas.microsoft.com/office/powerpoint/2010/main" val="3916823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a:t>What is Dependency?</a:t>
            </a:r>
            <a:br>
              <a:rPr lang="en-US"/>
            </a:b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693834376"/>
              </p:ext>
            </p:extLst>
          </p:nvPr>
        </p:nvGraphicFramePr>
        <p:xfrm>
          <a:off x="533400" y="1828800"/>
          <a:ext cx="8229600" cy="1168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pPr algn="l" fontAlgn="t"/>
                      <a:r>
                        <a:rPr lang="en-US" err="1">
                          <a:effectLst/>
                        </a:rPr>
                        <a:t>Student_id</a:t>
                      </a:r>
                      <a:endParaRPr lang="en-US">
                        <a:effectLst/>
                      </a:endParaRPr>
                    </a:p>
                  </a:txBody>
                  <a:tcPr marL="76200" marR="76200" marT="76200" marB="76200"/>
                </a:tc>
                <a:tc>
                  <a:txBody>
                    <a:bodyPr/>
                    <a:lstStyle/>
                    <a:p>
                      <a:pPr algn="l" fontAlgn="t"/>
                      <a:r>
                        <a:rPr lang="en-US">
                          <a:effectLst/>
                        </a:rPr>
                        <a:t>Name</a:t>
                      </a:r>
                    </a:p>
                  </a:txBody>
                  <a:tcPr marL="76200" marR="76200" marT="76200" marB="76200"/>
                </a:tc>
                <a:tc>
                  <a:txBody>
                    <a:bodyPr/>
                    <a:lstStyle/>
                    <a:p>
                      <a:pPr algn="l" fontAlgn="t"/>
                      <a:r>
                        <a:rPr lang="en-US" err="1">
                          <a:effectLst/>
                        </a:rPr>
                        <a:t>Reg_no</a:t>
                      </a:r>
                      <a:endParaRPr lang="en-US">
                        <a:effectLst/>
                      </a:endParaRPr>
                    </a:p>
                  </a:txBody>
                  <a:tcPr marL="76200" marR="76200" marT="76200" marB="76200"/>
                </a:tc>
                <a:tc>
                  <a:txBody>
                    <a:bodyPr/>
                    <a:lstStyle/>
                    <a:p>
                      <a:r>
                        <a:rPr lang="en-US"/>
                        <a:t>Branch</a:t>
                      </a:r>
                    </a:p>
                  </a:txBody>
                  <a:tcPr/>
                </a:tc>
                <a:tc>
                  <a:txBody>
                    <a:bodyPr/>
                    <a:lstStyle/>
                    <a:p>
                      <a:r>
                        <a:rPr lang="en-US"/>
                        <a:t>Address</a:t>
                      </a:r>
                    </a:p>
                  </a:txBody>
                  <a:tcPr/>
                </a:tc>
                <a:extLst>
                  <a:ext uri="{0D108BD9-81ED-4DB2-BD59-A6C34878D82A}">
                    <a16:rowId xmlns:a16="http://schemas.microsoft.com/office/drawing/2014/main" val="10000"/>
                  </a:ext>
                </a:extLst>
              </a:tr>
              <a:tr h="370840">
                <a:tc>
                  <a:txBody>
                    <a:bodyPr/>
                    <a:lstStyle/>
                    <a:p>
                      <a:r>
                        <a:rPr lang="en-US"/>
                        <a:t>10</a:t>
                      </a:r>
                    </a:p>
                  </a:txBody>
                  <a:tcPr/>
                </a:tc>
                <a:tc>
                  <a:txBody>
                    <a:bodyPr/>
                    <a:lstStyle/>
                    <a:p>
                      <a:r>
                        <a:rPr lang="en-US"/>
                        <a:t>Avantika</a:t>
                      </a:r>
                    </a:p>
                  </a:txBody>
                  <a:tcPr/>
                </a:tc>
                <a:tc>
                  <a:txBody>
                    <a:bodyPr/>
                    <a:lstStyle/>
                    <a:p>
                      <a:r>
                        <a:rPr lang="en-US"/>
                        <a:t>112345</a:t>
                      </a:r>
                    </a:p>
                  </a:txBody>
                  <a:tcPr/>
                </a:tc>
                <a:tc>
                  <a:txBody>
                    <a:bodyPr/>
                    <a:lstStyle/>
                    <a:p>
                      <a:r>
                        <a:rPr lang="en-US"/>
                        <a:t>IT</a:t>
                      </a:r>
                    </a:p>
                  </a:txBody>
                  <a:tcPr/>
                </a:tc>
                <a:tc>
                  <a:txBody>
                    <a:bodyPr/>
                    <a:lstStyle/>
                    <a:p>
                      <a:r>
                        <a:rPr lang="en-US" err="1"/>
                        <a:t>Borivali</a:t>
                      </a:r>
                      <a:endParaRPr lang="en-US"/>
                    </a:p>
                  </a:txBody>
                  <a:tcPr/>
                </a:tc>
                <a:extLst>
                  <a:ext uri="{0D108BD9-81ED-4DB2-BD59-A6C34878D82A}">
                    <a16:rowId xmlns:a16="http://schemas.microsoft.com/office/drawing/2014/main" val="10001"/>
                  </a:ext>
                </a:extLst>
              </a:tr>
              <a:tr h="370840">
                <a:tc>
                  <a:txBody>
                    <a:bodyPr/>
                    <a:lstStyle/>
                    <a:p>
                      <a:r>
                        <a:rPr lang="en-US"/>
                        <a:t>11</a:t>
                      </a:r>
                    </a:p>
                  </a:txBody>
                  <a:tcPr/>
                </a:tc>
                <a:tc>
                  <a:txBody>
                    <a:bodyPr/>
                    <a:lstStyle/>
                    <a:p>
                      <a:r>
                        <a:rPr lang="en-US" err="1"/>
                        <a:t>Vinayak</a:t>
                      </a:r>
                      <a:endParaRPr lang="en-US"/>
                    </a:p>
                  </a:txBody>
                  <a:tcPr/>
                </a:tc>
                <a:tc>
                  <a:txBody>
                    <a:bodyPr/>
                    <a:lstStyle/>
                    <a:p>
                      <a:r>
                        <a:rPr lang="en-US"/>
                        <a:t>134567</a:t>
                      </a:r>
                    </a:p>
                  </a:txBody>
                  <a:tcPr/>
                </a:tc>
                <a:tc>
                  <a:txBody>
                    <a:bodyPr/>
                    <a:lstStyle/>
                    <a:p>
                      <a:r>
                        <a:rPr lang="en-US"/>
                        <a:t>IT</a:t>
                      </a:r>
                    </a:p>
                  </a:txBody>
                  <a:tcPr/>
                </a:tc>
                <a:tc>
                  <a:txBody>
                    <a:bodyPr/>
                    <a:lstStyle/>
                    <a:p>
                      <a:r>
                        <a:rPr lang="en-US" err="1"/>
                        <a:t>Vashi</a:t>
                      </a:r>
                      <a:endParaRPr 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74872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a:t>What is Dependency?</a:t>
            </a:r>
            <a:br>
              <a:rPr lang="en-US"/>
            </a:br>
            <a:endParaRPr lang="en-US"/>
          </a:p>
        </p:txBody>
      </p:sp>
      <p:sp>
        <p:nvSpPr>
          <p:cNvPr id="3" name="Content Placeholder 2"/>
          <p:cNvSpPr>
            <a:spLocks noGrp="1"/>
          </p:cNvSpPr>
          <p:nvPr>
            <p:ph idx="1"/>
          </p:nvPr>
        </p:nvSpPr>
        <p:spPr/>
        <p:txBody>
          <a:bodyPr>
            <a:normAutofit fontScale="85000" lnSpcReduction="10000"/>
          </a:bodyPr>
          <a:lstStyle/>
          <a:p>
            <a:pPr algn="just"/>
            <a:r>
              <a:rPr lang="en-US"/>
              <a:t>Hence we can say a </a:t>
            </a:r>
            <a:r>
              <a:rPr lang="en-US" b="1"/>
              <a:t>Primary Key</a:t>
            </a:r>
            <a:r>
              <a:rPr lang="en-US"/>
              <a:t> for a table is the column or a group of columns(composite key) which can uniquely identify each record in the table.</a:t>
            </a:r>
          </a:p>
          <a:p>
            <a:pPr algn="just"/>
            <a:r>
              <a:rPr lang="en-US"/>
              <a:t>User can get branch name of student with </a:t>
            </a:r>
            <a:r>
              <a:rPr lang="en-US" err="1"/>
              <a:t>student_id</a:t>
            </a:r>
            <a:r>
              <a:rPr lang="en-US"/>
              <a:t> </a:t>
            </a:r>
            <a:r>
              <a:rPr lang="en-US" b="1"/>
              <a:t>1</a:t>
            </a:r>
            <a:r>
              <a:rPr lang="en-US"/>
              <a:t>.</a:t>
            </a:r>
          </a:p>
          <a:p>
            <a:pPr algn="just"/>
            <a:r>
              <a:rPr lang="en-US"/>
              <a:t>Similarly, user can get name of student with </a:t>
            </a:r>
            <a:r>
              <a:rPr lang="en-US" err="1"/>
              <a:t>student_id</a:t>
            </a:r>
            <a:r>
              <a:rPr lang="en-US"/>
              <a:t> </a:t>
            </a:r>
            <a:r>
              <a:rPr lang="en-US" b="1"/>
              <a:t>1</a:t>
            </a:r>
            <a:r>
              <a:rPr lang="en-US"/>
              <a:t> or </a:t>
            </a:r>
            <a:r>
              <a:rPr lang="en-US" b="1"/>
              <a:t>2</a:t>
            </a:r>
            <a:r>
              <a:rPr lang="en-US"/>
              <a:t>, i.e. </a:t>
            </a:r>
            <a:r>
              <a:rPr lang="en-US" err="1"/>
              <a:t>student_id</a:t>
            </a:r>
            <a:r>
              <a:rPr lang="en-US"/>
              <a:t> and every other column </a:t>
            </a:r>
            <a:r>
              <a:rPr lang="en-US" b="1"/>
              <a:t>depends</a:t>
            </a:r>
            <a:r>
              <a:rPr lang="en-US"/>
              <a:t> on it, or can be fetched using it.</a:t>
            </a:r>
          </a:p>
          <a:p>
            <a:pPr algn="just"/>
            <a:r>
              <a:rPr lang="en-US"/>
              <a:t>This is </a:t>
            </a:r>
            <a:r>
              <a:rPr lang="en-US" b="1"/>
              <a:t>Dependency</a:t>
            </a:r>
            <a:r>
              <a:rPr lang="en-US"/>
              <a:t> and we also call it </a:t>
            </a:r>
            <a:r>
              <a:rPr lang="en-US" b="1"/>
              <a:t>Functional Dependency</a:t>
            </a:r>
            <a:r>
              <a:rPr lang="en-US"/>
              <a:t>.</a:t>
            </a:r>
          </a:p>
          <a:p>
            <a:pPr lvl="1" algn="just">
              <a:buFont typeface="Wingdings" panose="05000000000000000000" pitchFamily="2" charset="2"/>
              <a:buChar char="§"/>
            </a:pPr>
            <a:endParaRPr lang="en-US"/>
          </a:p>
        </p:txBody>
      </p:sp>
    </p:spTree>
    <p:extLst>
      <p:ext uri="{BB962C8B-B14F-4D97-AF65-F5344CB8AC3E}">
        <p14:creationId xmlns:p14="http://schemas.microsoft.com/office/powerpoint/2010/main" val="1387422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What is Partial Dependency?</a:t>
            </a:r>
            <a:br>
              <a:rPr lang="en-US"/>
            </a:br>
            <a:endParaRPr lang="en-US"/>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US"/>
              <a:t>For a simple table like Student, a single column like </a:t>
            </a:r>
            <a:r>
              <a:rPr lang="en-US" err="1"/>
              <a:t>student_id</a:t>
            </a:r>
            <a:r>
              <a:rPr lang="en-US"/>
              <a:t> can uniquely identify all the records in a table.</a:t>
            </a:r>
          </a:p>
          <a:p>
            <a:pPr>
              <a:buFont typeface="Wingdings" panose="05000000000000000000" pitchFamily="2" charset="2"/>
              <a:buChar char="§"/>
            </a:pPr>
            <a:r>
              <a:rPr lang="en-US"/>
              <a:t>But this is not true all the time. So now let's extend our example to see if more than 1 column together can act as a primary key.</a:t>
            </a:r>
          </a:p>
          <a:p>
            <a:pPr>
              <a:buFont typeface="Wingdings" panose="05000000000000000000" pitchFamily="2" charset="2"/>
              <a:buChar char="§"/>
            </a:pPr>
            <a:r>
              <a:rPr lang="en-US"/>
              <a:t>Let's create another table for </a:t>
            </a:r>
            <a:r>
              <a:rPr lang="en-US" b="1"/>
              <a:t>Subject</a:t>
            </a:r>
            <a:r>
              <a:rPr lang="en-US"/>
              <a:t>, which will have </a:t>
            </a:r>
            <a:r>
              <a:rPr lang="en-US" err="1"/>
              <a:t>subject_id</a:t>
            </a:r>
            <a:r>
              <a:rPr lang="en-US"/>
              <a:t> and </a:t>
            </a:r>
            <a:r>
              <a:rPr lang="en-US" err="1"/>
              <a:t>subject_name</a:t>
            </a:r>
            <a:r>
              <a:rPr lang="en-US"/>
              <a:t> fields and </a:t>
            </a:r>
            <a:r>
              <a:rPr lang="en-US" err="1"/>
              <a:t>subject_id</a:t>
            </a:r>
            <a:r>
              <a:rPr lang="en-US"/>
              <a:t> will be the primary key.</a:t>
            </a:r>
            <a:br>
              <a:rPr lang="en-US"/>
            </a:br>
            <a:endParaRPr lang="en-US"/>
          </a:p>
        </p:txBody>
      </p:sp>
    </p:spTree>
    <p:extLst>
      <p:ext uri="{BB962C8B-B14F-4D97-AF65-F5344CB8AC3E}">
        <p14:creationId xmlns:p14="http://schemas.microsoft.com/office/powerpoint/2010/main" val="638605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What is Partial Dependency?</a:t>
            </a:r>
            <a:br>
              <a:rPr lang="en-US"/>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62353046"/>
              </p:ext>
            </p:extLst>
          </p:nvPr>
        </p:nvGraphicFramePr>
        <p:xfrm>
          <a:off x="1828800" y="1524000"/>
          <a:ext cx="3810000" cy="17068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70840">
                <a:tc>
                  <a:txBody>
                    <a:bodyPr/>
                    <a:lstStyle/>
                    <a:p>
                      <a:pPr algn="l" fontAlgn="t"/>
                      <a:r>
                        <a:rPr lang="en-US" err="1">
                          <a:effectLst/>
                        </a:rPr>
                        <a:t>subject_id</a:t>
                      </a:r>
                      <a:endParaRPr lang="en-US">
                        <a:effectLst/>
                      </a:endParaRPr>
                    </a:p>
                  </a:txBody>
                  <a:tcPr marL="76200" marR="76200" marT="76200" marB="76200"/>
                </a:tc>
                <a:tc>
                  <a:txBody>
                    <a:bodyPr/>
                    <a:lstStyle/>
                    <a:p>
                      <a:pPr algn="l" fontAlgn="t"/>
                      <a:r>
                        <a:rPr lang="en-US">
                          <a:effectLst/>
                        </a:rPr>
                        <a:t>subject_name</a:t>
                      </a:r>
                    </a:p>
                  </a:txBody>
                  <a:tcPr marL="76200" marR="76200" marT="76200" marB="76200"/>
                </a:tc>
                <a:extLst>
                  <a:ext uri="{0D108BD9-81ED-4DB2-BD59-A6C34878D82A}">
                    <a16:rowId xmlns:a16="http://schemas.microsoft.com/office/drawing/2014/main" val="10000"/>
                  </a:ext>
                </a:extLst>
              </a:tr>
              <a:tr h="370840">
                <a:tc>
                  <a:txBody>
                    <a:bodyPr/>
                    <a:lstStyle/>
                    <a:p>
                      <a:pPr fontAlgn="t"/>
                      <a:r>
                        <a:rPr lang="en-US">
                          <a:effectLst/>
                        </a:rPr>
                        <a:t>1</a:t>
                      </a:r>
                    </a:p>
                  </a:txBody>
                  <a:tcPr marL="76200" marR="76200" marT="76200" marB="76200"/>
                </a:tc>
                <a:tc>
                  <a:txBody>
                    <a:bodyPr/>
                    <a:lstStyle/>
                    <a:p>
                      <a:pPr fontAlgn="t"/>
                      <a:r>
                        <a:rPr lang="en-US">
                          <a:effectLst/>
                        </a:rPr>
                        <a:t>Java</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effectLst/>
                        </a:rPr>
                        <a:t>2</a:t>
                      </a:r>
                    </a:p>
                  </a:txBody>
                  <a:tcPr marL="76200" marR="76200" marT="76200" marB="76200"/>
                </a:tc>
                <a:tc>
                  <a:txBody>
                    <a:bodyPr/>
                    <a:lstStyle/>
                    <a:p>
                      <a:pPr fontAlgn="t"/>
                      <a:r>
                        <a:rPr lang="en-US">
                          <a:effectLst/>
                        </a:rPr>
                        <a:t>C++</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effectLst/>
                        </a:rPr>
                        <a:t>3</a:t>
                      </a:r>
                    </a:p>
                  </a:txBody>
                  <a:tcPr marL="76200" marR="76200" marT="76200" marB="76200"/>
                </a:tc>
                <a:tc>
                  <a:txBody>
                    <a:bodyPr/>
                    <a:lstStyle/>
                    <a:p>
                      <a:pPr fontAlgn="t"/>
                      <a:r>
                        <a:rPr lang="en-US" err="1">
                          <a:effectLst/>
                        </a:rPr>
                        <a:t>Php</a:t>
                      </a:r>
                      <a:endParaRPr lang="en-US">
                        <a:effectLst/>
                      </a:endParaRP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40879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What is Partial Dependency?</a:t>
            </a:r>
            <a:br>
              <a:rPr lang="en-US"/>
            </a:br>
            <a:endParaRPr lang="en-US"/>
          </a:p>
        </p:txBody>
      </p:sp>
      <p:sp>
        <p:nvSpPr>
          <p:cNvPr id="3" name="Content Placeholder 2"/>
          <p:cNvSpPr>
            <a:spLocks noGrp="1"/>
          </p:cNvSpPr>
          <p:nvPr>
            <p:ph idx="1"/>
          </p:nvPr>
        </p:nvSpPr>
        <p:spPr/>
        <p:txBody>
          <a:bodyPr/>
          <a:lstStyle/>
          <a:p>
            <a:r>
              <a:rPr lang="en-US"/>
              <a:t>Consider  </a:t>
            </a:r>
            <a:r>
              <a:rPr lang="en-US" b="1"/>
              <a:t>Student</a:t>
            </a:r>
            <a:r>
              <a:rPr lang="en-US"/>
              <a:t> and  </a:t>
            </a:r>
            <a:r>
              <a:rPr lang="en-US" b="1"/>
              <a:t>Subject</a:t>
            </a:r>
            <a:r>
              <a:rPr lang="en-US"/>
              <a:t> table.</a:t>
            </a:r>
          </a:p>
          <a:p>
            <a:r>
              <a:rPr lang="en-US"/>
              <a:t>Let's create another table </a:t>
            </a:r>
            <a:r>
              <a:rPr lang="en-US" b="1"/>
              <a:t>Score</a:t>
            </a:r>
            <a:r>
              <a:rPr lang="en-US"/>
              <a:t>, to store the </a:t>
            </a:r>
            <a:r>
              <a:rPr lang="en-US" b="1"/>
              <a:t>marks</a:t>
            </a:r>
            <a:r>
              <a:rPr lang="en-US"/>
              <a:t> obtained by students in the respective subjects. Save </a:t>
            </a:r>
            <a:r>
              <a:rPr lang="en-US" b="1"/>
              <a:t>name of the teacher</a:t>
            </a:r>
            <a:r>
              <a:rPr lang="en-US"/>
              <a:t> who teaches that subject along with marks.</a:t>
            </a:r>
          </a:p>
          <a:p>
            <a:pPr>
              <a:buFont typeface="Wingdings" panose="05000000000000000000" pitchFamily="2" charset="2"/>
              <a:buChar char="§"/>
            </a:pPr>
            <a:endParaRPr lang="en-US"/>
          </a:p>
        </p:txBody>
      </p:sp>
    </p:spTree>
    <p:extLst>
      <p:ext uri="{BB962C8B-B14F-4D97-AF65-F5344CB8AC3E}">
        <p14:creationId xmlns:p14="http://schemas.microsoft.com/office/powerpoint/2010/main" val="104828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What is Partial Dependency?</a:t>
            </a:r>
            <a:br>
              <a:rPr lang="en-US"/>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313553"/>
              </p:ext>
            </p:extLst>
          </p:nvPr>
        </p:nvGraphicFramePr>
        <p:xfrm>
          <a:off x="457200" y="1600200"/>
          <a:ext cx="8229600" cy="17068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pPr algn="l" fontAlgn="t"/>
                      <a:r>
                        <a:rPr lang="en-US" err="1">
                          <a:effectLst/>
                        </a:rPr>
                        <a:t>score_id</a:t>
                      </a:r>
                      <a:endParaRPr lang="en-US">
                        <a:effectLst/>
                      </a:endParaRPr>
                    </a:p>
                  </a:txBody>
                  <a:tcPr marL="76200" marR="76200" marT="76200" marB="76200"/>
                </a:tc>
                <a:tc>
                  <a:txBody>
                    <a:bodyPr/>
                    <a:lstStyle/>
                    <a:p>
                      <a:pPr algn="l" fontAlgn="t"/>
                      <a:r>
                        <a:rPr lang="en-US">
                          <a:effectLst/>
                        </a:rPr>
                        <a:t>student_id</a:t>
                      </a:r>
                    </a:p>
                  </a:txBody>
                  <a:tcPr marL="76200" marR="76200" marT="76200" marB="76200"/>
                </a:tc>
                <a:tc>
                  <a:txBody>
                    <a:bodyPr/>
                    <a:lstStyle/>
                    <a:p>
                      <a:pPr algn="l" fontAlgn="t"/>
                      <a:r>
                        <a:rPr lang="en-US" err="1">
                          <a:effectLst/>
                        </a:rPr>
                        <a:t>subject_id</a:t>
                      </a:r>
                      <a:endParaRPr lang="en-US">
                        <a:effectLst/>
                      </a:endParaRPr>
                    </a:p>
                  </a:txBody>
                  <a:tcPr marL="76200" marR="76200" marT="76200" marB="76200"/>
                </a:tc>
                <a:tc>
                  <a:txBody>
                    <a:bodyPr/>
                    <a:lstStyle/>
                    <a:p>
                      <a:pPr algn="l" fontAlgn="t"/>
                      <a:r>
                        <a:rPr lang="en-US">
                          <a:effectLst/>
                        </a:rPr>
                        <a:t>marks</a:t>
                      </a:r>
                    </a:p>
                  </a:txBody>
                  <a:tcPr marL="76200" marR="76200" marT="76200" marB="76200"/>
                </a:tc>
                <a:tc>
                  <a:txBody>
                    <a:bodyPr/>
                    <a:lstStyle/>
                    <a:p>
                      <a:pPr algn="l" fontAlgn="t"/>
                      <a:r>
                        <a:rPr lang="en-US">
                          <a:effectLst/>
                        </a:rPr>
                        <a:t>teacher</a:t>
                      </a:r>
                    </a:p>
                  </a:txBody>
                  <a:tcPr marL="76200" marR="76200" marT="76200" marB="76200"/>
                </a:tc>
                <a:extLst>
                  <a:ext uri="{0D108BD9-81ED-4DB2-BD59-A6C34878D82A}">
                    <a16:rowId xmlns:a16="http://schemas.microsoft.com/office/drawing/2014/main" val="10000"/>
                  </a:ext>
                </a:extLst>
              </a:tr>
              <a:tr h="370840">
                <a:tc>
                  <a:txBody>
                    <a:bodyPr/>
                    <a:lstStyle/>
                    <a:p>
                      <a:pPr fontAlgn="t"/>
                      <a:r>
                        <a:rPr lang="en-US">
                          <a:effectLst/>
                        </a:rPr>
                        <a:t>1</a:t>
                      </a:r>
                    </a:p>
                  </a:txBody>
                  <a:tcPr marL="76200" marR="76200" marT="76200" marB="76200"/>
                </a:tc>
                <a:tc>
                  <a:txBody>
                    <a:bodyPr/>
                    <a:lstStyle/>
                    <a:p>
                      <a:pPr fontAlgn="t"/>
                      <a:r>
                        <a:rPr lang="en-US">
                          <a:effectLst/>
                        </a:rPr>
                        <a:t>10</a:t>
                      </a:r>
                    </a:p>
                  </a:txBody>
                  <a:tcPr marL="76200" marR="76200" marT="76200" marB="76200"/>
                </a:tc>
                <a:tc>
                  <a:txBody>
                    <a:bodyPr/>
                    <a:lstStyle/>
                    <a:p>
                      <a:pPr fontAlgn="t"/>
                      <a:r>
                        <a:rPr lang="en-US">
                          <a:effectLst/>
                        </a:rPr>
                        <a:t>1</a:t>
                      </a:r>
                    </a:p>
                  </a:txBody>
                  <a:tcPr marL="76200" marR="76200" marT="76200" marB="76200"/>
                </a:tc>
                <a:tc>
                  <a:txBody>
                    <a:bodyPr/>
                    <a:lstStyle/>
                    <a:p>
                      <a:pPr fontAlgn="t"/>
                      <a:r>
                        <a:rPr lang="en-US">
                          <a:effectLst/>
                        </a:rPr>
                        <a:t>70</a:t>
                      </a:r>
                    </a:p>
                  </a:txBody>
                  <a:tcPr marL="76200" marR="76200" marT="76200" marB="76200"/>
                </a:tc>
                <a:tc>
                  <a:txBody>
                    <a:bodyPr/>
                    <a:lstStyle/>
                    <a:p>
                      <a:pPr fontAlgn="t"/>
                      <a:r>
                        <a:rPr lang="en-US">
                          <a:effectLst/>
                        </a:rPr>
                        <a:t>Java Teacher</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effectLst/>
                        </a:rPr>
                        <a:t>2</a:t>
                      </a:r>
                    </a:p>
                  </a:txBody>
                  <a:tcPr marL="76200" marR="76200" marT="76200" marB="76200"/>
                </a:tc>
                <a:tc>
                  <a:txBody>
                    <a:bodyPr/>
                    <a:lstStyle/>
                    <a:p>
                      <a:pPr fontAlgn="t"/>
                      <a:r>
                        <a:rPr lang="en-US">
                          <a:effectLst/>
                        </a:rPr>
                        <a:t>10</a:t>
                      </a:r>
                    </a:p>
                  </a:txBody>
                  <a:tcPr marL="76200" marR="76200" marT="76200" marB="76200"/>
                </a:tc>
                <a:tc>
                  <a:txBody>
                    <a:bodyPr/>
                    <a:lstStyle/>
                    <a:p>
                      <a:pPr fontAlgn="t"/>
                      <a:r>
                        <a:rPr lang="en-US">
                          <a:effectLst/>
                        </a:rPr>
                        <a:t>2</a:t>
                      </a:r>
                    </a:p>
                  </a:txBody>
                  <a:tcPr marL="76200" marR="76200" marT="76200" marB="76200"/>
                </a:tc>
                <a:tc>
                  <a:txBody>
                    <a:bodyPr/>
                    <a:lstStyle/>
                    <a:p>
                      <a:pPr fontAlgn="t"/>
                      <a:r>
                        <a:rPr lang="en-US">
                          <a:effectLst/>
                        </a:rPr>
                        <a:t>75</a:t>
                      </a:r>
                    </a:p>
                  </a:txBody>
                  <a:tcPr marL="76200" marR="76200" marT="76200" marB="76200"/>
                </a:tc>
                <a:tc>
                  <a:txBody>
                    <a:bodyPr/>
                    <a:lstStyle/>
                    <a:p>
                      <a:pPr fontAlgn="t"/>
                      <a:r>
                        <a:rPr lang="en-US">
                          <a:effectLst/>
                        </a:rPr>
                        <a:t>C++ Teacher</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effectLst/>
                        </a:rPr>
                        <a:t>3</a:t>
                      </a:r>
                    </a:p>
                  </a:txBody>
                  <a:tcPr marL="76200" marR="76200" marT="76200" marB="76200"/>
                </a:tc>
                <a:tc>
                  <a:txBody>
                    <a:bodyPr/>
                    <a:lstStyle/>
                    <a:p>
                      <a:pPr fontAlgn="t"/>
                      <a:r>
                        <a:rPr lang="en-US">
                          <a:effectLst/>
                        </a:rPr>
                        <a:t>11</a:t>
                      </a:r>
                    </a:p>
                  </a:txBody>
                  <a:tcPr marL="76200" marR="76200" marT="76200" marB="76200"/>
                </a:tc>
                <a:tc>
                  <a:txBody>
                    <a:bodyPr/>
                    <a:lstStyle/>
                    <a:p>
                      <a:pPr fontAlgn="t"/>
                      <a:r>
                        <a:rPr lang="en-US">
                          <a:effectLst/>
                        </a:rPr>
                        <a:t>1</a:t>
                      </a:r>
                    </a:p>
                  </a:txBody>
                  <a:tcPr marL="76200" marR="76200" marT="76200" marB="76200"/>
                </a:tc>
                <a:tc>
                  <a:txBody>
                    <a:bodyPr/>
                    <a:lstStyle/>
                    <a:p>
                      <a:pPr fontAlgn="t"/>
                      <a:r>
                        <a:rPr lang="en-US">
                          <a:effectLst/>
                        </a:rPr>
                        <a:t>80</a:t>
                      </a:r>
                    </a:p>
                  </a:txBody>
                  <a:tcPr marL="76200" marR="76200" marT="76200" marB="76200"/>
                </a:tc>
                <a:tc>
                  <a:txBody>
                    <a:bodyPr/>
                    <a:lstStyle/>
                    <a:p>
                      <a:pPr fontAlgn="t"/>
                      <a:r>
                        <a:rPr lang="en-US">
                          <a:effectLst/>
                        </a:rPr>
                        <a:t>Java Teacher</a:t>
                      </a: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1451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What is Partial Dependency?</a:t>
            </a:r>
            <a:br>
              <a:rPr lang="en-US"/>
            </a:br>
            <a:endParaRPr lang="en-US"/>
          </a:p>
        </p:txBody>
      </p:sp>
      <p:sp>
        <p:nvSpPr>
          <p:cNvPr id="3" name="Content Placeholder 2"/>
          <p:cNvSpPr>
            <a:spLocks noGrp="1"/>
          </p:cNvSpPr>
          <p:nvPr>
            <p:ph idx="1"/>
          </p:nvPr>
        </p:nvSpPr>
        <p:spPr/>
        <p:txBody>
          <a:bodyPr>
            <a:normAutofit/>
          </a:bodyPr>
          <a:lstStyle/>
          <a:p>
            <a:r>
              <a:rPr lang="en-US"/>
              <a:t>In the score table save the </a:t>
            </a:r>
            <a:r>
              <a:rPr lang="en-US" b="1" err="1"/>
              <a:t>student_id</a:t>
            </a:r>
            <a:r>
              <a:rPr lang="en-US"/>
              <a:t> to know which student's marks are these. and </a:t>
            </a:r>
            <a:r>
              <a:rPr lang="en-US" b="1" err="1"/>
              <a:t>subject_id</a:t>
            </a:r>
            <a:r>
              <a:rPr lang="en-US"/>
              <a:t> to know for which subject the marks are for.</a:t>
            </a:r>
          </a:p>
          <a:p>
            <a:r>
              <a:rPr lang="en-US"/>
              <a:t>Together, </a:t>
            </a:r>
            <a:r>
              <a:rPr lang="en-US" err="1"/>
              <a:t>student_id</a:t>
            </a:r>
            <a:r>
              <a:rPr lang="en-US"/>
              <a:t> + </a:t>
            </a:r>
            <a:r>
              <a:rPr lang="en-US" err="1"/>
              <a:t>subject_id</a:t>
            </a:r>
            <a:r>
              <a:rPr lang="en-US"/>
              <a:t> forms a </a:t>
            </a:r>
            <a:r>
              <a:rPr lang="en-US" b="1"/>
              <a:t>Candidate Key</a:t>
            </a:r>
            <a:r>
              <a:rPr lang="en-US"/>
              <a:t> for this table, which can be the </a:t>
            </a:r>
            <a:r>
              <a:rPr lang="en-US" b="1"/>
              <a:t>Primary key</a:t>
            </a:r>
            <a:r>
              <a:rPr lang="en-US"/>
              <a:t>.</a:t>
            </a:r>
          </a:p>
          <a:p>
            <a:endParaRPr lang="en-US"/>
          </a:p>
        </p:txBody>
      </p:sp>
    </p:spTree>
    <p:extLst>
      <p:ext uri="{BB962C8B-B14F-4D97-AF65-F5344CB8AC3E}">
        <p14:creationId xmlns:p14="http://schemas.microsoft.com/office/powerpoint/2010/main" val="2330428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What is Partial Dependency?</a:t>
            </a:r>
            <a:br>
              <a:rPr lang="en-US"/>
            </a:br>
            <a:endParaRPr lang="en-US"/>
          </a:p>
        </p:txBody>
      </p:sp>
      <p:sp>
        <p:nvSpPr>
          <p:cNvPr id="3" name="Content Placeholder 2"/>
          <p:cNvSpPr>
            <a:spLocks noGrp="1"/>
          </p:cNvSpPr>
          <p:nvPr>
            <p:ph idx="1"/>
          </p:nvPr>
        </p:nvSpPr>
        <p:spPr/>
        <p:txBody>
          <a:bodyPr>
            <a:normAutofit fontScale="85000" lnSpcReduction="20000"/>
          </a:bodyPr>
          <a:lstStyle/>
          <a:p>
            <a:r>
              <a:rPr lang="en-US"/>
              <a:t>Now if you look at the </a:t>
            </a:r>
            <a:r>
              <a:rPr lang="en-US" b="1"/>
              <a:t>Score</a:t>
            </a:r>
            <a:r>
              <a:rPr lang="en-US"/>
              <a:t> table, we have a column names teacher which is only dependent on the subject, for Java it's Java Teacher and for C++ it's C++ Teacher &amp; so on.</a:t>
            </a:r>
          </a:p>
          <a:p>
            <a:r>
              <a:rPr lang="en-US"/>
              <a:t>Now as discussed  the primary key for this table is a composition of two columns which is </a:t>
            </a:r>
            <a:r>
              <a:rPr lang="en-US" err="1"/>
              <a:t>student_id</a:t>
            </a:r>
            <a:r>
              <a:rPr lang="en-US"/>
              <a:t> &amp; </a:t>
            </a:r>
            <a:r>
              <a:rPr lang="en-US" err="1"/>
              <a:t>subject_id</a:t>
            </a:r>
            <a:r>
              <a:rPr lang="en-US"/>
              <a:t> but the teacher's name only depends on subject, hence the </a:t>
            </a:r>
            <a:r>
              <a:rPr lang="en-US" err="1"/>
              <a:t>subject_id</a:t>
            </a:r>
            <a:r>
              <a:rPr lang="en-US"/>
              <a:t>, and has nothing to do with </a:t>
            </a:r>
            <a:r>
              <a:rPr lang="en-US" err="1"/>
              <a:t>student_id</a:t>
            </a:r>
            <a:r>
              <a:rPr lang="en-US"/>
              <a:t>.</a:t>
            </a:r>
          </a:p>
          <a:p>
            <a:r>
              <a:rPr lang="en-US"/>
              <a:t>This is </a:t>
            </a:r>
            <a:r>
              <a:rPr lang="en-US" b="1"/>
              <a:t>Partial Dependency</a:t>
            </a:r>
            <a:r>
              <a:rPr lang="en-US"/>
              <a:t>, where an attribute in a table depends on only a part of the primary key and not on the whole key.</a:t>
            </a:r>
          </a:p>
          <a:p>
            <a:endParaRPr lang="en-US"/>
          </a:p>
        </p:txBody>
      </p:sp>
    </p:spTree>
    <p:extLst>
      <p:ext uri="{BB962C8B-B14F-4D97-AF65-F5344CB8AC3E}">
        <p14:creationId xmlns:p14="http://schemas.microsoft.com/office/powerpoint/2010/main" val="219735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How to remove Partial Dependency?</a:t>
            </a:r>
            <a:br>
              <a:rPr lang="en-US"/>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1753910"/>
              </p:ext>
            </p:extLst>
          </p:nvPr>
        </p:nvGraphicFramePr>
        <p:xfrm>
          <a:off x="457200" y="1600200"/>
          <a:ext cx="8229600" cy="1706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algn="l" fontAlgn="t"/>
                      <a:r>
                        <a:rPr lang="en-US">
                          <a:effectLst/>
                        </a:rPr>
                        <a:t>subject_id</a:t>
                      </a:r>
                    </a:p>
                  </a:txBody>
                  <a:tcPr marL="76200" marR="76200" marT="76200" marB="76200"/>
                </a:tc>
                <a:tc>
                  <a:txBody>
                    <a:bodyPr/>
                    <a:lstStyle/>
                    <a:p>
                      <a:pPr algn="l" fontAlgn="t"/>
                      <a:r>
                        <a:rPr lang="en-US">
                          <a:effectLst/>
                        </a:rPr>
                        <a:t>subject_name</a:t>
                      </a:r>
                    </a:p>
                  </a:txBody>
                  <a:tcPr marL="76200" marR="76200" marT="76200" marB="76200"/>
                </a:tc>
                <a:tc>
                  <a:txBody>
                    <a:bodyPr/>
                    <a:lstStyle/>
                    <a:p>
                      <a:pPr algn="l" fontAlgn="t"/>
                      <a:r>
                        <a:rPr lang="en-US">
                          <a:effectLst/>
                        </a:rPr>
                        <a:t>teacher</a:t>
                      </a:r>
                    </a:p>
                  </a:txBody>
                  <a:tcPr marL="76200" marR="76200" marT="76200" marB="76200"/>
                </a:tc>
                <a:extLst>
                  <a:ext uri="{0D108BD9-81ED-4DB2-BD59-A6C34878D82A}">
                    <a16:rowId xmlns:a16="http://schemas.microsoft.com/office/drawing/2014/main" val="10000"/>
                  </a:ext>
                </a:extLst>
              </a:tr>
              <a:tr h="370840">
                <a:tc>
                  <a:txBody>
                    <a:bodyPr/>
                    <a:lstStyle/>
                    <a:p>
                      <a:pPr fontAlgn="t"/>
                      <a:r>
                        <a:rPr lang="en-US">
                          <a:effectLst/>
                        </a:rPr>
                        <a:t>1</a:t>
                      </a:r>
                    </a:p>
                  </a:txBody>
                  <a:tcPr marL="76200" marR="76200" marT="76200" marB="76200"/>
                </a:tc>
                <a:tc>
                  <a:txBody>
                    <a:bodyPr/>
                    <a:lstStyle/>
                    <a:p>
                      <a:pPr fontAlgn="t"/>
                      <a:r>
                        <a:rPr lang="en-US">
                          <a:effectLst/>
                        </a:rPr>
                        <a:t>Java</a:t>
                      </a:r>
                    </a:p>
                  </a:txBody>
                  <a:tcPr marL="76200" marR="76200" marT="76200" marB="76200"/>
                </a:tc>
                <a:tc>
                  <a:txBody>
                    <a:bodyPr/>
                    <a:lstStyle/>
                    <a:p>
                      <a:pPr fontAlgn="t"/>
                      <a:r>
                        <a:rPr lang="en-US">
                          <a:effectLst/>
                        </a:rPr>
                        <a:t>Java Teacher</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effectLst/>
                        </a:rPr>
                        <a:t>2</a:t>
                      </a:r>
                    </a:p>
                  </a:txBody>
                  <a:tcPr marL="76200" marR="76200" marT="76200" marB="76200"/>
                </a:tc>
                <a:tc>
                  <a:txBody>
                    <a:bodyPr/>
                    <a:lstStyle/>
                    <a:p>
                      <a:pPr fontAlgn="t"/>
                      <a:r>
                        <a:rPr lang="en-US">
                          <a:effectLst/>
                        </a:rPr>
                        <a:t>C++</a:t>
                      </a:r>
                    </a:p>
                  </a:txBody>
                  <a:tcPr marL="76200" marR="76200" marT="76200" marB="76200"/>
                </a:tc>
                <a:tc>
                  <a:txBody>
                    <a:bodyPr/>
                    <a:lstStyle/>
                    <a:p>
                      <a:pPr fontAlgn="t"/>
                      <a:r>
                        <a:rPr lang="en-US">
                          <a:effectLst/>
                        </a:rPr>
                        <a:t>C++ Teacher</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effectLst/>
                        </a:rPr>
                        <a:t>3</a:t>
                      </a:r>
                    </a:p>
                  </a:txBody>
                  <a:tcPr marL="76200" marR="76200" marT="76200" marB="76200"/>
                </a:tc>
                <a:tc>
                  <a:txBody>
                    <a:bodyPr/>
                    <a:lstStyle/>
                    <a:p>
                      <a:pPr fontAlgn="t"/>
                      <a:r>
                        <a:rPr lang="en-US">
                          <a:effectLst/>
                        </a:rPr>
                        <a:t>Php</a:t>
                      </a:r>
                    </a:p>
                  </a:txBody>
                  <a:tcPr marL="76200" marR="76200" marT="76200" marB="76200"/>
                </a:tc>
                <a:tc>
                  <a:txBody>
                    <a:bodyPr/>
                    <a:lstStyle/>
                    <a:p>
                      <a:pPr fontAlgn="t"/>
                      <a:r>
                        <a:rPr lang="en-US" err="1">
                          <a:effectLst/>
                        </a:rPr>
                        <a:t>Php</a:t>
                      </a:r>
                      <a:r>
                        <a:rPr lang="en-US">
                          <a:effectLst/>
                        </a:rPr>
                        <a:t> Teacher</a:t>
                      </a: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54473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How to remove Partial Dependency?</a:t>
            </a:r>
            <a:br>
              <a:rPr lang="en-US"/>
            </a:br>
            <a:endParaRPr lang="en-US"/>
          </a:p>
        </p:txBody>
      </p:sp>
      <p:sp>
        <p:nvSpPr>
          <p:cNvPr id="3" name="Content Placeholder 2"/>
          <p:cNvSpPr>
            <a:spLocks noGrp="1"/>
          </p:cNvSpPr>
          <p:nvPr>
            <p:ph idx="1"/>
          </p:nvPr>
        </p:nvSpPr>
        <p:spPr/>
        <p:txBody>
          <a:bodyPr vert="horz" lIns="91440" tIns="45720" rIns="91440" bIns="45720" rtlCol="0" anchor="t">
            <a:normAutofit/>
          </a:bodyPr>
          <a:lstStyle/>
          <a:p>
            <a:pPr>
              <a:buFont typeface="Wingdings" panose="05000000000000000000" pitchFamily="2" charset="2"/>
              <a:buChar char="§"/>
            </a:pPr>
            <a:r>
              <a:rPr lang="en-US"/>
              <a:t>There can be many different solutions for this, but our objective is to remove teacher's name from Score table.</a:t>
            </a:r>
          </a:p>
          <a:p>
            <a:pPr>
              <a:buFont typeface="Wingdings" panose="05000000000000000000" pitchFamily="2" charset="2"/>
              <a:buChar char="§"/>
            </a:pPr>
            <a:r>
              <a:rPr lang="en-US"/>
              <a:t>The simplest solution is to remove columns teacher from Score table and add it to the Subject table. </a:t>
            </a:r>
            <a:endParaRPr lang="en-US">
              <a:cs typeface="Calibri"/>
            </a:endParaRPr>
          </a:p>
        </p:txBody>
      </p:sp>
    </p:spTree>
    <p:extLst>
      <p:ext uri="{BB962C8B-B14F-4D97-AF65-F5344CB8AC3E}">
        <p14:creationId xmlns:p14="http://schemas.microsoft.com/office/powerpoint/2010/main" val="322888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How to remove Partial Dependency?</a:t>
            </a:r>
            <a:br>
              <a:rPr lang="en-US"/>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67462979"/>
              </p:ext>
            </p:extLst>
          </p:nvPr>
        </p:nvGraphicFramePr>
        <p:xfrm>
          <a:off x="457200" y="1600200"/>
          <a:ext cx="8229600" cy="17068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l" fontAlgn="t"/>
                      <a:r>
                        <a:rPr lang="en-US">
                          <a:effectLst/>
                        </a:rPr>
                        <a:t>score_id</a:t>
                      </a:r>
                    </a:p>
                  </a:txBody>
                  <a:tcPr marL="76200" marR="76200" marT="76200" marB="76200"/>
                </a:tc>
                <a:tc>
                  <a:txBody>
                    <a:bodyPr/>
                    <a:lstStyle/>
                    <a:p>
                      <a:pPr algn="l" fontAlgn="t"/>
                      <a:r>
                        <a:rPr lang="en-US">
                          <a:effectLst/>
                        </a:rPr>
                        <a:t>student_id</a:t>
                      </a:r>
                    </a:p>
                  </a:txBody>
                  <a:tcPr marL="76200" marR="76200" marT="76200" marB="76200"/>
                </a:tc>
                <a:tc>
                  <a:txBody>
                    <a:bodyPr/>
                    <a:lstStyle/>
                    <a:p>
                      <a:pPr algn="l" fontAlgn="t"/>
                      <a:r>
                        <a:rPr lang="en-US">
                          <a:effectLst/>
                        </a:rPr>
                        <a:t>subject_id</a:t>
                      </a:r>
                    </a:p>
                  </a:txBody>
                  <a:tcPr marL="76200" marR="76200" marT="76200" marB="76200"/>
                </a:tc>
                <a:tc>
                  <a:txBody>
                    <a:bodyPr/>
                    <a:lstStyle/>
                    <a:p>
                      <a:pPr algn="l" fontAlgn="t"/>
                      <a:r>
                        <a:rPr lang="en-US">
                          <a:effectLst/>
                        </a:rPr>
                        <a:t>marks</a:t>
                      </a:r>
                    </a:p>
                  </a:txBody>
                  <a:tcPr marL="76200" marR="76200" marT="76200" marB="76200"/>
                </a:tc>
                <a:extLst>
                  <a:ext uri="{0D108BD9-81ED-4DB2-BD59-A6C34878D82A}">
                    <a16:rowId xmlns:a16="http://schemas.microsoft.com/office/drawing/2014/main" val="10000"/>
                  </a:ext>
                </a:extLst>
              </a:tr>
              <a:tr h="370840">
                <a:tc>
                  <a:txBody>
                    <a:bodyPr/>
                    <a:lstStyle/>
                    <a:p>
                      <a:pPr fontAlgn="t"/>
                      <a:r>
                        <a:rPr lang="en-US">
                          <a:effectLst/>
                        </a:rPr>
                        <a:t>1</a:t>
                      </a:r>
                    </a:p>
                  </a:txBody>
                  <a:tcPr marL="76200" marR="76200" marT="76200" marB="76200"/>
                </a:tc>
                <a:tc>
                  <a:txBody>
                    <a:bodyPr/>
                    <a:lstStyle/>
                    <a:p>
                      <a:pPr fontAlgn="t"/>
                      <a:r>
                        <a:rPr lang="en-US">
                          <a:effectLst/>
                        </a:rPr>
                        <a:t>10</a:t>
                      </a:r>
                    </a:p>
                  </a:txBody>
                  <a:tcPr marL="76200" marR="76200" marT="76200" marB="76200"/>
                </a:tc>
                <a:tc>
                  <a:txBody>
                    <a:bodyPr/>
                    <a:lstStyle/>
                    <a:p>
                      <a:pPr fontAlgn="t"/>
                      <a:r>
                        <a:rPr lang="en-US">
                          <a:effectLst/>
                        </a:rPr>
                        <a:t>1</a:t>
                      </a:r>
                    </a:p>
                  </a:txBody>
                  <a:tcPr marL="76200" marR="76200" marT="76200" marB="76200"/>
                </a:tc>
                <a:tc>
                  <a:txBody>
                    <a:bodyPr/>
                    <a:lstStyle/>
                    <a:p>
                      <a:pPr fontAlgn="t"/>
                      <a:r>
                        <a:rPr lang="en-US">
                          <a:effectLst/>
                        </a:rPr>
                        <a:t>70</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effectLst/>
                        </a:rPr>
                        <a:t>2</a:t>
                      </a:r>
                    </a:p>
                  </a:txBody>
                  <a:tcPr marL="76200" marR="76200" marT="76200" marB="76200"/>
                </a:tc>
                <a:tc>
                  <a:txBody>
                    <a:bodyPr/>
                    <a:lstStyle/>
                    <a:p>
                      <a:pPr fontAlgn="t"/>
                      <a:r>
                        <a:rPr lang="en-US">
                          <a:effectLst/>
                        </a:rPr>
                        <a:t>10</a:t>
                      </a:r>
                    </a:p>
                  </a:txBody>
                  <a:tcPr marL="76200" marR="76200" marT="76200" marB="76200"/>
                </a:tc>
                <a:tc>
                  <a:txBody>
                    <a:bodyPr/>
                    <a:lstStyle/>
                    <a:p>
                      <a:pPr fontAlgn="t"/>
                      <a:r>
                        <a:rPr lang="en-US">
                          <a:effectLst/>
                        </a:rPr>
                        <a:t>2</a:t>
                      </a:r>
                    </a:p>
                  </a:txBody>
                  <a:tcPr marL="76200" marR="76200" marT="76200" marB="76200"/>
                </a:tc>
                <a:tc>
                  <a:txBody>
                    <a:bodyPr/>
                    <a:lstStyle/>
                    <a:p>
                      <a:pPr fontAlgn="t"/>
                      <a:r>
                        <a:rPr lang="en-US">
                          <a:effectLst/>
                        </a:rPr>
                        <a:t>75</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effectLst/>
                        </a:rPr>
                        <a:t>3</a:t>
                      </a:r>
                    </a:p>
                  </a:txBody>
                  <a:tcPr marL="76200" marR="76200" marT="76200" marB="76200"/>
                </a:tc>
                <a:tc>
                  <a:txBody>
                    <a:bodyPr/>
                    <a:lstStyle/>
                    <a:p>
                      <a:pPr fontAlgn="t"/>
                      <a:r>
                        <a:rPr lang="en-US">
                          <a:effectLst/>
                        </a:rPr>
                        <a:t>11</a:t>
                      </a:r>
                    </a:p>
                  </a:txBody>
                  <a:tcPr marL="76200" marR="76200" marT="76200" marB="76200"/>
                </a:tc>
                <a:tc>
                  <a:txBody>
                    <a:bodyPr/>
                    <a:lstStyle/>
                    <a:p>
                      <a:pPr fontAlgn="t"/>
                      <a:r>
                        <a:rPr lang="en-US">
                          <a:effectLst/>
                        </a:rPr>
                        <a:t>1</a:t>
                      </a:r>
                    </a:p>
                  </a:txBody>
                  <a:tcPr marL="76200" marR="76200" marT="76200" marB="76200"/>
                </a:tc>
                <a:tc>
                  <a:txBody>
                    <a:bodyPr/>
                    <a:lstStyle/>
                    <a:p>
                      <a:pPr fontAlgn="t"/>
                      <a:r>
                        <a:rPr lang="en-US">
                          <a:effectLst/>
                        </a:rPr>
                        <a:t>80</a:t>
                      </a: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4305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a:t>For a table to be in the Second Normal form, it should be in the First Normal form and it should not have Partial Dependency.</a:t>
            </a:r>
          </a:p>
          <a:p>
            <a:r>
              <a:rPr lang="en-US"/>
              <a:t>Partial Dependency exists, when for a composite primary key, any attribute in the table depends only on a part of the primary key and not on the complete primary key.</a:t>
            </a:r>
          </a:p>
          <a:p>
            <a:r>
              <a:rPr lang="en-US"/>
              <a:t>To remove Partial dependency, we can divide the table, remove the attribute which is causing partial dependency, and move it to some other table where it fits in well.</a:t>
            </a:r>
          </a:p>
          <a:p>
            <a:br>
              <a:rPr lang="en-US"/>
            </a:br>
            <a:endParaRPr lang="en-US"/>
          </a:p>
        </p:txBody>
      </p:sp>
    </p:spTree>
    <p:extLst>
      <p:ext uri="{BB962C8B-B14F-4D97-AF65-F5344CB8AC3E}">
        <p14:creationId xmlns:p14="http://schemas.microsoft.com/office/powerpoint/2010/main" val="701528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a:t>Third Normal Form (3NF)</a:t>
            </a:r>
            <a:br>
              <a:rPr lang="en-US"/>
            </a:br>
            <a:br>
              <a:rPr lang="en-US"/>
            </a:br>
            <a:endParaRPr lang="en-US"/>
          </a:p>
        </p:txBody>
      </p:sp>
      <p:sp>
        <p:nvSpPr>
          <p:cNvPr id="3" name="Content Placeholder 2"/>
          <p:cNvSpPr>
            <a:spLocks noGrp="1"/>
          </p:cNvSpPr>
          <p:nvPr>
            <p:ph idx="1"/>
          </p:nvPr>
        </p:nvSpPr>
        <p:spPr/>
        <p:txBody>
          <a:bodyPr/>
          <a:lstStyle/>
          <a:p>
            <a:r>
              <a:rPr lang="en-US"/>
              <a:t>Third Normal Form is an upgrade to Second Normal Form. </a:t>
            </a:r>
          </a:p>
          <a:p>
            <a:r>
              <a:rPr lang="en-US"/>
              <a:t>When a table is in the Second Normal Form and has no transitive dependency, then it is in the Third Normal Form.</a:t>
            </a:r>
          </a:p>
          <a:p>
            <a:pPr>
              <a:buFont typeface="Wingdings" panose="05000000000000000000" pitchFamily="2" charset="2"/>
              <a:buChar char="§"/>
            </a:pPr>
            <a:endParaRPr lang="en-US"/>
          </a:p>
        </p:txBody>
      </p:sp>
    </p:spTree>
    <p:extLst>
      <p:ext uri="{BB962C8B-B14F-4D97-AF65-F5344CB8AC3E}">
        <p14:creationId xmlns:p14="http://schemas.microsoft.com/office/powerpoint/2010/main" val="3571722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a:t>Third Normal Form (3NF)</a:t>
            </a:r>
            <a:br>
              <a:rPr lang="en-US"/>
            </a:br>
            <a:br>
              <a:rPr lang="en-US"/>
            </a:b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let's use the 3 tables, </a:t>
            </a:r>
            <a:r>
              <a:rPr lang="en-US" b="1"/>
              <a:t>Student</a:t>
            </a:r>
            <a:r>
              <a:rPr lang="en-US"/>
              <a:t>, </a:t>
            </a:r>
            <a:r>
              <a:rPr lang="en-US" b="1"/>
              <a:t>Subject</a:t>
            </a:r>
            <a:r>
              <a:rPr lang="en-US"/>
              <a:t> and </a:t>
            </a:r>
            <a:r>
              <a:rPr lang="en-US" b="1"/>
              <a:t>Score</a:t>
            </a:r>
            <a:r>
              <a:rPr lang="en-US"/>
              <a:t>.</a:t>
            </a:r>
          </a:p>
          <a:p>
            <a:pPr marL="0" indent="0">
              <a:buNone/>
            </a:pPr>
            <a:r>
              <a:rPr lang="en-US" b="1"/>
              <a:t>Requirements for Third Normal Form</a:t>
            </a:r>
          </a:p>
          <a:p>
            <a:pPr>
              <a:buFont typeface="Wingdings" panose="05000000000000000000" pitchFamily="2" charset="2"/>
              <a:buChar char="§"/>
            </a:pPr>
            <a:r>
              <a:rPr lang="en-US"/>
              <a:t>It should be in the Second Normal form.</a:t>
            </a:r>
          </a:p>
          <a:p>
            <a:pPr>
              <a:buFont typeface="Wingdings" panose="05000000000000000000" pitchFamily="2" charset="2"/>
              <a:buChar char="§"/>
            </a:pPr>
            <a:r>
              <a:rPr lang="en-US"/>
              <a:t>And it should not have Transitive Dependency.</a:t>
            </a:r>
          </a:p>
          <a:p>
            <a:pPr>
              <a:buFont typeface="Wingdings" panose="05000000000000000000" pitchFamily="2" charset="2"/>
              <a:buChar char="§"/>
            </a:pPr>
            <a:endParaRPr lang="en-US"/>
          </a:p>
        </p:txBody>
      </p:sp>
    </p:spTree>
    <p:extLst>
      <p:ext uri="{BB962C8B-B14F-4D97-AF65-F5344CB8AC3E}">
        <p14:creationId xmlns:p14="http://schemas.microsoft.com/office/powerpoint/2010/main" val="78411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What is Transitive Dependency?</a:t>
            </a:r>
            <a:br>
              <a:rPr lang="en-US"/>
            </a:br>
            <a:endParaRPr lang="en-US"/>
          </a:p>
        </p:txBody>
      </p:sp>
      <p:sp>
        <p:nvSpPr>
          <p:cNvPr id="3" name="Content Placeholder 2"/>
          <p:cNvSpPr>
            <a:spLocks noGrp="1"/>
          </p:cNvSpPr>
          <p:nvPr>
            <p:ph idx="1"/>
          </p:nvPr>
        </p:nvSpPr>
        <p:spPr/>
        <p:txBody>
          <a:bodyPr vert="horz" lIns="91440" tIns="45720" rIns="91440" bIns="45720" rtlCol="0" anchor="t">
            <a:normAutofit fontScale="77500" lnSpcReduction="20000"/>
          </a:bodyPr>
          <a:lstStyle/>
          <a:p>
            <a:pPr>
              <a:buFont typeface="Wingdings" panose="05000000000000000000" pitchFamily="2" charset="2"/>
              <a:buChar char="§"/>
            </a:pPr>
            <a:r>
              <a:rPr lang="en-US"/>
              <a:t>With </a:t>
            </a:r>
            <a:r>
              <a:rPr lang="en-US" err="1"/>
              <a:t>exam_name</a:t>
            </a:r>
            <a:r>
              <a:rPr lang="en-US"/>
              <a:t> and </a:t>
            </a:r>
            <a:r>
              <a:rPr lang="en-US" err="1"/>
              <a:t>total_marks</a:t>
            </a:r>
            <a:r>
              <a:rPr lang="en-US"/>
              <a:t> added to Score table.</a:t>
            </a:r>
          </a:p>
          <a:p>
            <a:pPr>
              <a:buFont typeface="Wingdings" panose="05000000000000000000" pitchFamily="2" charset="2"/>
              <a:buChar char="§"/>
            </a:pPr>
            <a:r>
              <a:rPr lang="en-US"/>
              <a:t> Primary key for Score table is a composite key, which means it's made up of two attributes or columns  </a:t>
            </a:r>
            <a:r>
              <a:rPr lang="en-US" b="1" err="1"/>
              <a:t>student_id</a:t>
            </a:r>
            <a:r>
              <a:rPr lang="en-US" b="1"/>
              <a:t> + </a:t>
            </a:r>
            <a:r>
              <a:rPr lang="en-US" b="1" err="1"/>
              <a:t>subject_id</a:t>
            </a:r>
            <a:r>
              <a:rPr lang="en-US"/>
              <a:t>.</a:t>
            </a:r>
            <a:endParaRPr lang="en-US">
              <a:cs typeface="Calibri"/>
            </a:endParaRPr>
          </a:p>
          <a:p>
            <a:pPr>
              <a:buFont typeface="Wingdings" panose="05000000000000000000" pitchFamily="2" charset="2"/>
              <a:buChar char="§"/>
            </a:pPr>
            <a:r>
              <a:rPr lang="en-US"/>
              <a:t>New column </a:t>
            </a:r>
            <a:r>
              <a:rPr lang="en-US" err="1"/>
              <a:t>exam_name</a:t>
            </a:r>
            <a:r>
              <a:rPr lang="en-US"/>
              <a:t> depends on both student and subject. </a:t>
            </a:r>
            <a:endParaRPr lang="en-US">
              <a:cs typeface="Calibri"/>
            </a:endParaRPr>
          </a:p>
          <a:p>
            <a:pPr>
              <a:buFont typeface="Wingdings" panose="05000000000000000000" pitchFamily="2" charset="2"/>
              <a:buChar char="§"/>
            </a:pPr>
            <a:r>
              <a:rPr lang="en-US"/>
              <a:t>For example, a mechanical engineering student will have Workshop exam but a computer science student won't. And for some subjects you have Practical exams and for some you don't.</a:t>
            </a:r>
            <a:endParaRPr lang="en-US">
              <a:cs typeface="Calibri"/>
            </a:endParaRPr>
          </a:p>
          <a:p>
            <a:pPr>
              <a:buFont typeface="Wingdings" panose="05000000000000000000" pitchFamily="2" charset="2"/>
              <a:buChar char="§"/>
            </a:pPr>
            <a:r>
              <a:rPr lang="en-US"/>
              <a:t> So we can say that </a:t>
            </a:r>
            <a:r>
              <a:rPr lang="en-US" err="1"/>
              <a:t>exam_name</a:t>
            </a:r>
            <a:r>
              <a:rPr lang="en-US"/>
              <a:t> is dependent on both </a:t>
            </a:r>
            <a:r>
              <a:rPr lang="en-US" err="1"/>
              <a:t>student_id</a:t>
            </a:r>
            <a:r>
              <a:rPr lang="en-US"/>
              <a:t> and </a:t>
            </a:r>
            <a:r>
              <a:rPr lang="en-US" err="1"/>
              <a:t>subject_id</a:t>
            </a:r>
            <a:r>
              <a:rPr lang="en-US"/>
              <a:t>.</a:t>
            </a:r>
            <a:endParaRPr lang="en-US">
              <a:cs typeface="Calibri"/>
            </a:endParaRPr>
          </a:p>
        </p:txBody>
      </p:sp>
    </p:spTree>
    <p:extLst>
      <p:ext uri="{BB962C8B-B14F-4D97-AF65-F5344CB8AC3E}">
        <p14:creationId xmlns:p14="http://schemas.microsoft.com/office/powerpoint/2010/main" val="3120341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What is Transitive Dependency?</a:t>
            </a:r>
            <a:br>
              <a:rPr lang="en-US"/>
            </a:br>
            <a:endParaRPr lang="en-US"/>
          </a:p>
        </p:txBody>
      </p:sp>
      <p:sp>
        <p:nvSpPr>
          <p:cNvPr id="3" name="Content Placeholder 2"/>
          <p:cNvSpPr>
            <a:spLocks noGrp="1"/>
          </p:cNvSpPr>
          <p:nvPr>
            <p:ph idx="1"/>
          </p:nvPr>
        </p:nvSpPr>
        <p:spPr/>
        <p:txBody>
          <a:bodyPr>
            <a:normAutofit fontScale="77500" lnSpcReduction="20000"/>
          </a:bodyPr>
          <a:lstStyle/>
          <a:p>
            <a:r>
              <a:rPr lang="en-US"/>
              <a:t>what about  second new column </a:t>
            </a:r>
            <a:r>
              <a:rPr lang="en-US" err="1"/>
              <a:t>total_marks</a:t>
            </a:r>
            <a:r>
              <a:rPr lang="en-US"/>
              <a:t>? Does it depend on our Score table's primary key?</a:t>
            </a:r>
          </a:p>
          <a:p>
            <a:r>
              <a:rPr lang="en-US"/>
              <a:t>Well, the column </a:t>
            </a:r>
            <a:r>
              <a:rPr lang="en-US" err="1"/>
              <a:t>total_marks</a:t>
            </a:r>
            <a:r>
              <a:rPr lang="en-US"/>
              <a:t> depends on </a:t>
            </a:r>
            <a:r>
              <a:rPr lang="en-US" err="1"/>
              <a:t>exam_name</a:t>
            </a:r>
            <a:r>
              <a:rPr lang="en-US"/>
              <a:t> as with exam type the total score changes.</a:t>
            </a:r>
          </a:p>
          <a:p>
            <a:r>
              <a:rPr lang="en-US"/>
              <a:t> For example, </a:t>
            </a:r>
            <a:r>
              <a:rPr lang="en-US" err="1"/>
              <a:t>practicals</a:t>
            </a:r>
            <a:r>
              <a:rPr lang="en-US"/>
              <a:t> are of less marks while theory exams are of more marks.</a:t>
            </a:r>
          </a:p>
          <a:p>
            <a:r>
              <a:rPr lang="en-US"/>
              <a:t>But, </a:t>
            </a:r>
            <a:r>
              <a:rPr lang="en-US" err="1"/>
              <a:t>exam_name</a:t>
            </a:r>
            <a:r>
              <a:rPr lang="en-US"/>
              <a:t> is just another column in the score table. It is not a primary key or even a part of the primary key, and </a:t>
            </a:r>
            <a:r>
              <a:rPr lang="en-US" err="1"/>
              <a:t>total_marks</a:t>
            </a:r>
            <a:r>
              <a:rPr lang="en-US"/>
              <a:t> depends on it.</a:t>
            </a:r>
          </a:p>
          <a:p>
            <a:r>
              <a:rPr lang="en-US"/>
              <a:t>This is </a:t>
            </a:r>
            <a:r>
              <a:rPr lang="en-US" b="1"/>
              <a:t>Transitive Dependency</a:t>
            </a:r>
            <a:r>
              <a:rPr lang="en-US"/>
              <a:t>. </a:t>
            </a:r>
          </a:p>
          <a:p>
            <a:r>
              <a:rPr lang="en-US"/>
              <a:t>When a non-prime attribute depends on other non-prime attributes rather than depending upon the prime attributes or primary key.</a:t>
            </a:r>
          </a:p>
          <a:p>
            <a:endParaRPr lang="en-US"/>
          </a:p>
        </p:txBody>
      </p:sp>
    </p:spTree>
    <p:extLst>
      <p:ext uri="{BB962C8B-B14F-4D97-AF65-F5344CB8AC3E}">
        <p14:creationId xmlns:p14="http://schemas.microsoft.com/office/powerpoint/2010/main" val="2265905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10600" cy="1143000"/>
          </a:xfrm>
        </p:spPr>
        <p:txBody>
          <a:bodyPr>
            <a:normAutofit fontScale="90000"/>
          </a:bodyPr>
          <a:lstStyle/>
          <a:p>
            <a:br>
              <a:rPr lang="en-US"/>
            </a:br>
            <a:r>
              <a:rPr lang="en-US"/>
              <a:t>How to remove Transitive Dependency?</a:t>
            </a:r>
            <a:br>
              <a:rPr lang="en-US"/>
            </a:br>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Again the solution is very simple. Take out the columns </a:t>
            </a:r>
            <a:r>
              <a:rPr lang="en-US" err="1"/>
              <a:t>exam_name</a:t>
            </a:r>
            <a:r>
              <a:rPr lang="en-US"/>
              <a:t> and </a:t>
            </a:r>
            <a:r>
              <a:rPr lang="en-US" err="1"/>
              <a:t>total_marks</a:t>
            </a:r>
            <a:r>
              <a:rPr lang="en-US"/>
              <a:t> from Score table and put them in an </a:t>
            </a:r>
            <a:r>
              <a:rPr lang="en-US" b="1"/>
              <a:t>Exam</a:t>
            </a:r>
            <a:r>
              <a:rPr lang="en-US"/>
              <a:t> table and use the </a:t>
            </a:r>
            <a:r>
              <a:rPr lang="en-US" err="1"/>
              <a:t>exam_id</a:t>
            </a:r>
            <a:r>
              <a:rPr lang="en-US"/>
              <a:t> wherever required.</a:t>
            </a:r>
          </a:p>
          <a:p>
            <a:pPr>
              <a:buFont typeface="Wingdings" panose="05000000000000000000" pitchFamily="2" charset="2"/>
              <a:buChar char="§"/>
            </a:pPr>
            <a:endParaRPr lang="en-US"/>
          </a:p>
        </p:txBody>
      </p:sp>
    </p:spTree>
    <p:extLst>
      <p:ext uri="{BB962C8B-B14F-4D97-AF65-F5344CB8AC3E}">
        <p14:creationId xmlns:p14="http://schemas.microsoft.com/office/powerpoint/2010/main" val="3994112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34400" cy="1143000"/>
          </a:xfrm>
        </p:spPr>
        <p:txBody>
          <a:bodyPr>
            <a:normAutofit fontScale="90000"/>
          </a:bodyPr>
          <a:lstStyle/>
          <a:p>
            <a:br>
              <a:rPr lang="en-US"/>
            </a:br>
            <a:r>
              <a:rPr lang="en-US"/>
              <a:t>How to remove Transitive Dependency?</a:t>
            </a:r>
            <a:br>
              <a:rPr lang="en-US"/>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3618556"/>
              </p:ext>
            </p:extLst>
          </p:nvPr>
        </p:nvGraphicFramePr>
        <p:xfrm>
          <a:off x="457200" y="1600200"/>
          <a:ext cx="8229600" cy="1706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algn="l" fontAlgn="t"/>
                      <a:r>
                        <a:rPr lang="en-US" err="1">
                          <a:effectLst/>
                        </a:rPr>
                        <a:t>Exam_id</a:t>
                      </a:r>
                      <a:endParaRPr lang="en-US">
                        <a:effectLst/>
                      </a:endParaRPr>
                    </a:p>
                  </a:txBody>
                  <a:tcPr marL="76200" marR="76200" marT="76200" marB="76200"/>
                </a:tc>
                <a:tc>
                  <a:txBody>
                    <a:bodyPr/>
                    <a:lstStyle/>
                    <a:p>
                      <a:pPr algn="l" fontAlgn="t"/>
                      <a:r>
                        <a:rPr lang="en-US" err="1">
                          <a:effectLst/>
                        </a:rPr>
                        <a:t>Exam_name</a:t>
                      </a:r>
                      <a:endParaRPr lang="en-US">
                        <a:effectLst/>
                      </a:endParaRPr>
                    </a:p>
                  </a:txBody>
                  <a:tcPr marL="76200" marR="76200" marT="76200" marB="76200"/>
                </a:tc>
                <a:tc>
                  <a:txBody>
                    <a:bodyPr/>
                    <a:lstStyle/>
                    <a:p>
                      <a:pPr algn="l" fontAlgn="t"/>
                      <a:r>
                        <a:rPr lang="en-US" err="1">
                          <a:effectLst/>
                        </a:rPr>
                        <a:t>Total_marks</a:t>
                      </a:r>
                      <a:endParaRPr lang="en-US">
                        <a:effectLst/>
                      </a:endParaRPr>
                    </a:p>
                  </a:txBody>
                  <a:tcPr marL="76200" marR="76200" marT="76200" marB="76200"/>
                </a:tc>
                <a:extLst>
                  <a:ext uri="{0D108BD9-81ED-4DB2-BD59-A6C34878D82A}">
                    <a16:rowId xmlns:a16="http://schemas.microsoft.com/office/drawing/2014/main" val="10000"/>
                  </a:ext>
                </a:extLst>
              </a:tr>
              <a:tr h="370840">
                <a:tc>
                  <a:txBody>
                    <a:bodyPr/>
                    <a:lstStyle/>
                    <a:p>
                      <a:pPr fontAlgn="t"/>
                      <a:r>
                        <a:rPr lang="en-US">
                          <a:effectLst/>
                        </a:rPr>
                        <a:t>1</a:t>
                      </a:r>
                    </a:p>
                  </a:txBody>
                  <a:tcPr marL="76200" marR="76200" marT="76200" marB="76200"/>
                </a:tc>
                <a:tc>
                  <a:txBody>
                    <a:bodyPr/>
                    <a:lstStyle/>
                    <a:p>
                      <a:pPr fontAlgn="t"/>
                      <a:r>
                        <a:rPr lang="en-US">
                          <a:effectLst/>
                        </a:rPr>
                        <a:t>Workshop</a:t>
                      </a:r>
                    </a:p>
                  </a:txBody>
                  <a:tcPr marL="76200" marR="76200" marT="76200" marB="76200"/>
                </a:tc>
                <a:tc>
                  <a:txBody>
                    <a:bodyPr/>
                    <a:lstStyle/>
                    <a:p>
                      <a:pPr fontAlgn="t"/>
                      <a:r>
                        <a:rPr lang="en-US">
                          <a:effectLst/>
                        </a:rPr>
                        <a:t>200</a:t>
                      </a:r>
                    </a:p>
                  </a:txBody>
                  <a:tcPr marL="76200" marR="76200" marT="76200" marB="76200"/>
                </a:tc>
                <a:extLst>
                  <a:ext uri="{0D108BD9-81ED-4DB2-BD59-A6C34878D82A}">
                    <a16:rowId xmlns:a16="http://schemas.microsoft.com/office/drawing/2014/main" val="10001"/>
                  </a:ext>
                </a:extLst>
              </a:tr>
              <a:tr h="370840">
                <a:tc>
                  <a:txBody>
                    <a:bodyPr/>
                    <a:lstStyle/>
                    <a:p>
                      <a:pPr fontAlgn="t"/>
                      <a:r>
                        <a:rPr lang="en-US">
                          <a:effectLst/>
                        </a:rPr>
                        <a:t>2</a:t>
                      </a:r>
                    </a:p>
                  </a:txBody>
                  <a:tcPr marL="76200" marR="76200" marT="76200" marB="76200"/>
                </a:tc>
                <a:tc>
                  <a:txBody>
                    <a:bodyPr/>
                    <a:lstStyle/>
                    <a:p>
                      <a:pPr fontAlgn="t"/>
                      <a:r>
                        <a:rPr lang="en-US">
                          <a:effectLst/>
                        </a:rPr>
                        <a:t>Mains</a:t>
                      </a:r>
                    </a:p>
                  </a:txBody>
                  <a:tcPr marL="76200" marR="76200" marT="76200" marB="76200"/>
                </a:tc>
                <a:tc>
                  <a:txBody>
                    <a:bodyPr/>
                    <a:lstStyle/>
                    <a:p>
                      <a:pPr fontAlgn="t"/>
                      <a:r>
                        <a:rPr lang="en-US">
                          <a:effectLst/>
                        </a:rPr>
                        <a:t>70</a:t>
                      </a:r>
                    </a:p>
                  </a:txBody>
                  <a:tcPr marL="76200" marR="76200" marT="76200" marB="76200"/>
                </a:tc>
                <a:extLst>
                  <a:ext uri="{0D108BD9-81ED-4DB2-BD59-A6C34878D82A}">
                    <a16:rowId xmlns:a16="http://schemas.microsoft.com/office/drawing/2014/main" val="10002"/>
                  </a:ext>
                </a:extLst>
              </a:tr>
              <a:tr h="370840">
                <a:tc>
                  <a:txBody>
                    <a:bodyPr/>
                    <a:lstStyle/>
                    <a:p>
                      <a:pPr fontAlgn="t"/>
                      <a:r>
                        <a:rPr lang="en-US">
                          <a:effectLst/>
                        </a:rPr>
                        <a:t>3</a:t>
                      </a:r>
                    </a:p>
                  </a:txBody>
                  <a:tcPr marL="76200" marR="76200" marT="76200" marB="76200"/>
                </a:tc>
                <a:tc>
                  <a:txBody>
                    <a:bodyPr/>
                    <a:lstStyle/>
                    <a:p>
                      <a:pPr fontAlgn="t"/>
                      <a:r>
                        <a:rPr lang="en-US">
                          <a:effectLst/>
                        </a:rPr>
                        <a:t>Practicals</a:t>
                      </a:r>
                    </a:p>
                  </a:txBody>
                  <a:tcPr marL="76200" marR="76200" marT="76200" marB="76200"/>
                </a:tc>
                <a:tc>
                  <a:txBody>
                    <a:bodyPr/>
                    <a:lstStyle/>
                    <a:p>
                      <a:pPr fontAlgn="t"/>
                      <a:r>
                        <a:rPr lang="en-US">
                          <a:effectLst/>
                        </a:rPr>
                        <a:t>30</a:t>
                      </a:r>
                    </a:p>
                  </a:txBody>
                  <a:tcPr marL="76200" marR="76200" marT="76200" marB="762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65435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a:t>Advantage of removing Transitive Dependency</a:t>
            </a:r>
            <a:br>
              <a:rPr lang="en-US"/>
            </a:br>
            <a:endParaRPr lang="en-US"/>
          </a:p>
        </p:txBody>
      </p:sp>
      <p:sp>
        <p:nvSpPr>
          <p:cNvPr id="3" name="Content Placeholder 2"/>
          <p:cNvSpPr>
            <a:spLocks noGrp="1"/>
          </p:cNvSpPr>
          <p:nvPr>
            <p:ph idx="1"/>
          </p:nvPr>
        </p:nvSpPr>
        <p:spPr>
          <a:xfrm>
            <a:off x="533400" y="1905000"/>
            <a:ext cx="8229600" cy="4525963"/>
          </a:xfrm>
        </p:spPr>
        <p:txBody>
          <a:bodyPr/>
          <a:lstStyle/>
          <a:p>
            <a:pPr>
              <a:buFont typeface="Wingdings" panose="05000000000000000000" pitchFamily="2" charset="2"/>
              <a:buChar char="§"/>
            </a:pPr>
            <a:r>
              <a:rPr lang="en-US"/>
              <a:t>Amount of data duplication is reduced.</a:t>
            </a:r>
          </a:p>
          <a:p>
            <a:pPr>
              <a:buFont typeface="Wingdings" panose="05000000000000000000" pitchFamily="2" charset="2"/>
              <a:buChar char="§"/>
            </a:pPr>
            <a:r>
              <a:rPr lang="en-US"/>
              <a:t>Data integrity achieved.</a:t>
            </a:r>
          </a:p>
        </p:txBody>
      </p:sp>
    </p:spTree>
    <p:extLst>
      <p:ext uri="{BB962C8B-B14F-4D97-AF65-F5344CB8AC3E}">
        <p14:creationId xmlns:p14="http://schemas.microsoft.com/office/powerpoint/2010/main" val="1436712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r>
              <a:rPr lang="en-US" b="1"/>
              <a:t>Boyce-</a:t>
            </a:r>
            <a:r>
              <a:rPr lang="en-US" b="1" err="1"/>
              <a:t>Codd</a:t>
            </a:r>
            <a:r>
              <a:rPr lang="en-US" b="1"/>
              <a:t> Normal Form (BCNF)</a:t>
            </a:r>
            <a:br>
              <a:rPr lang="en-US" b="1"/>
            </a:br>
            <a:br>
              <a:rPr lang="en-US" b="1"/>
            </a:br>
            <a:endParaRPr lang="en-US" b="1"/>
          </a:p>
        </p:txBody>
      </p:sp>
      <p:sp>
        <p:nvSpPr>
          <p:cNvPr id="3" name="Content Placeholder 2"/>
          <p:cNvSpPr>
            <a:spLocks noGrp="1"/>
          </p:cNvSpPr>
          <p:nvPr>
            <p:ph idx="1"/>
          </p:nvPr>
        </p:nvSpPr>
        <p:spPr/>
        <p:txBody>
          <a:bodyPr/>
          <a:lstStyle/>
          <a:p>
            <a:pPr>
              <a:buFont typeface="Wingdings" panose="05000000000000000000" pitchFamily="2" charset="2"/>
              <a:buChar char="§"/>
            </a:pPr>
            <a:r>
              <a:rPr lang="en-US"/>
              <a:t>Boyce-</a:t>
            </a:r>
            <a:r>
              <a:rPr lang="en-US" err="1"/>
              <a:t>Codd</a:t>
            </a:r>
            <a:r>
              <a:rPr lang="en-US"/>
              <a:t> Normal Form or BCNF is an extension to the </a:t>
            </a:r>
            <a:r>
              <a:rPr lang="en-US" b="1"/>
              <a:t>third normal form</a:t>
            </a:r>
            <a:r>
              <a:rPr lang="en-US"/>
              <a:t>, and is also known as 3.5 Normal Form.</a:t>
            </a:r>
          </a:p>
        </p:txBody>
      </p:sp>
    </p:spTree>
    <p:extLst>
      <p:ext uri="{BB962C8B-B14F-4D97-AF65-F5344CB8AC3E}">
        <p14:creationId xmlns:p14="http://schemas.microsoft.com/office/powerpoint/2010/main" val="3817277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b="1"/>
              <a:t>Rules for BCNF</a:t>
            </a:r>
            <a:br>
              <a:rPr lang="en-US" b="1"/>
            </a:br>
            <a:endParaRPr lang="en-US" b="1"/>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
            </a:pPr>
            <a:r>
              <a:rPr lang="en-US"/>
              <a:t>For a table to satisfy the Boyce-</a:t>
            </a:r>
            <a:r>
              <a:rPr lang="en-US" err="1"/>
              <a:t>Codd</a:t>
            </a:r>
            <a:r>
              <a:rPr lang="en-US"/>
              <a:t> Normal Form, it should satisfy the following two conditions:</a:t>
            </a:r>
          </a:p>
          <a:p>
            <a:pPr>
              <a:buFont typeface="Wingdings" panose="05000000000000000000" pitchFamily="2" charset="2"/>
              <a:buChar char="§"/>
            </a:pPr>
            <a:r>
              <a:rPr lang="en-US"/>
              <a:t>It should be in the </a:t>
            </a:r>
            <a:r>
              <a:rPr lang="en-US" b="1"/>
              <a:t>Third Normal Form</a:t>
            </a:r>
            <a:r>
              <a:rPr lang="en-US"/>
              <a:t>.</a:t>
            </a:r>
          </a:p>
          <a:p>
            <a:pPr>
              <a:buFont typeface="Wingdings" panose="05000000000000000000" pitchFamily="2" charset="2"/>
              <a:buChar char="§"/>
            </a:pPr>
            <a:r>
              <a:rPr lang="en-US"/>
              <a:t>And, for any dependency A → B, A should be a </a:t>
            </a:r>
            <a:r>
              <a:rPr lang="en-US" b="1"/>
              <a:t>super key</a:t>
            </a:r>
            <a:r>
              <a:rPr lang="en-US"/>
              <a:t>.</a:t>
            </a:r>
          </a:p>
          <a:p>
            <a:pPr>
              <a:buFont typeface="Wingdings" panose="05000000000000000000" pitchFamily="2" charset="2"/>
              <a:buChar char="§"/>
            </a:pPr>
            <a:r>
              <a:rPr lang="en-US"/>
              <a:t>The second point sounds a bit tricky, right? In simple words, it means, that for a dependency A → B, A cannot be a </a:t>
            </a:r>
            <a:r>
              <a:rPr lang="en-US" b="1"/>
              <a:t>non-prime attribute</a:t>
            </a:r>
            <a:r>
              <a:rPr lang="en-US"/>
              <a:t>, if B is a </a:t>
            </a:r>
            <a:r>
              <a:rPr lang="en-US" b="1"/>
              <a:t>prime attribute</a:t>
            </a:r>
            <a:r>
              <a:rPr lang="en-US"/>
              <a:t>.</a:t>
            </a:r>
          </a:p>
          <a:p>
            <a:pPr>
              <a:buFont typeface="Wingdings" panose="05000000000000000000" pitchFamily="2" charset="2"/>
              <a:buChar char="§"/>
            </a:pPr>
            <a:br>
              <a:rPr lang="en-US"/>
            </a:br>
            <a:endParaRPr lang="en-US"/>
          </a:p>
        </p:txBody>
      </p:sp>
    </p:spTree>
    <p:extLst>
      <p:ext uri="{BB962C8B-B14F-4D97-AF65-F5344CB8AC3E}">
        <p14:creationId xmlns:p14="http://schemas.microsoft.com/office/powerpoint/2010/main" val="3409926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a:br>
            <a:br>
              <a:rPr lang="en-US" b="1"/>
            </a:br>
            <a:r>
              <a:rPr lang="en-US" b="1"/>
              <a:t>Boyce-</a:t>
            </a:r>
            <a:r>
              <a:rPr lang="en-US" b="1" err="1"/>
              <a:t>Codd</a:t>
            </a:r>
            <a:r>
              <a:rPr lang="en-US" b="1"/>
              <a:t> Normal Form (BCNF)</a:t>
            </a:r>
            <a:br>
              <a:rPr lang="en-US" b="1"/>
            </a:br>
            <a:br>
              <a:rPr lang="en-US" b="1"/>
            </a:br>
            <a:endParaRPr lang="en-US"/>
          </a:p>
        </p:txBody>
      </p:sp>
      <p:sp>
        <p:nvSpPr>
          <p:cNvPr id="3" name="Content Placeholder 2"/>
          <p:cNvSpPr>
            <a:spLocks noGrp="1"/>
          </p:cNvSpPr>
          <p:nvPr>
            <p:ph idx="1"/>
          </p:nvPr>
        </p:nvSpPr>
        <p:spPr/>
        <p:txBody>
          <a:bodyPr/>
          <a:lstStyle/>
          <a:p>
            <a:r>
              <a:rPr lang="en-US"/>
              <a:t>Below we have a college enrolment table with columns </a:t>
            </a:r>
            <a:r>
              <a:rPr lang="en-US" err="1"/>
              <a:t>student_id</a:t>
            </a:r>
            <a:r>
              <a:rPr lang="en-US"/>
              <a:t>, subject and professor</a:t>
            </a:r>
          </a:p>
          <a:p>
            <a:endParaRPr lang="en-US"/>
          </a:p>
        </p:txBody>
      </p:sp>
    </p:spTree>
    <p:extLst>
      <p:ext uri="{BB962C8B-B14F-4D97-AF65-F5344CB8AC3E}">
        <p14:creationId xmlns:p14="http://schemas.microsoft.com/office/powerpoint/2010/main" val="3362661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1860917339A24CBF48CA72FD87A938" ma:contentTypeVersion="4" ma:contentTypeDescription="Create a new document." ma:contentTypeScope="" ma:versionID="980b02646fa074ec6df36e14e32d67b1">
  <xsd:schema xmlns:xsd="http://www.w3.org/2001/XMLSchema" xmlns:xs="http://www.w3.org/2001/XMLSchema" xmlns:p="http://schemas.microsoft.com/office/2006/metadata/properties" xmlns:ns2="add626ea-3744-4bc4-9968-be3225425790" xmlns:ns3="be0a9719-4ac4-4ca6-8b98-e7dd01bc4f66" targetNamespace="http://schemas.microsoft.com/office/2006/metadata/properties" ma:root="true" ma:fieldsID="8108df76a192e00ecce4cadae88a104d" ns2:_="" ns3:_="">
    <xsd:import namespace="add626ea-3744-4bc4-9968-be3225425790"/>
    <xsd:import namespace="be0a9719-4ac4-4ca6-8b98-e7dd01bc4f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d626ea-3744-4bc4-9968-be322542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0a9719-4ac4-4ca6-8b98-e7dd01bc4f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54E18F-5BFE-4DB0-ABC7-CFD32A1E69C2}">
  <ds:schemaRefs>
    <ds:schemaRef ds:uri="http://schemas.microsoft.com/sharepoint/v3/contenttype/forms"/>
  </ds:schemaRefs>
</ds:datastoreItem>
</file>

<file path=customXml/itemProps2.xml><?xml version="1.0" encoding="utf-8"?>
<ds:datastoreItem xmlns:ds="http://schemas.openxmlformats.org/officeDocument/2006/customXml" ds:itemID="{CC0950D6-8E0B-447D-A12E-999B01BE897E}">
  <ds:schemaRefs>
    <ds:schemaRef ds:uri="169d1c11-013d-4257-a086-9a41718059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F4EDF97-F4FE-46C0-8702-C8FB880620CB}"/>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44</Slides>
  <Notes>0</Notes>
  <HiddenSlides>0</HiddenSlide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Database Normalization</vt:lpstr>
      <vt:lpstr>Objective</vt:lpstr>
      <vt:lpstr>Objective</vt:lpstr>
      <vt:lpstr>Objective</vt:lpstr>
      <vt:lpstr> Why to use Normalization? </vt:lpstr>
      <vt:lpstr>Why to use Normalization? </vt:lpstr>
      <vt:lpstr>Why to use Normalization? </vt:lpstr>
      <vt:lpstr>Insertion Anomaly</vt:lpstr>
      <vt:lpstr>Updation Anomaly</vt:lpstr>
      <vt:lpstr>Deletion Anomaly</vt:lpstr>
      <vt:lpstr>PowerPoint Presentation</vt:lpstr>
      <vt:lpstr>Normalization</vt:lpstr>
      <vt:lpstr> First Normal Form (1NF) </vt:lpstr>
      <vt:lpstr> First Normal Form (1NF) </vt:lpstr>
      <vt:lpstr> First Normal Form (1NF) </vt:lpstr>
      <vt:lpstr>  What is Second Normal Form?  </vt:lpstr>
      <vt:lpstr>Functional Dependencies </vt:lpstr>
      <vt:lpstr>Functional Dependency definition </vt:lpstr>
      <vt:lpstr>Examples of FD constraints </vt:lpstr>
      <vt:lpstr>Functional Dependencies and Keys</vt:lpstr>
      <vt:lpstr>  What is Dependency? </vt:lpstr>
      <vt:lpstr> What is Dependency? </vt:lpstr>
      <vt:lpstr>  What is Dependency? </vt:lpstr>
      <vt:lpstr>  What is Dependency? </vt:lpstr>
      <vt:lpstr> What is Partial Dependency? </vt:lpstr>
      <vt:lpstr>What is Partial Dependency? </vt:lpstr>
      <vt:lpstr>What is Partial Dependency? </vt:lpstr>
      <vt:lpstr> What is Partial Dependency? </vt:lpstr>
      <vt:lpstr>What is Partial Dependency? </vt:lpstr>
      <vt:lpstr>What is Partial Dependency? </vt:lpstr>
      <vt:lpstr> How to remove Partial Dependency? </vt:lpstr>
      <vt:lpstr> How to remove Partial Dependency? </vt:lpstr>
      <vt:lpstr> How to remove Partial Dependency? </vt:lpstr>
      <vt:lpstr>PowerPoint Presentation</vt:lpstr>
      <vt:lpstr>  Third Normal Form (3NF)  </vt:lpstr>
      <vt:lpstr>  Third Normal Form (3NF)  </vt:lpstr>
      <vt:lpstr> What is Transitive Dependency? </vt:lpstr>
      <vt:lpstr> What is Transitive Dependency? </vt:lpstr>
      <vt:lpstr> How to remove Transitive Dependency? </vt:lpstr>
      <vt:lpstr> How to remove Transitive Dependency? </vt:lpstr>
      <vt:lpstr>  Advantage of removing Transitive Dependency </vt:lpstr>
      <vt:lpstr>  Boyce-Codd Normal Form (BCNF)  </vt:lpstr>
      <vt:lpstr> Rules for BCNF </vt:lpstr>
      <vt:lpstr>  Boyce-Codd Normal Form (BCNF)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Normalization</dc:title>
  <dc:creator>reshma malik</dc:creator>
  <cp:revision>1</cp:revision>
  <dcterms:created xsi:type="dcterms:W3CDTF">2020-10-27T06:44:26Z</dcterms:created>
  <dcterms:modified xsi:type="dcterms:W3CDTF">2022-10-16T17:45:41Z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0x010100821860917339A24CBF48CA72FD87A938</vt:lpwstr>
  </property>
</Properties>
</file>