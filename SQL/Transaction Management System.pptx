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63" r:id="rId8"/>
    <p:sldId id="265" r:id="rId9"/>
    <p:sldId id="267" r:id="rId10"/>
    <p:sldId id="266" r:id="rId11"/>
    <p:sldId id="261" r:id="rId12"/>
    <p:sldId id="259" r:id="rId13"/>
    <p:sldId id="262" r:id="rId14"/>
    <p:sldId id="268" r:id="rId15"/>
    <p:sldId id="260" r:id="rId16"/>
    <p:sldId id="269" r:id="rId17"/>
    <p:sldId id="270" r:id="rId18"/>
    <p:sldId id="271" r:id="rId19"/>
    <p:sldId id="272" r:id="rId20"/>
    <p:sldId id="273" r:id="rId21"/>
    <p:sldId id="264" r:id="rId22"/>
    <p:sldId id="274" r:id="rId23"/>
    <p:sldId id="275" r:id="rId24"/>
    <p:sldId id="277" r:id="rId25"/>
    <p:sldId id="278" r:id="rId26"/>
    <p:sldId id="306" r:id="rId27"/>
    <p:sldId id="276" r:id="rId28"/>
    <p:sldId id="279" r:id="rId29"/>
    <p:sldId id="280" r:id="rId30"/>
    <p:sldId id="285" r:id="rId31"/>
    <p:sldId id="281" r:id="rId32"/>
    <p:sldId id="286" r:id="rId33"/>
    <p:sldId id="287" r:id="rId34"/>
    <p:sldId id="282" r:id="rId35"/>
    <p:sldId id="308" r:id="rId36"/>
    <p:sldId id="288" r:id="rId37"/>
    <p:sldId id="283" r:id="rId38"/>
    <p:sldId id="289" r:id="rId39"/>
    <p:sldId id="284" r:id="rId40"/>
    <p:sldId id="290" r:id="rId41"/>
    <p:sldId id="291" r:id="rId42"/>
    <p:sldId id="292" r:id="rId43"/>
    <p:sldId id="293" r:id="rId44"/>
    <p:sldId id="294" r:id="rId45"/>
    <p:sldId id="295" r:id="rId46"/>
    <p:sldId id="296" r:id="rId47"/>
    <p:sldId id="297" r:id="rId48"/>
    <p:sldId id="298" r:id="rId49"/>
    <p:sldId id="307" r:id="rId50"/>
    <p:sldId id="301"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45E71C-C663-4359-AAEB-C004C55C6027}" v="2" dt="2022-10-16T17:37:31.562"/>
    <p1510:client id="{42177D41-B94C-488F-BD04-F86A4A683EB7}" v="2" dt="2022-10-16T16:38:04.455"/>
    <p1510:client id="{9DA91828-DAD1-4B18-910B-99D234888FB9}" v="1" dt="2022-10-15T18:36:37.806"/>
    <p1510:client id="{F49EB586-CF2A-4A61-90B7-9E3D996EE351}" v="3" dt="2022-11-24T10:04:24.889"/>
    <p1510:client id="{F86156CE-E4B2-46D6-921B-81E3E828C620}" v="1" dt="2022-11-24T11:20:50.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AV KHOCHARE" userId="S::arnav.khochare215053@tsecedu.org::888c5dc3-5c77-476b-9cfc-77aa4b140ece" providerId="AD" clId="Web-{9DA91828-DAD1-4B18-910B-99D234888FB9}"/>
    <pc:docChg chg="modSld">
      <pc:chgData name="ARNAV KHOCHARE" userId="S::arnav.khochare215053@tsecedu.org::888c5dc3-5c77-476b-9cfc-77aa4b140ece" providerId="AD" clId="Web-{9DA91828-DAD1-4B18-910B-99D234888FB9}" dt="2022-10-15T18:36:37.806" v="0" actId="20577"/>
      <pc:docMkLst>
        <pc:docMk/>
      </pc:docMkLst>
      <pc:sldChg chg="modSp">
        <pc:chgData name="ARNAV KHOCHARE" userId="S::arnav.khochare215053@tsecedu.org::888c5dc3-5c77-476b-9cfc-77aa4b140ece" providerId="AD" clId="Web-{9DA91828-DAD1-4B18-910B-99D234888FB9}" dt="2022-10-15T18:36:37.806" v="0" actId="20577"/>
        <pc:sldMkLst>
          <pc:docMk/>
          <pc:sldMk cId="3020866530" sldId="257"/>
        </pc:sldMkLst>
        <pc:spChg chg="mod">
          <ac:chgData name="ARNAV KHOCHARE" userId="S::arnav.khochare215053@tsecedu.org::888c5dc3-5c77-476b-9cfc-77aa4b140ece" providerId="AD" clId="Web-{9DA91828-DAD1-4B18-910B-99D234888FB9}" dt="2022-10-15T18:36:37.806" v="0" actId="20577"/>
          <ac:spMkLst>
            <pc:docMk/>
            <pc:sldMk cId="3020866530" sldId="257"/>
            <ac:spMk id="3" creationId="{00000000-0000-0000-0000-000000000000}"/>
          </ac:spMkLst>
        </pc:spChg>
      </pc:sldChg>
    </pc:docChg>
  </pc:docChgLst>
  <pc:docChgLst>
    <pc:chgData name="RUTVIK KASLAY" userId="S::rutvik.kaslay215051@tsecedu.org::0b097ad1-85c5-4dc6-bfa9-a0a6a25ad181" providerId="AD" clId="Web-{F86156CE-E4B2-46D6-921B-81E3E828C620}"/>
    <pc:docChg chg="modSld">
      <pc:chgData name="RUTVIK KASLAY" userId="S::rutvik.kaslay215051@tsecedu.org::0b097ad1-85c5-4dc6-bfa9-a0a6a25ad181" providerId="AD" clId="Web-{F86156CE-E4B2-46D6-921B-81E3E828C620}" dt="2022-11-24T11:20:50.743" v="0" actId="1076"/>
      <pc:docMkLst>
        <pc:docMk/>
      </pc:docMkLst>
      <pc:sldChg chg="modSp">
        <pc:chgData name="RUTVIK KASLAY" userId="S::rutvik.kaslay215051@tsecedu.org::0b097ad1-85c5-4dc6-bfa9-a0a6a25ad181" providerId="AD" clId="Web-{F86156CE-E4B2-46D6-921B-81E3E828C620}" dt="2022-11-24T11:20:50.743" v="0" actId="1076"/>
        <pc:sldMkLst>
          <pc:docMk/>
          <pc:sldMk cId="4133620316" sldId="298"/>
        </pc:sldMkLst>
        <pc:picChg chg="mod">
          <ac:chgData name="RUTVIK KASLAY" userId="S::rutvik.kaslay215051@tsecedu.org::0b097ad1-85c5-4dc6-bfa9-a0a6a25ad181" providerId="AD" clId="Web-{F86156CE-E4B2-46D6-921B-81E3E828C620}" dt="2022-11-24T11:20:50.743" v="0" actId="1076"/>
          <ac:picMkLst>
            <pc:docMk/>
            <pc:sldMk cId="4133620316" sldId="298"/>
            <ac:picMk id="4" creationId="{00000000-0000-0000-0000-000000000000}"/>
          </ac:picMkLst>
        </pc:picChg>
      </pc:sldChg>
    </pc:docChg>
  </pc:docChgLst>
  <pc:docChgLst>
    <pc:chgData name="PRASAD AROTE" userId="S::prasad.arote215011@tsecedu.org::f772eb7e-0efa-42cf-9897-4076bbb7d84b" providerId="AD" clId="Web-{F49EB586-CF2A-4A61-90B7-9E3D996EE351}"/>
    <pc:docChg chg="modSld">
      <pc:chgData name="PRASAD AROTE" userId="S::prasad.arote215011@tsecedu.org::f772eb7e-0efa-42cf-9897-4076bbb7d84b" providerId="AD" clId="Web-{F49EB586-CF2A-4A61-90B7-9E3D996EE351}" dt="2022-11-24T10:04:24.889" v="3" actId="20577"/>
      <pc:docMkLst>
        <pc:docMk/>
      </pc:docMkLst>
      <pc:sldChg chg="modSp">
        <pc:chgData name="PRASAD AROTE" userId="S::prasad.arote215011@tsecedu.org::f772eb7e-0efa-42cf-9897-4076bbb7d84b" providerId="AD" clId="Web-{F49EB586-CF2A-4A61-90B7-9E3D996EE351}" dt="2022-11-24T10:04:24.889" v="3" actId="20577"/>
        <pc:sldMkLst>
          <pc:docMk/>
          <pc:sldMk cId="3226720587" sldId="275"/>
        </pc:sldMkLst>
        <pc:spChg chg="mod">
          <ac:chgData name="PRASAD AROTE" userId="S::prasad.arote215011@tsecedu.org::f772eb7e-0efa-42cf-9897-4076bbb7d84b" providerId="AD" clId="Web-{F49EB586-CF2A-4A61-90B7-9E3D996EE351}" dt="2022-11-24T10:04:24.889" v="3" actId="20577"/>
          <ac:spMkLst>
            <pc:docMk/>
            <pc:sldMk cId="3226720587" sldId="275"/>
            <ac:spMk id="3" creationId="{00000000-0000-0000-0000-000000000000}"/>
          </ac:spMkLst>
        </pc:spChg>
      </pc:sldChg>
    </pc:docChg>
  </pc:docChgLst>
  <pc:docChgLst>
    <pc:chgData name="SARAH KHAN" userId="S::sarah.khan215052@tsecedu.org::59e72b7e-1b73-4e4d-863e-cde398dd3356" providerId="AD" clId="Web-{42177D41-B94C-488F-BD04-F86A4A683EB7}"/>
    <pc:docChg chg="addSld delSld">
      <pc:chgData name="SARAH KHAN" userId="S::sarah.khan215052@tsecedu.org::59e72b7e-1b73-4e4d-863e-cde398dd3356" providerId="AD" clId="Web-{42177D41-B94C-488F-BD04-F86A4A683EB7}" dt="2022-10-16T16:38:04.455" v="1"/>
      <pc:docMkLst>
        <pc:docMk/>
      </pc:docMkLst>
      <pc:sldChg chg="new del">
        <pc:chgData name="SARAH KHAN" userId="S::sarah.khan215052@tsecedu.org::59e72b7e-1b73-4e4d-863e-cde398dd3356" providerId="AD" clId="Web-{42177D41-B94C-488F-BD04-F86A4A683EB7}" dt="2022-10-16T16:38:04.455" v="1"/>
        <pc:sldMkLst>
          <pc:docMk/>
          <pc:sldMk cId="1823746426" sldId="309"/>
        </pc:sldMkLst>
      </pc:sldChg>
    </pc:docChg>
  </pc:docChgLst>
  <pc:docChgLst>
    <pc:chgData name="JAIPRAKASH JEEVIKA" userId="S::jaiprakash.jeevika215045@tsecedu.org::e549fcdc-5899-449f-b7f4-76fd70b5cc81" providerId="AD" clId="Web-{3045E71C-C663-4359-AAEB-C004C55C6027}"/>
    <pc:docChg chg="addSld delSld">
      <pc:chgData name="JAIPRAKASH JEEVIKA" userId="S::jaiprakash.jeevika215045@tsecedu.org::e549fcdc-5899-449f-b7f4-76fd70b5cc81" providerId="AD" clId="Web-{3045E71C-C663-4359-AAEB-C004C55C6027}" dt="2022-10-16T17:37:31.562" v="1"/>
      <pc:docMkLst>
        <pc:docMk/>
      </pc:docMkLst>
      <pc:sldChg chg="new del">
        <pc:chgData name="JAIPRAKASH JEEVIKA" userId="S::jaiprakash.jeevika215045@tsecedu.org::e549fcdc-5899-449f-b7f4-76fd70b5cc81" providerId="AD" clId="Web-{3045E71C-C663-4359-AAEB-C004C55C6027}" dt="2022-10-16T17:37:31.562" v="1"/>
        <pc:sldMkLst>
          <pc:docMk/>
          <pc:sldMk cId="382884655" sldId="30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4CC54B-1ABE-4D0C-A4DE-12C6DA6A1004}" type="datetimeFigureOut">
              <a:rPr lang="en-US" smtClean="0"/>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652458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4CC54B-1ABE-4D0C-A4DE-12C6DA6A1004}" type="datetimeFigureOut">
              <a:rPr lang="en-US" smtClean="0"/>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1308607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4CC54B-1ABE-4D0C-A4DE-12C6DA6A1004}" type="datetimeFigureOut">
              <a:rPr lang="en-US" smtClean="0"/>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3943874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4CC54B-1ABE-4D0C-A4DE-12C6DA6A1004}" type="datetimeFigureOut">
              <a:rPr lang="en-US" smtClean="0"/>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3453529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4CC54B-1ABE-4D0C-A4DE-12C6DA6A1004}" type="datetimeFigureOut">
              <a:rPr lang="en-US" smtClean="0"/>
              <a:t>11/24/2022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1589665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B4CC54B-1ABE-4D0C-A4DE-12C6DA6A1004}" type="datetimeFigureOut">
              <a:rPr lang="en-US" smtClean="0"/>
              <a:t>11/24/2022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384824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4CC54B-1ABE-4D0C-A4DE-12C6DA6A1004}" type="datetimeFigureOut">
              <a:rPr lang="en-US" smtClean="0"/>
              <a:t>11/24/2022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3933885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4CC54B-1ABE-4D0C-A4DE-12C6DA6A1004}" type="datetimeFigureOut">
              <a:rPr lang="en-US" smtClean="0"/>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1453866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4CC54B-1ABE-4D0C-A4DE-12C6DA6A1004}" type="datetimeFigureOut">
              <a:rPr lang="en-US" smtClean="0"/>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4041645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4CC54B-1ABE-4D0C-A4DE-12C6DA6A1004}" type="datetimeFigureOut">
              <a:rPr lang="en-US" smtClean="0"/>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968458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4CC54B-1ABE-4D0C-A4DE-12C6DA6A1004}" type="datetimeFigureOut">
              <a:rPr lang="en-US" smtClean="0"/>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5639B5-F055-41FB-9C53-CB74CCAB353D}" type="slidenum">
              <a:rPr lang="en-US" smtClean="0"/>
              <a:t>‹#›</a:t>
            </a:fld>
            <a:endParaRPr lang="en-US"/>
          </a:p>
        </p:txBody>
      </p:sp>
    </p:spTree>
    <p:extLst>
      <p:ext uri="{BB962C8B-B14F-4D97-AF65-F5344CB8AC3E}">
        <p14:creationId xmlns:p14="http://schemas.microsoft.com/office/powerpoint/2010/main" val="2227592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4CC54B-1ABE-4D0C-A4DE-12C6DA6A1004}" type="datetimeFigureOut">
              <a:rPr lang="en-US" smtClean="0"/>
              <a:t>11/24/2022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5639B5-F055-41FB-9C53-CB74CCAB353D}" type="slidenum">
              <a:rPr lang="en-US" smtClean="0"/>
              <a:t>‹#›</a:t>
            </a:fld>
            <a:endParaRPr lang="en-US"/>
          </a:p>
        </p:txBody>
      </p:sp>
    </p:spTree>
    <p:extLst>
      <p:ext uri="{BB962C8B-B14F-4D97-AF65-F5344CB8AC3E}">
        <p14:creationId xmlns:p14="http://schemas.microsoft.com/office/powerpoint/2010/main" val="3750196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Transaction Management System</a:t>
            </a:r>
          </a:p>
        </p:txBody>
      </p:sp>
    </p:spTree>
    <p:extLst>
      <p:ext uri="{BB962C8B-B14F-4D97-AF65-F5344CB8AC3E}">
        <p14:creationId xmlns:p14="http://schemas.microsoft.com/office/powerpoint/2010/main" val="391377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r>
              <a:rPr lang="en-US" b="1"/>
              <a:t>Basic Concepts</a:t>
            </a:r>
          </a:p>
        </p:txBody>
      </p:sp>
      <p:sp>
        <p:nvSpPr>
          <p:cNvPr id="3" name="Content Placeholder 2"/>
          <p:cNvSpPr>
            <a:spLocks noGrp="1"/>
          </p:cNvSpPr>
          <p:nvPr>
            <p:ph idx="1"/>
          </p:nvPr>
        </p:nvSpPr>
        <p:spPr/>
        <p:txBody>
          <a:bodyPr vert="horz" lIns="91440" tIns="45720" rIns="91440" bIns="45720" rtlCol="0" anchor="t">
            <a:normAutofit lnSpcReduction="10000"/>
          </a:bodyPr>
          <a:lstStyle/>
          <a:p>
            <a:pPr>
              <a:buFont typeface="Wingdings" panose="05000000000000000000" pitchFamily="2" charset="2"/>
              <a:buChar char="§"/>
            </a:pPr>
            <a:r>
              <a:rPr lang="en-US" b="1"/>
              <a:t>Single-User System</a:t>
            </a:r>
            <a:r>
              <a:rPr lang="en-US"/>
              <a:t>: At most one user at a time can use the system. </a:t>
            </a:r>
          </a:p>
          <a:p>
            <a:pPr>
              <a:buFont typeface="Wingdings" panose="05000000000000000000" pitchFamily="2" charset="2"/>
              <a:buChar char="§"/>
            </a:pPr>
            <a:r>
              <a:rPr lang="en-US"/>
              <a:t> </a:t>
            </a:r>
            <a:r>
              <a:rPr lang="en-US" b="1"/>
              <a:t>Multiuser System: </a:t>
            </a:r>
            <a:r>
              <a:rPr lang="en-US"/>
              <a:t>Many users can access the system concurrently. </a:t>
            </a:r>
          </a:p>
          <a:p>
            <a:pPr>
              <a:buFont typeface="Wingdings" panose="05000000000000000000" pitchFamily="2" charset="2"/>
              <a:buChar char="§"/>
            </a:pPr>
            <a:r>
              <a:rPr lang="en-US" b="1"/>
              <a:t> </a:t>
            </a:r>
            <a:r>
              <a:rPr lang="en-US" b="1">
                <a:solidFill>
                  <a:schemeClr val="bg1">
                    <a:lumMod val="75000"/>
                  </a:schemeClr>
                </a:solidFill>
              </a:rPr>
              <a:t>Concurrency </a:t>
            </a:r>
            <a:endParaRPr lang="en-US" b="1">
              <a:solidFill>
                <a:schemeClr val="bg1">
                  <a:lumMod val="75000"/>
                </a:schemeClr>
              </a:solidFill>
              <a:cs typeface="Calibri"/>
            </a:endParaRPr>
          </a:p>
          <a:p>
            <a:pPr lvl="1">
              <a:buFont typeface="Wingdings" panose="05000000000000000000" pitchFamily="2" charset="2"/>
              <a:buChar char="§"/>
            </a:pPr>
            <a:r>
              <a:rPr lang="en-US" b="1">
                <a:solidFill>
                  <a:schemeClr val="bg1">
                    <a:lumMod val="75000"/>
                  </a:schemeClr>
                </a:solidFill>
              </a:rPr>
              <a:t>Interleaved processing: </a:t>
            </a:r>
            <a:r>
              <a:rPr lang="en-US">
                <a:solidFill>
                  <a:schemeClr val="bg1">
                    <a:lumMod val="75000"/>
                  </a:schemeClr>
                </a:solidFill>
              </a:rPr>
              <a:t>concurrent execution of processes is interleaved in a single CPU </a:t>
            </a:r>
          </a:p>
          <a:p>
            <a:pPr lvl="1">
              <a:buFont typeface="Wingdings" panose="05000000000000000000" pitchFamily="2" charset="2"/>
              <a:buChar char="§"/>
            </a:pPr>
            <a:r>
              <a:rPr lang="en-US">
                <a:solidFill>
                  <a:schemeClr val="bg1">
                    <a:lumMod val="75000"/>
                  </a:schemeClr>
                </a:solidFill>
              </a:rPr>
              <a:t> </a:t>
            </a:r>
            <a:r>
              <a:rPr lang="en-US" b="1">
                <a:solidFill>
                  <a:schemeClr val="bg1">
                    <a:lumMod val="75000"/>
                  </a:schemeClr>
                </a:solidFill>
              </a:rPr>
              <a:t>Parallel processing: </a:t>
            </a:r>
            <a:r>
              <a:rPr lang="en-US">
                <a:solidFill>
                  <a:schemeClr val="bg1">
                    <a:lumMod val="75000"/>
                  </a:schemeClr>
                </a:solidFill>
              </a:rPr>
              <a:t>processes are concurrently executed in multiple CPUs. </a:t>
            </a:r>
          </a:p>
          <a:p>
            <a:pPr>
              <a:buFont typeface="Wingdings" panose="05000000000000000000" pitchFamily="2" charset="2"/>
              <a:buChar char="§"/>
            </a:pPr>
            <a:endParaRPr lang="en-US">
              <a:solidFill>
                <a:schemeClr val="bg1">
                  <a:lumMod val="75000"/>
                </a:schemeClr>
              </a:solidFill>
            </a:endParaRPr>
          </a:p>
        </p:txBody>
      </p:sp>
    </p:spTree>
    <p:extLst>
      <p:ext uri="{BB962C8B-B14F-4D97-AF65-F5344CB8AC3E}">
        <p14:creationId xmlns:p14="http://schemas.microsoft.com/office/powerpoint/2010/main" val="302086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Introduction to Transaction Processing</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b="1"/>
              <a:t>A transaction </a:t>
            </a:r>
            <a:r>
              <a:rPr lang="en-US"/>
              <a:t>is a unit of program execution that accesses and possibly updates various data items.</a:t>
            </a:r>
          </a:p>
          <a:p>
            <a:pPr marL="0" indent="0">
              <a:buNone/>
            </a:pPr>
            <a:r>
              <a:rPr lang="en-US" b="1" i="1">
                <a:solidFill>
                  <a:schemeClr val="accent1"/>
                </a:solidFill>
              </a:rPr>
              <a:t>   that means                </a:t>
            </a:r>
          </a:p>
          <a:p>
            <a:pPr>
              <a:buFont typeface="Wingdings" panose="05000000000000000000" pitchFamily="2" charset="2"/>
              <a:buChar char="§"/>
            </a:pPr>
            <a:r>
              <a:rPr lang="en-US" b="1"/>
              <a:t>A Transaction: </a:t>
            </a:r>
            <a:r>
              <a:rPr lang="en-US"/>
              <a:t>logical unit of database processing that includes one or more access operations (read -retrieval, write - insert or update, delete). </a:t>
            </a:r>
          </a:p>
          <a:p>
            <a:pPr>
              <a:buFont typeface="Wingdings" panose="05000000000000000000" pitchFamily="2" charset="2"/>
              <a:buChar char="§"/>
            </a:pPr>
            <a:endParaRPr lang="en-US"/>
          </a:p>
        </p:txBody>
      </p:sp>
    </p:spTree>
    <p:extLst>
      <p:ext uri="{BB962C8B-B14F-4D97-AF65-F5344CB8AC3E}">
        <p14:creationId xmlns:p14="http://schemas.microsoft.com/office/powerpoint/2010/main" val="777871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Introduction to Transaction Processing</a:t>
            </a: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b="1"/>
              <a:t>Basic operations are read and write </a:t>
            </a:r>
            <a:r>
              <a:rPr lang="en-US" b="1" err="1">
                <a:solidFill>
                  <a:srgbClr val="FF0000"/>
                </a:solidFill>
              </a:rPr>
              <a:t>read_item</a:t>
            </a:r>
            <a:r>
              <a:rPr lang="en-US" b="1">
                <a:solidFill>
                  <a:srgbClr val="FF0000"/>
                </a:solidFill>
              </a:rPr>
              <a:t>(X):</a:t>
            </a:r>
            <a:r>
              <a:rPr lang="en-US"/>
              <a:t> Reads a database item named X into a program variable.</a:t>
            </a:r>
          </a:p>
          <a:p>
            <a:pPr marL="0" indent="0">
              <a:buNone/>
            </a:pPr>
            <a:endParaRPr lang="en-US"/>
          </a:p>
          <a:p>
            <a:pPr marL="0" indent="0">
              <a:buNone/>
            </a:pPr>
            <a:r>
              <a:rPr lang="en-US" b="1">
                <a:solidFill>
                  <a:srgbClr val="FF0000"/>
                </a:solidFill>
              </a:rPr>
              <a:t>   </a:t>
            </a:r>
            <a:r>
              <a:rPr lang="en-US" b="1" err="1">
                <a:solidFill>
                  <a:srgbClr val="FF0000"/>
                </a:solidFill>
              </a:rPr>
              <a:t>write_item</a:t>
            </a:r>
            <a:r>
              <a:rPr lang="en-US" b="1">
                <a:solidFill>
                  <a:srgbClr val="FF0000"/>
                </a:solidFill>
              </a:rPr>
              <a:t>(X):</a:t>
            </a:r>
            <a:r>
              <a:rPr lang="en-US"/>
              <a:t> Writes the value of program </a:t>
            </a:r>
          </a:p>
          <a:p>
            <a:pPr marL="0" indent="0">
              <a:buNone/>
            </a:pPr>
            <a:r>
              <a:rPr lang="en-US"/>
              <a:t>    variable X into the database item named X.</a:t>
            </a:r>
          </a:p>
        </p:txBody>
      </p:sp>
    </p:spTree>
    <p:extLst>
      <p:ext uri="{BB962C8B-B14F-4D97-AF65-F5344CB8AC3E}">
        <p14:creationId xmlns:p14="http://schemas.microsoft.com/office/powerpoint/2010/main" val="4264338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READ AND WRITE OPERATIONS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t>Basic unit of data transfer from the disk to the computer main memory is </a:t>
            </a:r>
            <a:r>
              <a:rPr lang="en-US" b="1" i="1">
                <a:solidFill>
                  <a:srgbClr val="FF0000"/>
                </a:solidFill>
              </a:rPr>
              <a:t>one block. </a:t>
            </a:r>
          </a:p>
          <a:p>
            <a:pPr>
              <a:buFont typeface="Wingdings" panose="05000000000000000000" pitchFamily="2" charset="2"/>
              <a:buChar char="§"/>
            </a:pPr>
            <a:r>
              <a:rPr lang="en-US"/>
              <a:t>In general, a data item (what is read or written) will be the field of some record in the database, although it may be a larger unit such as a whole block. </a:t>
            </a:r>
          </a:p>
        </p:txBody>
      </p:sp>
    </p:spTree>
    <p:extLst>
      <p:ext uri="{BB962C8B-B14F-4D97-AF65-F5344CB8AC3E}">
        <p14:creationId xmlns:p14="http://schemas.microsoft.com/office/powerpoint/2010/main" val="184208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READ AND WRITE OPERATIONS</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b="1" err="1"/>
              <a:t>read_item</a:t>
            </a:r>
            <a:r>
              <a:rPr lang="en-US" b="1"/>
              <a:t>(X) </a:t>
            </a:r>
            <a:r>
              <a:rPr lang="en-US"/>
              <a:t>command includes the following steps: </a:t>
            </a:r>
          </a:p>
          <a:p>
            <a:pPr marL="514350" indent="-514350">
              <a:buAutoNum type="arabicPeriod"/>
            </a:pPr>
            <a:r>
              <a:rPr lang="en-US"/>
              <a:t>Find the address of the disk block that contains item X. </a:t>
            </a:r>
          </a:p>
          <a:p>
            <a:pPr marL="514350" indent="-514350">
              <a:buAutoNum type="arabicPeriod"/>
            </a:pPr>
            <a:r>
              <a:rPr lang="en-US"/>
              <a:t>Copy that disk block into a buffer in main memory (if that disk block is not already in some main memory buffer). </a:t>
            </a:r>
          </a:p>
          <a:p>
            <a:pPr marL="514350" indent="-514350">
              <a:buAutoNum type="arabicPeriod"/>
            </a:pPr>
            <a:r>
              <a:rPr lang="en-US"/>
              <a:t>Copy item X from the buffer to the program variable named X. </a:t>
            </a:r>
          </a:p>
        </p:txBody>
      </p:sp>
    </p:spTree>
    <p:extLst>
      <p:ext uri="{BB962C8B-B14F-4D97-AF65-F5344CB8AC3E}">
        <p14:creationId xmlns:p14="http://schemas.microsoft.com/office/powerpoint/2010/main" val="95122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READ AND WRITE OPERATIONS</a:t>
            </a:r>
          </a:p>
        </p:txBody>
      </p:sp>
      <p:sp>
        <p:nvSpPr>
          <p:cNvPr id="3" name="Content Placeholder 2"/>
          <p:cNvSpPr>
            <a:spLocks noGrp="1"/>
          </p:cNvSpPr>
          <p:nvPr>
            <p:ph idx="1"/>
          </p:nvPr>
        </p:nvSpPr>
        <p:spPr/>
        <p:txBody>
          <a:bodyPr>
            <a:normAutofit/>
          </a:bodyPr>
          <a:lstStyle/>
          <a:p>
            <a:pPr marL="0" indent="0">
              <a:buNone/>
            </a:pPr>
            <a:r>
              <a:rPr lang="en-US" sz="3800" b="1" err="1"/>
              <a:t>write_item</a:t>
            </a:r>
            <a:r>
              <a:rPr lang="en-US" sz="3800" b="1"/>
              <a:t>(X) command includes the following step</a:t>
            </a:r>
            <a:r>
              <a:rPr lang="en-US"/>
              <a:t>: </a:t>
            </a:r>
          </a:p>
          <a:p>
            <a:pPr marL="0" indent="0">
              <a:buNone/>
            </a:pPr>
            <a:r>
              <a:rPr lang="en-US"/>
              <a:t>Store the updated block from the buffer back to disk (either immediately or at some later point in time). </a:t>
            </a:r>
          </a:p>
        </p:txBody>
      </p:sp>
    </p:spTree>
    <p:extLst>
      <p:ext uri="{BB962C8B-B14F-4D97-AF65-F5344CB8AC3E}">
        <p14:creationId xmlns:p14="http://schemas.microsoft.com/office/powerpoint/2010/main" val="261252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Introduction to Transaction Processing</a:t>
            </a:r>
            <a:endParaRPr lang="en-US"/>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altLang="en-US"/>
              <a:t>E.g. transaction to transfer $50 from account A to account B</a:t>
            </a:r>
          </a:p>
          <a:p>
            <a:pPr lvl="1">
              <a:buFont typeface="Monotype Sorts" charset="2"/>
              <a:buNone/>
            </a:pPr>
            <a:r>
              <a:rPr lang="en-US" altLang="en-US" sz="3200">
                <a:ea typeface="ＭＳ Ｐゴシック" pitchFamily="34" charset="-128"/>
              </a:rPr>
              <a:t>1.	</a:t>
            </a:r>
            <a:r>
              <a:rPr lang="en-US" altLang="en-US" sz="3200" b="1">
                <a:ea typeface="ＭＳ Ｐゴシック" pitchFamily="34" charset="-128"/>
              </a:rPr>
              <a:t>read</a:t>
            </a:r>
            <a:r>
              <a:rPr lang="en-US" altLang="en-US" sz="3200">
                <a:ea typeface="ＭＳ Ｐゴシック" pitchFamily="34" charset="-128"/>
              </a:rPr>
              <a:t>(</a:t>
            </a:r>
            <a:r>
              <a:rPr lang="en-US" altLang="en-US" sz="3200" i="1">
                <a:ea typeface="ＭＳ Ｐゴシック" pitchFamily="34" charset="-128"/>
              </a:rPr>
              <a:t>A</a:t>
            </a:r>
            <a:r>
              <a:rPr lang="en-US" altLang="en-US" sz="3200">
                <a:ea typeface="ＭＳ Ｐゴシック" pitchFamily="34" charset="-128"/>
              </a:rPr>
              <a:t>)</a:t>
            </a:r>
          </a:p>
          <a:p>
            <a:pPr lvl="1">
              <a:buFont typeface="Monotype Sorts" charset="2"/>
              <a:buNone/>
            </a:pPr>
            <a:r>
              <a:rPr lang="en-US" altLang="en-US" sz="3200">
                <a:ea typeface="ＭＳ Ｐゴシック" pitchFamily="34" charset="-128"/>
              </a:rPr>
              <a:t>2.	</a:t>
            </a:r>
            <a:r>
              <a:rPr lang="en-US" altLang="en-US" sz="3200" i="1">
                <a:ea typeface="ＭＳ Ｐゴシック" pitchFamily="34" charset="-128"/>
              </a:rPr>
              <a:t>A</a:t>
            </a:r>
            <a:r>
              <a:rPr lang="en-US" altLang="en-US" sz="3200">
                <a:ea typeface="ＭＳ Ｐゴシック" pitchFamily="34" charset="-128"/>
              </a:rPr>
              <a:t> := </a:t>
            </a:r>
            <a:r>
              <a:rPr lang="en-US" altLang="en-US" sz="3200" i="1">
                <a:ea typeface="ＭＳ Ｐゴシック" pitchFamily="34" charset="-128"/>
              </a:rPr>
              <a:t>A – </a:t>
            </a:r>
            <a:r>
              <a:rPr lang="en-US" altLang="en-US" sz="3200">
                <a:ea typeface="ＭＳ Ｐゴシック" pitchFamily="34" charset="-128"/>
              </a:rPr>
              <a:t>50</a:t>
            </a:r>
          </a:p>
          <a:p>
            <a:pPr lvl="1">
              <a:buFont typeface="Monotype Sorts" charset="2"/>
              <a:buNone/>
            </a:pPr>
            <a:r>
              <a:rPr lang="en-US" altLang="en-US" sz="3200">
                <a:ea typeface="ＭＳ Ｐゴシック" pitchFamily="34" charset="-128"/>
              </a:rPr>
              <a:t>3.	</a:t>
            </a:r>
            <a:r>
              <a:rPr lang="en-US" altLang="en-US" sz="3200" b="1">
                <a:ea typeface="ＭＳ Ｐゴシック" pitchFamily="34" charset="-128"/>
              </a:rPr>
              <a:t>write</a:t>
            </a:r>
            <a:r>
              <a:rPr lang="en-US" altLang="en-US" sz="3200">
                <a:ea typeface="ＭＳ Ｐゴシック" pitchFamily="34" charset="-128"/>
              </a:rPr>
              <a:t>(</a:t>
            </a:r>
            <a:r>
              <a:rPr lang="en-US" altLang="en-US" sz="3200" i="1">
                <a:ea typeface="ＭＳ Ｐゴシック" pitchFamily="34" charset="-128"/>
              </a:rPr>
              <a:t>A</a:t>
            </a:r>
            <a:r>
              <a:rPr lang="en-US" altLang="en-US" sz="3200">
                <a:ea typeface="ＭＳ Ｐゴシック" pitchFamily="34" charset="-128"/>
              </a:rPr>
              <a:t>)</a:t>
            </a:r>
          </a:p>
          <a:p>
            <a:pPr lvl="1">
              <a:buFont typeface="Monotype Sorts" charset="2"/>
              <a:buNone/>
            </a:pPr>
            <a:r>
              <a:rPr lang="en-US" altLang="en-US" sz="3200">
                <a:ea typeface="ＭＳ Ｐゴシック" pitchFamily="34" charset="-128"/>
              </a:rPr>
              <a:t>4.	</a:t>
            </a:r>
            <a:r>
              <a:rPr lang="en-US" altLang="en-US" sz="3200" b="1">
                <a:ea typeface="ＭＳ Ｐゴシック" pitchFamily="34" charset="-128"/>
              </a:rPr>
              <a:t>read</a:t>
            </a:r>
            <a:r>
              <a:rPr lang="en-US" altLang="en-US" sz="3200">
                <a:ea typeface="ＭＳ Ｐゴシック" pitchFamily="34" charset="-128"/>
              </a:rPr>
              <a:t>(</a:t>
            </a:r>
            <a:r>
              <a:rPr lang="en-US" altLang="en-US" sz="3200" i="1">
                <a:ea typeface="ＭＳ Ｐゴシック" pitchFamily="34" charset="-128"/>
              </a:rPr>
              <a:t>B</a:t>
            </a:r>
            <a:r>
              <a:rPr lang="en-US" altLang="en-US" sz="3200">
                <a:ea typeface="ＭＳ Ｐゴシック" pitchFamily="34" charset="-128"/>
              </a:rPr>
              <a:t>)</a:t>
            </a:r>
          </a:p>
          <a:p>
            <a:pPr lvl="1">
              <a:buFont typeface="Monotype Sorts" charset="2"/>
              <a:buNone/>
            </a:pPr>
            <a:r>
              <a:rPr lang="en-US" altLang="en-US" sz="3200">
                <a:ea typeface="ＭＳ Ｐゴシック" pitchFamily="34" charset="-128"/>
              </a:rPr>
              <a:t>5.	</a:t>
            </a:r>
            <a:r>
              <a:rPr lang="en-US" altLang="en-US" sz="3200" i="1">
                <a:ea typeface="ＭＳ Ｐゴシック" pitchFamily="34" charset="-128"/>
              </a:rPr>
              <a:t>B</a:t>
            </a:r>
            <a:r>
              <a:rPr lang="en-US" altLang="en-US" sz="3200">
                <a:ea typeface="ＭＳ Ｐゴシック" pitchFamily="34" charset="-128"/>
              </a:rPr>
              <a:t> := </a:t>
            </a:r>
            <a:r>
              <a:rPr lang="en-US" altLang="en-US" sz="3200" i="1">
                <a:ea typeface="ＭＳ Ｐゴシック" pitchFamily="34" charset="-128"/>
              </a:rPr>
              <a:t>B + </a:t>
            </a:r>
            <a:r>
              <a:rPr lang="en-US" altLang="en-US" sz="3200">
                <a:ea typeface="ＭＳ Ｐゴシック" pitchFamily="34" charset="-128"/>
              </a:rPr>
              <a:t>50</a:t>
            </a:r>
          </a:p>
          <a:p>
            <a:pPr lvl="1">
              <a:buFont typeface="Monotype Sorts" charset="2"/>
              <a:buNone/>
            </a:pPr>
            <a:r>
              <a:rPr lang="en-US" altLang="en-US" sz="3200">
                <a:ea typeface="ＭＳ Ｐゴシック" pitchFamily="34" charset="-128"/>
              </a:rPr>
              <a:t>6.	</a:t>
            </a:r>
            <a:r>
              <a:rPr lang="en-US" altLang="en-US" sz="3200" b="1">
                <a:ea typeface="ＭＳ Ｐゴシック" pitchFamily="34" charset="-128"/>
              </a:rPr>
              <a:t>write</a:t>
            </a:r>
            <a:r>
              <a:rPr lang="en-US" altLang="en-US" sz="3200">
                <a:ea typeface="ＭＳ Ｐゴシック" pitchFamily="34" charset="-128"/>
              </a:rPr>
              <a:t>(</a:t>
            </a:r>
            <a:r>
              <a:rPr lang="en-US" altLang="en-US" sz="3200" i="1">
                <a:ea typeface="ＭＳ Ｐゴシック" pitchFamily="34" charset="-128"/>
              </a:rPr>
              <a:t>B)</a:t>
            </a:r>
            <a:endParaRPr lang="en-US" altLang="en-US" sz="3200">
              <a:ea typeface="ＭＳ Ｐゴシック" pitchFamily="34" charset="-128"/>
            </a:endParaRPr>
          </a:p>
          <a:p>
            <a:pPr>
              <a:buFont typeface="Wingdings" panose="05000000000000000000" pitchFamily="2" charset="2"/>
              <a:buChar char="§"/>
            </a:pPr>
            <a:endParaRPr lang="en-US"/>
          </a:p>
        </p:txBody>
      </p:sp>
    </p:spTree>
    <p:extLst>
      <p:ext uri="{BB962C8B-B14F-4D97-AF65-F5344CB8AC3E}">
        <p14:creationId xmlns:p14="http://schemas.microsoft.com/office/powerpoint/2010/main" val="2247078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Introduction to Transaction Processing</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a:t>A transaction (set of operations) may be standalone specified in a high level language like SQL submitted interactively, or may be embedded within a program. </a:t>
            </a:r>
          </a:p>
          <a:p>
            <a:pPr>
              <a:buFont typeface="Wingdings" panose="05000000000000000000" pitchFamily="2" charset="2"/>
              <a:buChar char="§"/>
            </a:pPr>
            <a:r>
              <a:rPr lang="en-US" b="1"/>
              <a:t>Transaction boundaries:</a:t>
            </a:r>
            <a:r>
              <a:rPr lang="en-US"/>
              <a:t> Begin and End transaction. </a:t>
            </a:r>
          </a:p>
          <a:p>
            <a:pPr>
              <a:buFont typeface="Wingdings" panose="05000000000000000000" pitchFamily="2" charset="2"/>
              <a:buChar char="§"/>
            </a:pPr>
            <a:r>
              <a:rPr lang="en-US"/>
              <a:t>An application program may contain several transactions separated by the Begin and End transaction boundaries.</a:t>
            </a:r>
          </a:p>
        </p:txBody>
      </p:sp>
    </p:spTree>
    <p:extLst>
      <p:ext uri="{BB962C8B-B14F-4D97-AF65-F5344CB8AC3E}">
        <p14:creationId xmlns:p14="http://schemas.microsoft.com/office/powerpoint/2010/main" val="939345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Introduction to Transaction Processing</a:t>
            </a:r>
            <a:endParaRPr lang="en-US"/>
          </a:p>
        </p:txBody>
      </p:sp>
      <p:sp>
        <p:nvSpPr>
          <p:cNvPr id="3" name="Content Placeholder 2"/>
          <p:cNvSpPr>
            <a:spLocks noGrp="1"/>
          </p:cNvSpPr>
          <p:nvPr>
            <p:ph idx="1"/>
          </p:nvPr>
        </p:nvSpPr>
        <p:spPr/>
        <p:txBody>
          <a:bodyPr/>
          <a:lstStyle/>
          <a:p>
            <a:pPr marL="0" indent="0">
              <a:buNone/>
            </a:pPr>
            <a:r>
              <a:rPr lang="en-US" b="1"/>
              <a:t>Two main issues to deal with</a:t>
            </a:r>
          </a:p>
          <a:p>
            <a:pPr>
              <a:buFont typeface="Wingdings" panose="05000000000000000000" pitchFamily="2" charset="2"/>
              <a:buChar char="§"/>
            </a:pPr>
            <a:r>
              <a:rPr lang="en-US"/>
              <a:t>Failures of various kinds, such as hardware failures and system crashes </a:t>
            </a:r>
          </a:p>
          <a:p>
            <a:pPr>
              <a:buFont typeface="Wingdings" panose="05000000000000000000" pitchFamily="2" charset="2"/>
              <a:buChar char="§"/>
            </a:pPr>
            <a:r>
              <a:rPr lang="en-US"/>
              <a:t>Concurrent execution of multiple transactions</a:t>
            </a:r>
          </a:p>
        </p:txBody>
      </p:sp>
    </p:spTree>
    <p:extLst>
      <p:ext uri="{BB962C8B-B14F-4D97-AF65-F5344CB8AC3E}">
        <p14:creationId xmlns:p14="http://schemas.microsoft.com/office/powerpoint/2010/main" val="2140669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A transaction is an atomic unit of work that is either completed in its entirety or not done at all. </a:t>
            </a:r>
          </a:p>
          <a:p>
            <a:pPr>
              <a:buFont typeface="Wingdings" panose="05000000000000000000" pitchFamily="2" charset="2"/>
              <a:buChar char="§"/>
            </a:pPr>
            <a:r>
              <a:rPr lang="en-US"/>
              <a:t>For recovery purposes, the system needs to keep track of when the transaction starts, terminates, and commits or aborts.</a:t>
            </a:r>
          </a:p>
        </p:txBody>
      </p:sp>
    </p:spTree>
    <p:extLst>
      <p:ext uri="{BB962C8B-B14F-4D97-AF65-F5344CB8AC3E}">
        <p14:creationId xmlns:p14="http://schemas.microsoft.com/office/powerpoint/2010/main" val="4079261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Active state </a:t>
            </a:r>
          </a:p>
          <a:p>
            <a:pPr>
              <a:buFont typeface="Wingdings" panose="05000000000000000000" pitchFamily="2" charset="2"/>
              <a:buChar char="§"/>
            </a:pPr>
            <a:r>
              <a:rPr lang="en-US"/>
              <a:t> Partially committed state </a:t>
            </a:r>
          </a:p>
          <a:p>
            <a:pPr>
              <a:buFont typeface="Wingdings" panose="05000000000000000000" pitchFamily="2" charset="2"/>
              <a:buChar char="§"/>
            </a:pPr>
            <a:r>
              <a:rPr lang="en-US"/>
              <a:t>Committed state </a:t>
            </a:r>
          </a:p>
          <a:p>
            <a:pPr>
              <a:buFont typeface="Wingdings" panose="05000000000000000000" pitchFamily="2" charset="2"/>
              <a:buChar char="§"/>
            </a:pPr>
            <a:r>
              <a:rPr lang="en-US"/>
              <a:t> Failed state </a:t>
            </a:r>
          </a:p>
          <a:p>
            <a:pPr>
              <a:buFont typeface="Wingdings" panose="05000000000000000000" pitchFamily="2" charset="2"/>
              <a:buChar char="§"/>
            </a:pPr>
            <a:r>
              <a:rPr lang="en-US"/>
              <a:t>Terminated State</a:t>
            </a:r>
          </a:p>
        </p:txBody>
      </p:sp>
    </p:spTree>
    <p:extLst>
      <p:ext uri="{BB962C8B-B14F-4D97-AF65-F5344CB8AC3E}">
        <p14:creationId xmlns:p14="http://schemas.microsoft.com/office/powerpoint/2010/main" val="669506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pic>
        <p:nvPicPr>
          <p:cNvPr id="2050" name="Picture 2" descr="acid properties of database | Gate Vidyal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2296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374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lstStyle/>
          <a:p>
            <a:pPr marL="0" indent="0">
              <a:buNone/>
            </a:pPr>
            <a:r>
              <a:rPr lang="en-US" b="1"/>
              <a:t>Active State</a:t>
            </a:r>
          </a:p>
          <a:p>
            <a:pPr>
              <a:buFont typeface="Wingdings" panose="05000000000000000000" pitchFamily="2" charset="2"/>
              <a:buChar char="§"/>
            </a:pPr>
            <a:r>
              <a:rPr lang="en-US"/>
              <a:t>A transaction is a sequence of operations. If a transaction is in execution then it is said to be in active state. </a:t>
            </a:r>
          </a:p>
          <a:p>
            <a:pPr>
              <a:buFont typeface="Wingdings" panose="05000000000000000000" pitchFamily="2" charset="2"/>
              <a:buChar char="§"/>
            </a:pPr>
            <a:r>
              <a:rPr lang="en-US"/>
              <a:t>It doesn’t matter which step is in execution, until unless the transaction is executing, it remains in active state.</a:t>
            </a:r>
          </a:p>
          <a:p>
            <a:pPr>
              <a:buFont typeface="Wingdings" panose="05000000000000000000" pitchFamily="2" charset="2"/>
              <a:buChar char="§"/>
            </a:pPr>
            <a:endParaRPr lang="en-US"/>
          </a:p>
        </p:txBody>
      </p:sp>
    </p:spTree>
    <p:extLst>
      <p:ext uri="{BB962C8B-B14F-4D97-AF65-F5344CB8AC3E}">
        <p14:creationId xmlns:p14="http://schemas.microsoft.com/office/powerpoint/2010/main" val="1694186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b="1"/>
              <a:t>Partially Committed State</a:t>
            </a:r>
          </a:p>
          <a:p>
            <a:pPr>
              <a:buFont typeface="Wingdings" panose="05000000000000000000" pitchFamily="2" charset="2"/>
              <a:buChar char="§"/>
            </a:pPr>
            <a:r>
              <a:rPr lang="en-US"/>
              <a:t>From an active state  transaction goes into “</a:t>
            </a:r>
            <a:r>
              <a:rPr lang="en-US" b="1">
                <a:solidFill>
                  <a:schemeClr val="tx2">
                    <a:lumMod val="40000"/>
                    <a:lumOff val="60000"/>
                  </a:schemeClr>
                </a:solidFill>
              </a:rPr>
              <a:t>partially committed</a:t>
            </a:r>
            <a:r>
              <a:rPr lang="en-US"/>
              <a:t>”  state when there are read and write operations present in the transaction.</a:t>
            </a:r>
          </a:p>
          <a:p>
            <a:pPr>
              <a:buFont typeface="Wingdings" panose="05000000000000000000" pitchFamily="2" charset="2"/>
              <a:buChar char="§"/>
            </a:pPr>
            <a:r>
              <a:rPr lang="en-US"/>
              <a:t>A transaction contains number of read and write operations. Once the whole transaction is successfully executed, the transaction goes into partially committed state where we have all the read and write operations performed on the main memory (local memory) instead of the actual database.</a:t>
            </a:r>
          </a:p>
        </p:txBody>
      </p:sp>
    </p:spTree>
    <p:extLst>
      <p:ext uri="{BB962C8B-B14F-4D97-AF65-F5344CB8AC3E}">
        <p14:creationId xmlns:p14="http://schemas.microsoft.com/office/powerpoint/2010/main" val="3855431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t>A transaction can fail during execution so if we are making the changes in the actual database instead of local memory, database may be left in an inconsistent state in case of any failure. </a:t>
            </a:r>
          </a:p>
          <a:p>
            <a:pPr>
              <a:buFont typeface="Wingdings" panose="05000000000000000000" pitchFamily="2" charset="2"/>
              <a:buChar char="§"/>
            </a:pPr>
            <a:r>
              <a:rPr lang="en-US" b="1"/>
              <a:t>This state helps us to rollback the changes made to the database in case of a failure during execution.</a:t>
            </a:r>
            <a:endParaRPr lang="en-US"/>
          </a:p>
        </p:txBody>
      </p:sp>
    </p:spTree>
    <p:extLst>
      <p:ext uri="{BB962C8B-B14F-4D97-AF65-F5344CB8AC3E}">
        <p14:creationId xmlns:p14="http://schemas.microsoft.com/office/powerpoint/2010/main" val="4043188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lstStyle/>
          <a:p>
            <a:pPr marL="0" indent="0">
              <a:buNone/>
            </a:pPr>
            <a:r>
              <a:rPr lang="en-US" b="1"/>
              <a:t>Failed State</a:t>
            </a:r>
          </a:p>
          <a:p>
            <a:pPr>
              <a:buFont typeface="Wingdings" panose="05000000000000000000" pitchFamily="2" charset="2"/>
              <a:buChar char="§"/>
            </a:pPr>
            <a:r>
              <a:rPr lang="en-US"/>
              <a:t>If a transaction is executing and a failure occurs, either a hardware failure or a software failure then the transaction goes into failed state from the active state.</a:t>
            </a:r>
          </a:p>
          <a:p>
            <a:pPr>
              <a:buFont typeface="Wingdings" panose="05000000000000000000" pitchFamily="2" charset="2"/>
              <a:buChar char="§"/>
            </a:pPr>
            <a:endParaRPr lang="en-US"/>
          </a:p>
        </p:txBody>
      </p:sp>
    </p:spTree>
    <p:extLst>
      <p:ext uri="{BB962C8B-B14F-4D97-AF65-F5344CB8AC3E}">
        <p14:creationId xmlns:p14="http://schemas.microsoft.com/office/powerpoint/2010/main" val="4221643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normAutofit lnSpcReduction="10000"/>
          </a:bodyPr>
          <a:lstStyle/>
          <a:p>
            <a:pPr marL="0" indent="0">
              <a:buNone/>
            </a:pPr>
            <a:r>
              <a:rPr lang="en-US" b="1"/>
              <a:t>Committed State</a:t>
            </a:r>
          </a:p>
          <a:p>
            <a:pPr>
              <a:buFont typeface="Wingdings" panose="05000000000000000000" pitchFamily="2" charset="2"/>
              <a:buChar char="§"/>
            </a:pPr>
            <a:r>
              <a:rPr lang="en-US"/>
              <a:t>If a transaction completes the execution successfully then all the changes made in the local memory during </a:t>
            </a:r>
            <a:r>
              <a:rPr lang="en-US" b="1"/>
              <a:t>partially committed</a:t>
            </a:r>
            <a:r>
              <a:rPr lang="en-US"/>
              <a:t> state are permanently stored in the database. </a:t>
            </a:r>
          </a:p>
          <a:p>
            <a:pPr>
              <a:buFont typeface="Wingdings" panose="05000000000000000000" pitchFamily="2" charset="2"/>
              <a:buChar char="§"/>
            </a:pPr>
            <a:r>
              <a:rPr lang="en-US"/>
              <a:t>A transaction goes from partially committed state to committed state when everything is successful.</a:t>
            </a:r>
          </a:p>
          <a:p>
            <a:endParaRPr lang="en-US"/>
          </a:p>
        </p:txBody>
      </p:sp>
    </p:spTree>
    <p:extLst>
      <p:ext uri="{BB962C8B-B14F-4D97-AF65-F5344CB8AC3E}">
        <p14:creationId xmlns:p14="http://schemas.microsoft.com/office/powerpoint/2010/main" val="3006270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Transaction State</a:t>
            </a:r>
            <a:endParaRPr lang="en-US"/>
          </a:p>
        </p:txBody>
      </p:sp>
      <p:sp>
        <p:nvSpPr>
          <p:cNvPr id="3" name="Content Placeholder 2"/>
          <p:cNvSpPr>
            <a:spLocks noGrp="1"/>
          </p:cNvSpPr>
          <p:nvPr>
            <p:ph idx="1"/>
          </p:nvPr>
        </p:nvSpPr>
        <p:spPr/>
        <p:txBody>
          <a:bodyPr>
            <a:normAutofit/>
          </a:bodyPr>
          <a:lstStyle/>
          <a:p>
            <a:pPr marL="0" indent="0">
              <a:buNone/>
            </a:pPr>
            <a:r>
              <a:rPr lang="en-US" b="1"/>
              <a:t>Aborted State</a:t>
            </a:r>
          </a:p>
          <a:p>
            <a:r>
              <a:rPr lang="en-US"/>
              <a:t>If a transaction fails during execution then the transaction goes into a failed state. </a:t>
            </a:r>
          </a:p>
          <a:p>
            <a:r>
              <a:rPr lang="en-US"/>
              <a:t>The changes made into the local memory (or buffer) are rolled back to the previous consistent state and the transaction goes into aborted state from the failed state. </a:t>
            </a:r>
          </a:p>
        </p:txBody>
      </p:sp>
    </p:spTree>
    <p:extLst>
      <p:ext uri="{BB962C8B-B14F-4D97-AF65-F5344CB8AC3E}">
        <p14:creationId xmlns:p14="http://schemas.microsoft.com/office/powerpoint/2010/main" val="1152158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1143000"/>
          </a:xfrm>
        </p:spPr>
        <p:txBody>
          <a:bodyPr>
            <a:normAutofit fontScale="90000"/>
          </a:bodyPr>
          <a:lstStyle/>
          <a:p>
            <a:r>
              <a:rPr lang="en-US" b="1" u="sng"/>
              <a:t>A</a:t>
            </a:r>
            <a:r>
              <a:rPr lang="en-US" altLang="en-US" b="1">
                <a:solidFill>
                  <a:srgbClr val="000099"/>
                </a:solidFill>
              </a:rPr>
              <a:t>tomicity </a:t>
            </a:r>
            <a:r>
              <a:rPr lang="en-US" b="1" u="sng"/>
              <a:t>C</a:t>
            </a:r>
            <a:r>
              <a:rPr lang="en-US" altLang="en-US" b="1">
                <a:solidFill>
                  <a:srgbClr val="000099"/>
                </a:solidFill>
              </a:rPr>
              <a:t>onsistency </a:t>
            </a:r>
            <a:r>
              <a:rPr lang="en-US" b="1" u="sng"/>
              <a:t>I</a:t>
            </a:r>
            <a:r>
              <a:rPr lang="en-US" altLang="en-US" b="1">
                <a:solidFill>
                  <a:srgbClr val="000099"/>
                </a:solidFill>
              </a:rPr>
              <a:t>solation </a:t>
            </a:r>
            <a:r>
              <a:rPr lang="en-US" b="1" u="sng"/>
              <a:t>D</a:t>
            </a:r>
            <a:r>
              <a:rPr lang="en-US" altLang="en-US" b="1">
                <a:solidFill>
                  <a:srgbClr val="000099"/>
                </a:solidFill>
              </a:rPr>
              <a:t>urability</a:t>
            </a:r>
            <a:r>
              <a:rPr lang="en-US" b="1"/>
              <a:t> Properties</a:t>
            </a:r>
            <a:endParaRPr lang="en-US"/>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pPr marL="0" indent="0">
              <a:buNone/>
            </a:pPr>
            <a:r>
              <a:rPr lang="en-US" altLang="en-US"/>
              <a:t>To preserve the integrity of data the database system must ensure ACID Properties</a:t>
            </a:r>
          </a:p>
          <a:p>
            <a:pPr>
              <a:buFont typeface="Wingdings" panose="05000000000000000000" pitchFamily="2" charset="2"/>
              <a:buChar char="§"/>
            </a:pPr>
            <a:r>
              <a:rPr lang="en-US" altLang="en-US" b="1">
                <a:solidFill>
                  <a:srgbClr val="000099"/>
                </a:solidFill>
              </a:rPr>
              <a:t>Atomicity</a:t>
            </a:r>
            <a:r>
              <a:rPr lang="en-US" altLang="en-US" b="1"/>
              <a:t>:</a:t>
            </a:r>
            <a:r>
              <a:rPr lang="en-US" altLang="en-US"/>
              <a:t> Either </a:t>
            </a:r>
            <a:r>
              <a:rPr lang="en-US" altLang="en-US" b="1"/>
              <a:t>all</a:t>
            </a:r>
            <a:r>
              <a:rPr lang="en-US" altLang="en-US"/>
              <a:t> operations of the transaction are properly reflected in the database </a:t>
            </a:r>
            <a:r>
              <a:rPr lang="en-US" altLang="en-US" b="1"/>
              <a:t>or none are</a:t>
            </a:r>
            <a:r>
              <a:rPr lang="en-US" altLang="en-US"/>
              <a:t>.</a:t>
            </a:r>
            <a:endParaRPr lang="en-US" altLang="en-US">
              <a:cs typeface="Calibri"/>
            </a:endParaRPr>
          </a:p>
          <a:p>
            <a:pPr>
              <a:buFont typeface="Wingdings" panose="05000000000000000000" pitchFamily="2" charset="2"/>
              <a:buChar char="§"/>
            </a:pPr>
            <a:r>
              <a:rPr lang="en-US" altLang="en-US" b="1">
                <a:solidFill>
                  <a:srgbClr val="000099"/>
                </a:solidFill>
              </a:rPr>
              <a:t>Consistency</a:t>
            </a:r>
            <a:r>
              <a:rPr lang="en-US" altLang="en-US" b="1"/>
              <a:t>:</a:t>
            </a:r>
            <a:r>
              <a:rPr lang="en-US" altLang="en-US"/>
              <a:t> Execution of a transaction in isolation </a:t>
            </a:r>
            <a:r>
              <a:rPr lang="en-US" altLang="en-US" b="1"/>
              <a:t>preserves the consistency</a:t>
            </a:r>
            <a:r>
              <a:rPr lang="en-US" altLang="en-US"/>
              <a:t> of the database.</a:t>
            </a:r>
            <a:r>
              <a:rPr lang="en-US" altLang="en-US">
                <a:ea typeface="+mn-lt"/>
                <a:cs typeface="+mn-lt"/>
              </a:rPr>
              <a:t> </a:t>
            </a:r>
            <a:r>
              <a:rPr lang="en-US">
                <a:ea typeface="+mn-lt"/>
                <a:cs typeface="+mn-lt"/>
              </a:rPr>
              <a:t>This means that integrity constraints must be maintained so that the database is consistent before and after the transaction. It refers to the correctness of a database</a:t>
            </a:r>
          </a:p>
        </p:txBody>
      </p:sp>
    </p:spTree>
    <p:extLst>
      <p:ext uri="{BB962C8B-B14F-4D97-AF65-F5344CB8AC3E}">
        <p14:creationId xmlns:p14="http://schemas.microsoft.com/office/powerpoint/2010/main" val="3226720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ACID Properties</a:t>
            </a:r>
            <a:endParaRPr lang="en-US"/>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
            </a:pPr>
            <a:r>
              <a:rPr lang="en-US" altLang="en-US" b="1">
                <a:solidFill>
                  <a:srgbClr val="000099"/>
                </a:solidFill>
              </a:rPr>
              <a:t>Isolation</a:t>
            </a:r>
            <a:r>
              <a:rPr lang="en-US" altLang="en-US" b="1"/>
              <a:t>:</a:t>
            </a:r>
            <a:r>
              <a:rPr lang="en-US" altLang="en-US"/>
              <a:t> Although multiple transactions may execute concurrently, each </a:t>
            </a:r>
            <a:r>
              <a:rPr lang="en-US" altLang="en-US" b="1"/>
              <a:t>transaction </a:t>
            </a:r>
            <a:r>
              <a:rPr lang="en-US" altLang="en-US"/>
              <a:t>must be </a:t>
            </a:r>
            <a:r>
              <a:rPr lang="en-US" altLang="en-US" b="1"/>
              <a:t>unaware</a:t>
            </a:r>
            <a:r>
              <a:rPr lang="en-US" altLang="en-US"/>
              <a:t> </a:t>
            </a:r>
            <a:r>
              <a:rPr lang="en-US" altLang="en-US" b="1"/>
              <a:t>of </a:t>
            </a:r>
            <a:r>
              <a:rPr lang="en-US" altLang="en-US"/>
              <a:t>other </a:t>
            </a:r>
            <a:r>
              <a:rPr lang="en-US" altLang="en-US" b="1"/>
              <a:t>concurrently executing transactions</a:t>
            </a:r>
            <a:r>
              <a:rPr lang="en-US" altLang="en-US"/>
              <a:t>.  </a:t>
            </a:r>
          </a:p>
          <a:p>
            <a:pPr>
              <a:buFont typeface="Wingdings" panose="05000000000000000000" pitchFamily="2" charset="2"/>
              <a:buChar char="§"/>
            </a:pPr>
            <a:r>
              <a:rPr lang="en-US" altLang="en-US"/>
              <a:t>Intermediate transaction results must be hidden from other concurrently executed transactions.  </a:t>
            </a:r>
          </a:p>
          <a:p>
            <a:pPr lvl="1">
              <a:buFont typeface="Wingdings" panose="05000000000000000000" pitchFamily="2" charset="2"/>
              <a:buChar char="§"/>
            </a:pPr>
            <a:r>
              <a:rPr lang="en-US" altLang="en-US">
                <a:ea typeface="ＭＳ Ｐゴシック" pitchFamily="34" charset="-128"/>
              </a:rPr>
              <a:t>That is, for every pair of transactions </a:t>
            </a:r>
            <a:r>
              <a:rPr lang="en-US" altLang="en-US" i="1">
                <a:solidFill>
                  <a:srgbClr val="FF0000"/>
                </a:solidFill>
                <a:ea typeface="ＭＳ Ｐゴシック" pitchFamily="34" charset="-128"/>
              </a:rPr>
              <a:t>T</a:t>
            </a:r>
            <a:r>
              <a:rPr lang="en-US" altLang="en-US" i="1" baseline="-25000">
                <a:solidFill>
                  <a:srgbClr val="FF0000"/>
                </a:solidFill>
                <a:ea typeface="ＭＳ Ｐゴシック" pitchFamily="34" charset="-128"/>
              </a:rPr>
              <a:t>i</a:t>
            </a:r>
            <a:r>
              <a:rPr lang="en-US" altLang="en-US" i="1">
                <a:solidFill>
                  <a:srgbClr val="FF0000"/>
                </a:solidFill>
                <a:ea typeface="ＭＳ Ｐゴシック" pitchFamily="34" charset="-128"/>
              </a:rPr>
              <a:t> </a:t>
            </a:r>
            <a:r>
              <a:rPr lang="en-US" altLang="en-US">
                <a:ea typeface="ＭＳ Ｐゴシック" pitchFamily="34" charset="-128"/>
              </a:rPr>
              <a:t>and </a:t>
            </a:r>
            <a:r>
              <a:rPr lang="en-US" altLang="en-US" i="1">
                <a:solidFill>
                  <a:srgbClr val="FF0000"/>
                </a:solidFill>
                <a:ea typeface="ＭＳ Ｐゴシック" pitchFamily="34" charset="-128"/>
              </a:rPr>
              <a:t>T</a:t>
            </a:r>
            <a:r>
              <a:rPr lang="en-US" altLang="en-US" i="1" baseline="-25000">
                <a:solidFill>
                  <a:srgbClr val="FF0000"/>
                </a:solidFill>
                <a:ea typeface="ＭＳ Ｐゴシック" pitchFamily="34" charset="-128"/>
              </a:rPr>
              <a:t>j</a:t>
            </a:r>
            <a:r>
              <a:rPr lang="en-US" altLang="en-US" i="1">
                <a:solidFill>
                  <a:schemeClr val="tx2"/>
                </a:solidFill>
                <a:ea typeface="ＭＳ Ｐゴシック" pitchFamily="34" charset="-128"/>
              </a:rPr>
              <a:t> ,</a:t>
            </a:r>
            <a:r>
              <a:rPr lang="en-US" altLang="en-US" i="1">
                <a:ea typeface="ＭＳ Ｐゴシック" pitchFamily="34" charset="-128"/>
              </a:rPr>
              <a:t> </a:t>
            </a:r>
            <a:r>
              <a:rPr lang="en-US" altLang="en-US">
                <a:ea typeface="ＭＳ Ｐゴシック" pitchFamily="34" charset="-128"/>
              </a:rPr>
              <a:t>it appears to </a:t>
            </a:r>
            <a:r>
              <a:rPr lang="en-US" altLang="en-US" i="1">
                <a:ea typeface="ＭＳ Ｐゴシック" pitchFamily="34" charset="-128"/>
              </a:rPr>
              <a:t>T</a:t>
            </a:r>
            <a:r>
              <a:rPr lang="en-US" altLang="en-US" i="1" baseline="-25000">
                <a:ea typeface="ＭＳ Ｐゴシック" pitchFamily="34" charset="-128"/>
              </a:rPr>
              <a:t>i</a:t>
            </a:r>
            <a:r>
              <a:rPr lang="en-US" altLang="en-US" i="1">
                <a:ea typeface="ＭＳ Ｐゴシック" pitchFamily="34" charset="-128"/>
              </a:rPr>
              <a:t> </a:t>
            </a:r>
            <a:r>
              <a:rPr lang="en-US" altLang="en-US">
                <a:ea typeface="ＭＳ Ｐゴシック" pitchFamily="34" charset="-128"/>
              </a:rPr>
              <a:t>that either </a:t>
            </a:r>
            <a:r>
              <a:rPr lang="en-US" altLang="en-US" i="1">
                <a:ea typeface="ＭＳ Ｐゴシック" pitchFamily="34" charset="-128"/>
              </a:rPr>
              <a:t>T</a:t>
            </a:r>
            <a:r>
              <a:rPr lang="en-US" altLang="en-US" i="1" baseline="-25000">
                <a:ea typeface="ＭＳ Ｐゴシック" pitchFamily="34" charset="-128"/>
              </a:rPr>
              <a:t>j</a:t>
            </a:r>
            <a:r>
              <a:rPr lang="en-US" altLang="en-US" i="1">
                <a:ea typeface="ＭＳ Ｐゴシック" pitchFamily="34" charset="-128"/>
              </a:rPr>
              <a:t>, </a:t>
            </a:r>
            <a:r>
              <a:rPr lang="en-US" altLang="en-US">
                <a:ea typeface="ＭＳ Ｐゴシック" pitchFamily="34" charset="-128"/>
              </a:rPr>
              <a:t>finished execution before </a:t>
            </a:r>
            <a:r>
              <a:rPr lang="en-US" altLang="en-US" i="1">
                <a:ea typeface="ＭＳ Ｐゴシック" pitchFamily="34" charset="-128"/>
              </a:rPr>
              <a:t>T</a:t>
            </a:r>
            <a:r>
              <a:rPr lang="en-US" altLang="en-US" i="1" baseline="-25000">
                <a:ea typeface="ＭＳ Ｐゴシック" pitchFamily="34" charset="-128"/>
              </a:rPr>
              <a:t>i</a:t>
            </a:r>
            <a:r>
              <a:rPr lang="en-US" altLang="en-US">
                <a:ea typeface="ＭＳ Ｐゴシック" pitchFamily="34" charset="-128"/>
              </a:rPr>
              <a:t> started, or </a:t>
            </a:r>
            <a:r>
              <a:rPr lang="en-US" altLang="en-US" i="1">
                <a:ea typeface="ＭＳ Ｐゴシック" pitchFamily="34" charset="-128"/>
              </a:rPr>
              <a:t>T</a:t>
            </a:r>
            <a:r>
              <a:rPr lang="en-US" altLang="en-US" i="1" baseline="-25000">
                <a:ea typeface="ＭＳ Ｐゴシック" pitchFamily="34" charset="-128"/>
              </a:rPr>
              <a:t>j</a:t>
            </a:r>
            <a:r>
              <a:rPr lang="en-US" altLang="en-US">
                <a:ea typeface="ＭＳ Ｐゴシック" pitchFamily="34" charset="-128"/>
              </a:rPr>
              <a:t> started execution after </a:t>
            </a:r>
            <a:r>
              <a:rPr lang="en-US" altLang="en-US" i="1">
                <a:ea typeface="ＭＳ Ｐゴシック" pitchFamily="34" charset="-128"/>
              </a:rPr>
              <a:t>T</a:t>
            </a:r>
            <a:r>
              <a:rPr lang="en-US" altLang="en-US" i="1" baseline="-25000">
                <a:ea typeface="ＭＳ Ｐゴシック" pitchFamily="34" charset="-128"/>
              </a:rPr>
              <a:t>i</a:t>
            </a:r>
            <a:r>
              <a:rPr lang="en-US" altLang="en-US">
                <a:ea typeface="ＭＳ Ｐゴシック" pitchFamily="34" charset="-128"/>
              </a:rPr>
              <a:t> finished.</a:t>
            </a:r>
          </a:p>
          <a:p>
            <a:pPr>
              <a:buFont typeface="Wingdings" panose="05000000000000000000" pitchFamily="2" charset="2"/>
              <a:buChar char="§"/>
            </a:pPr>
            <a:endParaRPr lang="en-US"/>
          </a:p>
        </p:txBody>
      </p:sp>
    </p:spTree>
    <p:extLst>
      <p:ext uri="{BB962C8B-B14F-4D97-AF65-F5344CB8AC3E}">
        <p14:creationId xmlns:p14="http://schemas.microsoft.com/office/powerpoint/2010/main" val="2293815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ACID Properties</a:t>
            </a:r>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b="1">
                <a:solidFill>
                  <a:srgbClr val="000099"/>
                </a:solidFill>
              </a:rPr>
              <a:t>Durability</a:t>
            </a:r>
            <a:r>
              <a:rPr lang="en-US" altLang="en-US" b="1"/>
              <a:t> :  </a:t>
            </a:r>
            <a:r>
              <a:rPr lang="en-US" altLang="en-US"/>
              <a:t>After a transaction completes successfully, the changes it has made to the database </a:t>
            </a:r>
            <a:r>
              <a:rPr lang="en-US" altLang="en-US" b="1"/>
              <a:t>persist</a:t>
            </a:r>
            <a:r>
              <a:rPr lang="en-US" altLang="en-US"/>
              <a:t>, even if there are system failures. </a:t>
            </a:r>
            <a:endParaRPr lang="en-US" altLang="en-US" i="1"/>
          </a:p>
          <a:p>
            <a:pPr>
              <a:buFont typeface="Wingdings" panose="05000000000000000000" pitchFamily="2" charset="2"/>
              <a:buChar char="§"/>
            </a:pPr>
            <a:endParaRPr lang="en-US" altLang="en-US"/>
          </a:p>
          <a:p>
            <a:pPr>
              <a:buFont typeface="Wingdings" panose="05000000000000000000" pitchFamily="2" charset="2"/>
              <a:buChar char="§"/>
            </a:pPr>
            <a:endParaRPr lang="en-US"/>
          </a:p>
        </p:txBody>
      </p:sp>
    </p:spTree>
    <p:extLst>
      <p:ext uri="{BB962C8B-B14F-4D97-AF65-F5344CB8AC3E}">
        <p14:creationId xmlns:p14="http://schemas.microsoft.com/office/powerpoint/2010/main" val="511113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Operations</a:t>
            </a:r>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
            </a:pPr>
            <a:r>
              <a:rPr lang="en-US" b="1" err="1">
                <a:solidFill>
                  <a:srgbClr val="FF0000"/>
                </a:solidFill>
              </a:rPr>
              <a:t>commit_transaction</a:t>
            </a:r>
            <a:r>
              <a:rPr lang="en-US" b="1">
                <a:solidFill>
                  <a:srgbClr val="FF0000"/>
                </a:solidFill>
              </a:rPr>
              <a:t>:</a:t>
            </a:r>
            <a:r>
              <a:rPr lang="en-US" b="1"/>
              <a:t> </a:t>
            </a:r>
            <a:r>
              <a:rPr lang="en-US"/>
              <a:t>This signals a successful end of the transaction so that any changes (updates) executed by the transaction can be safely committed to the database and will not be undone. </a:t>
            </a:r>
          </a:p>
          <a:p>
            <a:pPr>
              <a:buFont typeface="Wingdings" panose="05000000000000000000" pitchFamily="2" charset="2"/>
              <a:buChar char="§"/>
            </a:pPr>
            <a:r>
              <a:rPr lang="en-US" b="1">
                <a:solidFill>
                  <a:srgbClr val="FF0000"/>
                </a:solidFill>
              </a:rPr>
              <a:t>rollback (or abort): </a:t>
            </a:r>
            <a:r>
              <a:rPr lang="en-US"/>
              <a:t>This signals that the transaction has ended unsuccessfully, so that any changes or effects that the transaction may have applied to the database must be undone.</a:t>
            </a:r>
          </a:p>
        </p:txBody>
      </p:sp>
    </p:spTree>
    <p:extLst>
      <p:ext uri="{BB962C8B-B14F-4D97-AF65-F5344CB8AC3E}">
        <p14:creationId xmlns:p14="http://schemas.microsoft.com/office/powerpoint/2010/main" val="4231610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Example of Fund Transfer</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sz="2800"/>
              <a:t>Transaction to transfer $50 from account A to account B:</a:t>
            </a:r>
          </a:p>
          <a:p>
            <a:pPr marL="457200" lvl="1" indent="0">
              <a:buNone/>
            </a:pPr>
            <a:r>
              <a:rPr lang="en-US" altLang="en-US">
                <a:ea typeface="ＭＳ Ｐゴシック" pitchFamily="34" charset="-128"/>
              </a:rPr>
              <a:t>1.	</a:t>
            </a:r>
            <a:r>
              <a:rPr lang="en-US" altLang="en-US" b="1">
                <a:ea typeface="ＭＳ Ｐゴシック" pitchFamily="34" charset="-128"/>
              </a:rPr>
              <a:t>read</a:t>
            </a:r>
            <a:r>
              <a:rPr lang="en-US" altLang="en-US">
                <a:ea typeface="ＭＳ Ｐゴシック" pitchFamily="34" charset="-128"/>
              </a:rPr>
              <a:t>(</a:t>
            </a:r>
            <a:r>
              <a:rPr lang="en-US" altLang="en-US" i="1">
                <a:ea typeface="ＭＳ Ｐゴシック" pitchFamily="34" charset="-128"/>
              </a:rPr>
              <a:t>A</a:t>
            </a:r>
            <a:r>
              <a:rPr lang="en-US" altLang="en-US">
                <a:ea typeface="ＭＳ Ｐゴシック" pitchFamily="34" charset="-128"/>
              </a:rPr>
              <a:t>)</a:t>
            </a:r>
          </a:p>
          <a:p>
            <a:pPr marL="457200" lvl="1" indent="0">
              <a:buNone/>
            </a:pPr>
            <a:r>
              <a:rPr lang="en-US" altLang="en-US">
                <a:ea typeface="ＭＳ Ｐゴシック" pitchFamily="34" charset="-128"/>
              </a:rPr>
              <a:t>2.	</a:t>
            </a:r>
            <a:r>
              <a:rPr lang="en-US" altLang="en-US" i="1">
                <a:ea typeface="ＭＳ Ｐゴシック" pitchFamily="34" charset="-128"/>
              </a:rPr>
              <a:t>A</a:t>
            </a:r>
            <a:r>
              <a:rPr lang="en-US" altLang="en-US">
                <a:ea typeface="ＭＳ Ｐゴシック" pitchFamily="34" charset="-128"/>
              </a:rPr>
              <a:t> := </a:t>
            </a:r>
            <a:r>
              <a:rPr lang="en-US" altLang="en-US" i="1">
                <a:ea typeface="ＭＳ Ｐゴシック" pitchFamily="34" charset="-128"/>
              </a:rPr>
              <a:t>A – </a:t>
            </a:r>
            <a:r>
              <a:rPr lang="en-US" altLang="en-US">
                <a:ea typeface="ＭＳ Ｐゴシック" pitchFamily="34" charset="-128"/>
              </a:rPr>
              <a:t>50</a:t>
            </a:r>
          </a:p>
          <a:p>
            <a:pPr marL="457200" lvl="1" indent="0">
              <a:buNone/>
            </a:pPr>
            <a:r>
              <a:rPr lang="en-US" altLang="en-US">
                <a:ea typeface="ＭＳ Ｐゴシック" pitchFamily="34" charset="-128"/>
              </a:rPr>
              <a:t>3.	</a:t>
            </a:r>
            <a:r>
              <a:rPr lang="en-US" altLang="en-US" b="1">
                <a:ea typeface="ＭＳ Ｐゴシック" pitchFamily="34" charset="-128"/>
              </a:rPr>
              <a:t>write</a:t>
            </a:r>
            <a:r>
              <a:rPr lang="en-US" altLang="en-US">
                <a:ea typeface="ＭＳ Ｐゴシック" pitchFamily="34" charset="-128"/>
              </a:rPr>
              <a:t>(</a:t>
            </a:r>
            <a:r>
              <a:rPr lang="en-US" altLang="en-US" i="1">
                <a:ea typeface="ＭＳ Ｐゴシック" pitchFamily="34" charset="-128"/>
              </a:rPr>
              <a:t>A</a:t>
            </a:r>
            <a:r>
              <a:rPr lang="en-US" altLang="en-US">
                <a:ea typeface="ＭＳ Ｐゴシック" pitchFamily="34" charset="-128"/>
              </a:rPr>
              <a:t>)</a:t>
            </a:r>
          </a:p>
          <a:p>
            <a:pPr marL="457200" lvl="1" indent="0">
              <a:buNone/>
            </a:pPr>
            <a:r>
              <a:rPr lang="en-US" altLang="en-US">
                <a:ea typeface="ＭＳ Ｐゴシック" pitchFamily="34" charset="-128"/>
              </a:rPr>
              <a:t>4.	</a:t>
            </a:r>
            <a:r>
              <a:rPr lang="en-US" altLang="en-US" b="1">
                <a:ea typeface="ＭＳ Ｐゴシック" pitchFamily="34" charset="-128"/>
              </a:rPr>
              <a:t>read</a:t>
            </a:r>
            <a:r>
              <a:rPr lang="en-US" altLang="en-US">
                <a:ea typeface="ＭＳ Ｐゴシック" pitchFamily="34" charset="-128"/>
              </a:rPr>
              <a:t>(</a:t>
            </a:r>
            <a:r>
              <a:rPr lang="en-US" altLang="en-US" i="1">
                <a:ea typeface="ＭＳ Ｐゴシック" pitchFamily="34" charset="-128"/>
              </a:rPr>
              <a:t>B</a:t>
            </a:r>
            <a:r>
              <a:rPr lang="en-US" altLang="en-US">
                <a:ea typeface="ＭＳ Ｐゴシック" pitchFamily="34" charset="-128"/>
              </a:rPr>
              <a:t>)</a:t>
            </a:r>
          </a:p>
          <a:p>
            <a:pPr marL="457200" lvl="1" indent="0">
              <a:buNone/>
            </a:pPr>
            <a:r>
              <a:rPr lang="en-US" altLang="en-US">
                <a:ea typeface="ＭＳ Ｐゴシック" pitchFamily="34" charset="-128"/>
              </a:rPr>
              <a:t>5.	</a:t>
            </a:r>
            <a:r>
              <a:rPr lang="en-US" altLang="en-US" i="1">
                <a:ea typeface="ＭＳ Ｐゴシック" pitchFamily="34" charset="-128"/>
              </a:rPr>
              <a:t>B</a:t>
            </a:r>
            <a:r>
              <a:rPr lang="en-US" altLang="en-US">
                <a:ea typeface="ＭＳ Ｐゴシック" pitchFamily="34" charset="-128"/>
              </a:rPr>
              <a:t> := </a:t>
            </a:r>
            <a:r>
              <a:rPr lang="en-US" altLang="en-US" i="1">
                <a:ea typeface="ＭＳ Ｐゴシック" pitchFamily="34" charset="-128"/>
              </a:rPr>
              <a:t>B + </a:t>
            </a:r>
            <a:r>
              <a:rPr lang="en-US" altLang="en-US">
                <a:ea typeface="ＭＳ Ｐゴシック" pitchFamily="34" charset="-128"/>
              </a:rPr>
              <a:t>50</a:t>
            </a:r>
          </a:p>
          <a:p>
            <a:pPr marL="457200" lvl="1" indent="0">
              <a:buNone/>
            </a:pPr>
            <a:r>
              <a:rPr lang="en-US" altLang="en-US">
                <a:ea typeface="ＭＳ Ｐゴシック" pitchFamily="34" charset="-128"/>
              </a:rPr>
              <a:t>6.	</a:t>
            </a:r>
            <a:r>
              <a:rPr lang="en-US" altLang="en-US" b="1">
                <a:ea typeface="ＭＳ Ｐゴシック" pitchFamily="34" charset="-128"/>
              </a:rPr>
              <a:t>write</a:t>
            </a:r>
            <a:r>
              <a:rPr lang="en-US" altLang="en-US">
                <a:ea typeface="ＭＳ Ｐゴシック" pitchFamily="34" charset="-128"/>
              </a:rPr>
              <a:t>(</a:t>
            </a:r>
            <a:r>
              <a:rPr lang="en-US" altLang="en-US" i="1">
                <a:ea typeface="ＭＳ Ｐゴシック" pitchFamily="34" charset="-128"/>
              </a:rPr>
              <a:t>B)</a:t>
            </a:r>
          </a:p>
          <a:p>
            <a:pPr>
              <a:buFont typeface="Wingdings" panose="05000000000000000000" pitchFamily="2" charset="2"/>
              <a:buChar char="§"/>
            </a:pPr>
            <a:endParaRPr lang="en-US" sz="2800"/>
          </a:p>
        </p:txBody>
      </p:sp>
    </p:spTree>
    <p:extLst>
      <p:ext uri="{BB962C8B-B14F-4D97-AF65-F5344CB8AC3E}">
        <p14:creationId xmlns:p14="http://schemas.microsoft.com/office/powerpoint/2010/main" val="443109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of Fund Transfer</a:t>
            </a:r>
          </a:p>
        </p:txBody>
      </p:sp>
      <p:sp>
        <p:nvSpPr>
          <p:cNvPr id="3" name="Content Placeholder 2"/>
          <p:cNvSpPr>
            <a:spLocks noGrp="1"/>
          </p:cNvSpPr>
          <p:nvPr>
            <p:ph idx="1"/>
          </p:nvPr>
        </p:nvSpPr>
        <p:spPr/>
        <p:txBody>
          <a:bodyPr>
            <a:noAutofit/>
          </a:bodyPr>
          <a:lstStyle/>
          <a:p>
            <a:pPr>
              <a:buFont typeface="Wingdings" panose="05000000000000000000" pitchFamily="2" charset="2"/>
              <a:buChar char="§"/>
            </a:pPr>
            <a:r>
              <a:rPr lang="en-US" altLang="en-US" b="1">
                <a:solidFill>
                  <a:srgbClr val="000099"/>
                </a:solidFill>
              </a:rPr>
              <a:t>Atomicity requirement</a:t>
            </a:r>
            <a:r>
              <a:rPr lang="en-US" altLang="en-US"/>
              <a:t> </a:t>
            </a:r>
          </a:p>
          <a:p>
            <a:pPr lvl="1"/>
            <a:r>
              <a:rPr lang="en-US" altLang="en-US" sz="3200" b="1">
                <a:ea typeface="ＭＳ Ｐゴシック" pitchFamily="34" charset="-128"/>
              </a:rPr>
              <a:t>If the transaction fails</a:t>
            </a:r>
            <a:r>
              <a:rPr lang="en-US" altLang="en-US" sz="3200">
                <a:ea typeface="ＭＳ Ｐゴシック" pitchFamily="34" charset="-128"/>
              </a:rPr>
              <a:t> after step 3 and before step 6, </a:t>
            </a:r>
            <a:r>
              <a:rPr lang="en-US" altLang="en-US" sz="3200" b="1">
                <a:ea typeface="ＭＳ Ｐゴシック" pitchFamily="34" charset="-128"/>
              </a:rPr>
              <a:t>money will be “lost”</a:t>
            </a:r>
            <a:r>
              <a:rPr lang="en-US" altLang="en-US" sz="3200">
                <a:ea typeface="ＭＳ Ｐゴシック" pitchFamily="34" charset="-128"/>
              </a:rPr>
              <a:t> leading to an inconsistent database state</a:t>
            </a:r>
          </a:p>
          <a:p>
            <a:pPr lvl="2">
              <a:buFont typeface="Wingdings" panose="05000000000000000000" pitchFamily="2" charset="2"/>
              <a:buChar char="ü"/>
            </a:pPr>
            <a:r>
              <a:rPr lang="en-US" altLang="en-US" sz="3200">
                <a:ea typeface="ＭＳ Ｐゴシック" pitchFamily="34" charset="-128"/>
              </a:rPr>
              <a:t>Failure could be due to software or hardware</a:t>
            </a:r>
          </a:p>
          <a:p>
            <a:pPr lvl="1"/>
            <a:r>
              <a:rPr lang="en-US" altLang="en-US" sz="3200">
                <a:ea typeface="ＭＳ Ｐゴシック" pitchFamily="34" charset="-128"/>
              </a:rPr>
              <a:t>the </a:t>
            </a:r>
            <a:r>
              <a:rPr lang="en-US" altLang="en-US" sz="3200" b="1">
                <a:ea typeface="ＭＳ Ｐゴシック" pitchFamily="34" charset="-128"/>
              </a:rPr>
              <a:t>system should ensure </a:t>
            </a:r>
            <a:r>
              <a:rPr lang="en-US" altLang="en-US" sz="3200">
                <a:ea typeface="ＭＳ Ｐゴシック" pitchFamily="34" charset="-128"/>
              </a:rPr>
              <a:t>that updates of a partially executed </a:t>
            </a:r>
            <a:r>
              <a:rPr lang="en-US" altLang="en-US" sz="3200" b="1">
                <a:ea typeface="ＭＳ Ｐゴシック" pitchFamily="34" charset="-128"/>
              </a:rPr>
              <a:t>transaction</a:t>
            </a:r>
            <a:r>
              <a:rPr lang="en-US" altLang="en-US" sz="3200">
                <a:ea typeface="ＭＳ Ｐゴシック" pitchFamily="34" charset="-128"/>
              </a:rPr>
              <a:t> are </a:t>
            </a:r>
            <a:r>
              <a:rPr lang="en-US" altLang="en-US" sz="3200" b="1">
                <a:ea typeface="ＭＳ Ｐゴシック" pitchFamily="34" charset="-128"/>
              </a:rPr>
              <a:t>not reflected in the database</a:t>
            </a:r>
          </a:p>
          <a:p>
            <a:pPr>
              <a:buFont typeface="Wingdings" panose="05000000000000000000" pitchFamily="2" charset="2"/>
              <a:buChar char="§"/>
            </a:pPr>
            <a:endParaRPr lang="en-US"/>
          </a:p>
        </p:txBody>
      </p:sp>
    </p:spTree>
    <p:extLst>
      <p:ext uri="{BB962C8B-B14F-4D97-AF65-F5344CB8AC3E}">
        <p14:creationId xmlns:p14="http://schemas.microsoft.com/office/powerpoint/2010/main" val="37968161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of Fund Transfer</a:t>
            </a:r>
          </a:p>
        </p:txBody>
      </p:sp>
      <p:sp>
        <p:nvSpPr>
          <p:cNvPr id="3" name="Content Placeholder 2"/>
          <p:cNvSpPr>
            <a:spLocks noGrp="1"/>
          </p:cNvSpPr>
          <p:nvPr>
            <p:ph idx="1"/>
          </p:nvPr>
        </p:nvSpPr>
        <p:spPr/>
        <p:txBody>
          <a:bodyPr>
            <a:noAutofit/>
          </a:bodyPr>
          <a:lstStyle/>
          <a:p>
            <a:pPr marL="0" indent="0">
              <a:lnSpc>
                <a:spcPct val="80000"/>
              </a:lnSpc>
              <a:buNone/>
            </a:pPr>
            <a:r>
              <a:rPr lang="en-US" altLang="en-US" b="1">
                <a:solidFill>
                  <a:srgbClr val="000099"/>
                </a:solidFill>
              </a:rPr>
              <a:t>Consistency requirement</a:t>
            </a:r>
            <a:r>
              <a:rPr lang="en-US" altLang="en-US"/>
              <a:t> :</a:t>
            </a:r>
          </a:p>
          <a:p>
            <a:pPr>
              <a:lnSpc>
                <a:spcPct val="80000"/>
              </a:lnSpc>
              <a:buFont typeface="Wingdings" panose="05000000000000000000" pitchFamily="2" charset="2"/>
              <a:buChar char="§"/>
            </a:pPr>
            <a:r>
              <a:rPr lang="en-US" altLang="en-US" sz="3200">
                <a:ea typeface="ＭＳ Ｐゴシック" pitchFamily="34" charset="-128"/>
              </a:rPr>
              <a:t>the </a:t>
            </a:r>
            <a:r>
              <a:rPr lang="en-US" altLang="en-US" sz="3200" b="1">
                <a:ea typeface="ＭＳ Ｐゴシック" pitchFamily="34" charset="-128"/>
              </a:rPr>
              <a:t>sum of A and B is unchanged </a:t>
            </a:r>
            <a:r>
              <a:rPr lang="en-US" altLang="en-US" sz="3200">
                <a:ea typeface="ＭＳ Ｐゴシック" pitchFamily="34" charset="-128"/>
              </a:rPr>
              <a:t>by the execution of the transaction</a:t>
            </a:r>
          </a:p>
          <a:p>
            <a:pPr>
              <a:lnSpc>
                <a:spcPct val="80000"/>
              </a:lnSpc>
              <a:buFont typeface="Wingdings" panose="05000000000000000000" pitchFamily="2" charset="2"/>
              <a:buChar char="§"/>
            </a:pPr>
            <a:r>
              <a:rPr lang="en-US" altLang="en-US"/>
              <a:t>In general, consistency requirements include </a:t>
            </a:r>
          </a:p>
          <a:p>
            <a:pPr lvl="2">
              <a:lnSpc>
                <a:spcPct val="80000"/>
              </a:lnSpc>
              <a:buFont typeface="Wingdings" panose="05000000000000000000" pitchFamily="2" charset="2"/>
              <a:buChar char="§"/>
            </a:pPr>
            <a:r>
              <a:rPr lang="en-US" altLang="en-US" sz="3200" b="1">
                <a:ea typeface="ＭＳ Ｐゴシック" pitchFamily="34" charset="-128"/>
              </a:rPr>
              <a:t>Explicitly </a:t>
            </a:r>
            <a:r>
              <a:rPr lang="en-US" altLang="en-US" sz="3200">
                <a:ea typeface="ＭＳ Ｐゴシック" pitchFamily="34" charset="-128"/>
              </a:rPr>
              <a:t>specified </a:t>
            </a:r>
            <a:r>
              <a:rPr lang="en-US" altLang="en-US" sz="3200" b="1">
                <a:ea typeface="ＭＳ Ｐゴシック" pitchFamily="34" charset="-128"/>
              </a:rPr>
              <a:t>integrity constraints </a:t>
            </a:r>
            <a:r>
              <a:rPr lang="en-US" altLang="en-US" sz="3200">
                <a:ea typeface="ＭＳ Ｐゴシック" pitchFamily="34" charset="-128"/>
              </a:rPr>
              <a:t>such as primary keys and foreign keys</a:t>
            </a:r>
          </a:p>
          <a:p>
            <a:pPr lvl="2">
              <a:lnSpc>
                <a:spcPct val="80000"/>
              </a:lnSpc>
              <a:buFont typeface="Wingdings" panose="05000000000000000000" pitchFamily="2" charset="2"/>
              <a:buChar char="§"/>
            </a:pPr>
            <a:r>
              <a:rPr lang="en-US" altLang="en-US" sz="3200" b="1">
                <a:ea typeface="ＭＳ Ｐゴシック" pitchFamily="34" charset="-128"/>
              </a:rPr>
              <a:t>Implicit </a:t>
            </a:r>
            <a:r>
              <a:rPr lang="en-US" altLang="en-US" sz="3200">
                <a:ea typeface="ＭＳ Ｐゴシック" pitchFamily="34" charset="-128"/>
              </a:rPr>
              <a:t>integrity constraints</a:t>
            </a:r>
          </a:p>
          <a:p>
            <a:pPr lvl="3">
              <a:lnSpc>
                <a:spcPct val="80000"/>
              </a:lnSpc>
              <a:buFont typeface="Wingdings" panose="05000000000000000000" pitchFamily="2" charset="2"/>
              <a:buChar char="§"/>
            </a:pPr>
            <a:r>
              <a:rPr lang="en-US" altLang="en-US" sz="3200">
                <a:ea typeface="ＭＳ Ｐゴシック" pitchFamily="34" charset="-128"/>
              </a:rPr>
              <a:t>e.g. </a:t>
            </a:r>
            <a:r>
              <a:rPr lang="en-US" altLang="en-US" sz="3200" b="1">
                <a:ea typeface="ＭＳ Ｐゴシック" pitchFamily="34" charset="-128"/>
              </a:rPr>
              <a:t>sum of balances of all accounts</a:t>
            </a:r>
            <a:r>
              <a:rPr lang="en-US" altLang="en-US" sz="3200">
                <a:ea typeface="ＭＳ Ｐゴシック" pitchFamily="34" charset="-128"/>
              </a:rPr>
              <a:t>, minus sum of loan amounts </a:t>
            </a:r>
            <a:r>
              <a:rPr lang="en-US" altLang="en-US" sz="3200" b="1">
                <a:ea typeface="ＭＳ Ｐゴシック" pitchFamily="34" charset="-128"/>
              </a:rPr>
              <a:t>must equal value of cash-in-hand</a:t>
            </a:r>
          </a:p>
        </p:txBody>
      </p:sp>
    </p:spTree>
    <p:extLst>
      <p:ext uri="{BB962C8B-B14F-4D97-AF65-F5344CB8AC3E}">
        <p14:creationId xmlns:p14="http://schemas.microsoft.com/office/powerpoint/2010/main" val="1809353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of Fund Transfer</a:t>
            </a:r>
          </a:p>
        </p:txBody>
      </p:sp>
      <p:sp>
        <p:nvSpPr>
          <p:cNvPr id="3" name="Content Placeholder 2"/>
          <p:cNvSpPr>
            <a:spLocks noGrp="1"/>
          </p:cNvSpPr>
          <p:nvPr>
            <p:ph idx="1"/>
          </p:nvPr>
        </p:nvSpPr>
        <p:spPr/>
        <p:txBody>
          <a:bodyPr>
            <a:noAutofit/>
          </a:bodyPr>
          <a:lstStyle/>
          <a:p>
            <a:pPr lvl="1">
              <a:lnSpc>
                <a:spcPct val="80000"/>
              </a:lnSpc>
              <a:buFont typeface="Wingdings" panose="05000000000000000000" pitchFamily="2" charset="2"/>
              <a:buChar char="§"/>
            </a:pPr>
            <a:r>
              <a:rPr lang="en-US" altLang="en-US" sz="3200">
                <a:ea typeface="ＭＳ Ｐゴシック" pitchFamily="34" charset="-128"/>
              </a:rPr>
              <a:t>A transaction must see a consistent database.</a:t>
            </a:r>
          </a:p>
          <a:p>
            <a:pPr lvl="1">
              <a:lnSpc>
                <a:spcPct val="80000"/>
              </a:lnSpc>
              <a:buFont typeface="Wingdings" panose="05000000000000000000" pitchFamily="2" charset="2"/>
              <a:buChar char="§"/>
            </a:pPr>
            <a:r>
              <a:rPr lang="en-US" altLang="en-US" sz="3200">
                <a:ea typeface="ＭＳ Ｐゴシック" pitchFamily="34" charset="-128"/>
              </a:rPr>
              <a:t>During transaction execution the database may be temporarily inconsistent.</a:t>
            </a:r>
          </a:p>
          <a:p>
            <a:pPr lvl="1">
              <a:lnSpc>
                <a:spcPct val="80000"/>
              </a:lnSpc>
              <a:buFont typeface="Wingdings" panose="05000000000000000000" pitchFamily="2" charset="2"/>
              <a:buChar char="§"/>
            </a:pPr>
            <a:r>
              <a:rPr lang="en-US" altLang="en-US" sz="3200">
                <a:ea typeface="ＭＳ Ｐゴシック" pitchFamily="34" charset="-128"/>
              </a:rPr>
              <a:t>When the transaction completes successfully the database must be consistent</a:t>
            </a:r>
          </a:p>
          <a:p>
            <a:pPr lvl="2">
              <a:lnSpc>
                <a:spcPct val="80000"/>
              </a:lnSpc>
              <a:buFont typeface="Wingdings" panose="05000000000000000000" pitchFamily="2" charset="2"/>
              <a:buChar char="ü"/>
            </a:pPr>
            <a:r>
              <a:rPr lang="en-US" altLang="en-US" sz="3200">
                <a:ea typeface="ＭＳ Ｐゴシック" pitchFamily="34" charset="-128"/>
              </a:rPr>
              <a:t>Erroneous transaction logic can lead to inconsistency</a:t>
            </a:r>
          </a:p>
          <a:p>
            <a:pPr>
              <a:buFont typeface="Wingdings" panose="05000000000000000000" pitchFamily="2" charset="2"/>
              <a:buChar char="§"/>
            </a:pPr>
            <a:endParaRPr lang="en-US"/>
          </a:p>
        </p:txBody>
      </p:sp>
    </p:spTree>
    <p:extLst>
      <p:ext uri="{BB962C8B-B14F-4D97-AF65-F5344CB8AC3E}">
        <p14:creationId xmlns:p14="http://schemas.microsoft.com/office/powerpoint/2010/main" val="1276837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of Fund Transfer</a:t>
            </a:r>
          </a:p>
        </p:txBody>
      </p:sp>
      <p:sp>
        <p:nvSpPr>
          <p:cNvPr id="3" name="Content Placeholder 2"/>
          <p:cNvSpPr>
            <a:spLocks noGrp="1"/>
          </p:cNvSpPr>
          <p:nvPr>
            <p:ph idx="1"/>
          </p:nvPr>
        </p:nvSpPr>
        <p:spPr/>
        <p:txBody>
          <a:bodyPr>
            <a:normAutofit fontScale="92500" lnSpcReduction="10000"/>
          </a:bodyPr>
          <a:lstStyle/>
          <a:p>
            <a:pPr marL="0" indent="0">
              <a:lnSpc>
                <a:spcPct val="90000"/>
              </a:lnSpc>
              <a:buNone/>
            </a:pPr>
            <a:r>
              <a:rPr lang="en-US" altLang="en-US" b="1">
                <a:solidFill>
                  <a:srgbClr val="000099"/>
                </a:solidFill>
              </a:rPr>
              <a:t>Isolation requirement</a:t>
            </a:r>
            <a:r>
              <a:rPr lang="en-US" altLang="en-US"/>
              <a:t> — if between steps 3 and 6, another transaction T2 is allowed to access the partially updated database, it will see an inconsistent database (the sum  </a:t>
            </a:r>
            <a:r>
              <a:rPr lang="en-US" altLang="en-US" i="1"/>
              <a:t>A + B</a:t>
            </a:r>
            <a:r>
              <a:rPr lang="en-US" altLang="en-US"/>
              <a:t> will be less than it should be).</a:t>
            </a:r>
            <a:br>
              <a:rPr lang="en-US" altLang="en-US"/>
            </a:br>
            <a:r>
              <a:rPr lang="en-US" altLang="en-US" sz="2400"/>
              <a:t>         </a:t>
            </a:r>
            <a:r>
              <a:rPr lang="en-US" altLang="en-US" sz="2400" b="1"/>
              <a:t>T1                                        T2</a:t>
            </a:r>
          </a:p>
          <a:p>
            <a:pPr marL="457200" lvl="1" indent="0">
              <a:lnSpc>
                <a:spcPct val="90000"/>
              </a:lnSpc>
              <a:buNone/>
            </a:pPr>
            <a:r>
              <a:rPr lang="en-US" altLang="en-US" sz="2400">
                <a:ea typeface="ＭＳ Ｐゴシック" pitchFamily="34" charset="-128"/>
              </a:rPr>
              <a:t>1.	</a:t>
            </a:r>
            <a:r>
              <a:rPr lang="en-US" altLang="en-US" sz="2400" b="1">
                <a:ea typeface="ＭＳ Ｐゴシック" pitchFamily="34" charset="-128"/>
              </a:rPr>
              <a:t>read</a:t>
            </a:r>
            <a:r>
              <a:rPr lang="en-US" altLang="en-US" sz="2400">
                <a:ea typeface="ＭＳ Ｐゴシック" pitchFamily="34" charset="-128"/>
              </a:rPr>
              <a:t>(</a:t>
            </a:r>
            <a:r>
              <a:rPr lang="en-US" altLang="en-US" sz="2400" i="1">
                <a:ea typeface="ＭＳ Ｐゴシック" pitchFamily="34" charset="-128"/>
              </a:rPr>
              <a:t>A</a:t>
            </a:r>
            <a:r>
              <a:rPr lang="en-US" altLang="en-US" sz="2400">
                <a:ea typeface="ＭＳ Ｐゴシック" pitchFamily="34" charset="-128"/>
              </a:rPr>
              <a:t>)</a:t>
            </a:r>
          </a:p>
          <a:p>
            <a:pPr marL="457200" lvl="1" indent="0">
              <a:lnSpc>
                <a:spcPct val="90000"/>
              </a:lnSpc>
              <a:buNone/>
            </a:pPr>
            <a:r>
              <a:rPr lang="en-US" altLang="en-US" sz="2400">
                <a:ea typeface="ＭＳ Ｐゴシック" pitchFamily="34" charset="-128"/>
              </a:rPr>
              <a:t>2.	</a:t>
            </a:r>
            <a:r>
              <a:rPr lang="en-US" altLang="en-US" sz="2400" i="1">
                <a:ea typeface="ＭＳ Ｐゴシック" pitchFamily="34" charset="-128"/>
              </a:rPr>
              <a:t>A</a:t>
            </a:r>
            <a:r>
              <a:rPr lang="en-US" altLang="en-US" sz="2400">
                <a:ea typeface="ＭＳ Ｐゴシック" pitchFamily="34" charset="-128"/>
              </a:rPr>
              <a:t> := </a:t>
            </a:r>
            <a:r>
              <a:rPr lang="en-US" altLang="en-US" sz="2400" i="1">
                <a:ea typeface="ＭＳ Ｐゴシック" pitchFamily="34" charset="-128"/>
              </a:rPr>
              <a:t>A – </a:t>
            </a:r>
            <a:r>
              <a:rPr lang="en-US" altLang="en-US" sz="2400">
                <a:ea typeface="ＭＳ Ｐゴシック" pitchFamily="34" charset="-128"/>
              </a:rPr>
              <a:t>50</a:t>
            </a:r>
          </a:p>
          <a:p>
            <a:pPr marL="457200" lvl="1" indent="0">
              <a:lnSpc>
                <a:spcPct val="90000"/>
              </a:lnSpc>
              <a:buNone/>
            </a:pPr>
            <a:r>
              <a:rPr lang="en-US" altLang="en-US" sz="2400">
                <a:ea typeface="ＭＳ Ｐゴシック" pitchFamily="34" charset="-128"/>
              </a:rPr>
              <a:t>3.	</a:t>
            </a:r>
            <a:r>
              <a:rPr lang="en-US" altLang="en-US" sz="2400" b="1">
                <a:ea typeface="ＭＳ Ｐゴシック" pitchFamily="34" charset="-128"/>
              </a:rPr>
              <a:t>write</a:t>
            </a:r>
            <a:r>
              <a:rPr lang="en-US" altLang="en-US" sz="2400">
                <a:ea typeface="ＭＳ Ｐゴシック" pitchFamily="34" charset="-128"/>
              </a:rPr>
              <a:t>(</a:t>
            </a:r>
            <a:r>
              <a:rPr lang="en-US" altLang="en-US" sz="2400" i="1">
                <a:ea typeface="ＭＳ Ｐゴシック" pitchFamily="34" charset="-128"/>
              </a:rPr>
              <a:t>A</a:t>
            </a:r>
            <a:r>
              <a:rPr lang="en-US" altLang="en-US" sz="2400">
                <a:ea typeface="ＭＳ Ｐゴシック" pitchFamily="34" charset="-128"/>
              </a:rPr>
              <a:t>)</a:t>
            </a:r>
            <a:br>
              <a:rPr lang="en-US" altLang="en-US" sz="2400">
                <a:ea typeface="ＭＳ Ｐゴシック" pitchFamily="34" charset="-128"/>
              </a:rPr>
            </a:br>
            <a:r>
              <a:rPr lang="en-US" altLang="en-US" sz="2400">
                <a:ea typeface="ＭＳ Ｐゴシック" pitchFamily="34" charset="-128"/>
              </a:rPr>
              <a:t>                                           read(A), read(B), print(A+B)</a:t>
            </a:r>
          </a:p>
          <a:p>
            <a:pPr marL="457200" lvl="1" indent="0">
              <a:lnSpc>
                <a:spcPct val="90000"/>
              </a:lnSpc>
              <a:buNone/>
            </a:pPr>
            <a:r>
              <a:rPr lang="en-US" altLang="en-US" sz="2400">
                <a:ea typeface="ＭＳ Ｐゴシック" pitchFamily="34" charset="-128"/>
              </a:rPr>
              <a:t>4.	</a:t>
            </a:r>
            <a:r>
              <a:rPr lang="en-US" altLang="en-US" sz="2400" b="1">
                <a:ea typeface="ＭＳ Ｐゴシック" pitchFamily="34" charset="-128"/>
              </a:rPr>
              <a:t>read</a:t>
            </a:r>
            <a:r>
              <a:rPr lang="en-US" altLang="en-US" sz="2400">
                <a:ea typeface="ＭＳ Ｐゴシック" pitchFamily="34" charset="-128"/>
              </a:rPr>
              <a:t>(</a:t>
            </a:r>
            <a:r>
              <a:rPr lang="en-US" altLang="en-US" sz="2400" i="1">
                <a:ea typeface="ＭＳ Ｐゴシック" pitchFamily="34" charset="-128"/>
              </a:rPr>
              <a:t>B</a:t>
            </a:r>
            <a:r>
              <a:rPr lang="en-US" altLang="en-US" sz="2400">
                <a:ea typeface="ＭＳ Ｐゴシック" pitchFamily="34" charset="-128"/>
              </a:rPr>
              <a:t>)</a:t>
            </a:r>
          </a:p>
          <a:p>
            <a:pPr marL="457200" lvl="1" indent="0">
              <a:lnSpc>
                <a:spcPct val="90000"/>
              </a:lnSpc>
              <a:buNone/>
            </a:pPr>
            <a:r>
              <a:rPr lang="en-US" altLang="en-US" sz="2400">
                <a:ea typeface="ＭＳ Ｐゴシック" pitchFamily="34" charset="-128"/>
              </a:rPr>
              <a:t>5.	</a:t>
            </a:r>
            <a:r>
              <a:rPr lang="en-US" altLang="en-US" sz="2400" i="1">
                <a:ea typeface="ＭＳ Ｐゴシック" pitchFamily="34" charset="-128"/>
              </a:rPr>
              <a:t>B</a:t>
            </a:r>
            <a:r>
              <a:rPr lang="en-US" altLang="en-US" sz="2400">
                <a:ea typeface="ＭＳ Ｐゴシック" pitchFamily="34" charset="-128"/>
              </a:rPr>
              <a:t> := </a:t>
            </a:r>
            <a:r>
              <a:rPr lang="en-US" altLang="en-US" sz="2400" i="1">
                <a:ea typeface="ＭＳ Ｐゴシック" pitchFamily="34" charset="-128"/>
              </a:rPr>
              <a:t>B + </a:t>
            </a:r>
            <a:r>
              <a:rPr lang="en-US" altLang="en-US" sz="2400">
                <a:ea typeface="ＭＳ Ｐゴシック" pitchFamily="34" charset="-128"/>
              </a:rPr>
              <a:t>50</a:t>
            </a:r>
          </a:p>
          <a:p>
            <a:pPr marL="457200" lvl="1" indent="0">
              <a:lnSpc>
                <a:spcPct val="90000"/>
              </a:lnSpc>
              <a:buNone/>
            </a:pPr>
            <a:r>
              <a:rPr lang="en-US" altLang="en-US" sz="2400">
                <a:ea typeface="ＭＳ Ｐゴシック" pitchFamily="34" charset="-128"/>
              </a:rPr>
              <a:t>6.	</a:t>
            </a:r>
            <a:r>
              <a:rPr lang="en-US" altLang="en-US" sz="2400" b="1">
                <a:ea typeface="ＭＳ Ｐゴシック" pitchFamily="34" charset="-128"/>
              </a:rPr>
              <a:t>write</a:t>
            </a:r>
            <a:r>
              <a:rPr lang="en-US" altLang="en-US" sz="2400">
                <a:ea typeface="ＭＳ Ｐゴシック" pitchFamily="34" charset="-128"/>
              </a:rPr>
              <a:t>(</a:t>
            </a:r>
            <a:r>
              <a:rPr lang="en-US" altLang="en-US" sz="2400" i="1">
                <a:ea typeface="ＭＳ Ｐゴシック" pitchFamily="34" charset="-128"/>
              </a:rPr>
              <a:t>B</a:t>
            </a:r>
            <a:endParaRPr lang="en-US" altLang="en-US" sz="2400">
              <a:ea typeface="ＭＳ Ｐゴシック" pitchFamily="34" charset="-128"/>
            </a:endParaRPr>
          </a:p>
        </p:txBody>
      </p:sp>
    </p:spTree>
    <p:extLst>
      <p:ext uri="{BB962C8B-B14F-4D97-AF65-F5344CB8AC3E}">
        <p14:creationId xmlns:p14="http://schemas.microsoft.com/office/powerpoint/2010/main" val="3418409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of Fund Transfer</a:t>
            </a:r>
          </a:p>
        </p:txBody>
      </p:sp>
      <p:sp>
        <p:nvSpPr>
          <p:cNvPr id="3" name="Content Placeholder 2"/>
          <p:cNvSpPr>
            <a:spLocks noGrp="1"/>
          </p:cNvSpPr>
          <p:nvPr>
            <p:ph idx="1"/>
          </p:nvPr>
        </p:nvSpPr>
        <p:spPr/>
        <p:txBody>
          <a:bodyPr>
            <a:normAutofit/>
          </a:bodyPr>
          <a:lstStyle/>
          <a:p>
            <a:pPr>
              <a:lnSpc>
                <a:spcPct val="90000"/>
              </a:lnSpc>
              <a:buFont typeface="Wingdings" panose="05000000000000000000" pitchFamily="2" charset="2"/>
              <a:buChar char="§"/>
            </a:pPr>
            <a:r>
              <a:rPr lang="en-US" altLang="en-US"/>
              <a:t>Isolation can be ensured trivially by running transactions </a:t>
            </a:r>
            <a:r>
              <a:rPr lang="en-US" altLang="en-US" b="1"/>
              <a:t>serially</a:t>
            </a:r>
          </a:p>
          <a:p>
            <a:pPr lvl="1">
              <a:lnSpc>
                <a:spcPct val="90000"/>
              </a:lnSpc>
              <a:buFont typeface="Wingdings" panose="05000000000000000000" pitchFamily="2" charset="2"/>
              <a:buChar char="§"/>
            </a:pPr>
            <a:r>
              <a:rPr lang="en-US" altLang="en-US">
                <a:ea typeface="ＭＳ Ｐゴシック" pitchFamily="34" charset="-128"/>
              </a:rPr>
              <a:t> that is, one after the other. </a:t>
            </a:r>
          </a:p>
          <a:p>
            <a:pPr lvl="1">
              <a:lnSpc>
                <a:spcPct val="90000"/>
              </a:lnSpc>
              <a:buFont typeface="Wingdings" panose="05000000000000000000" pitchFamily="2" charset="2"/>
              <a:buChar char="§"/>
            </a:pPr>
            <a:r>
              <a:rPr lang="en-US" altLang="en-US" b="1"/>
              <a:t>However</a:t>
            </a:r>
            <a:r>
              <a:rPr lang="en-US" altLang="en-US"/>
              <a:t>, executing multiple transactions concurrently has </a:t>
            </a:r>
            <a:r>
              <a:rPr lang="en-US" altLang="en-US" b="1"/>
              <a:t>significant</a:t>
            </a:r>
            <a:r>
              <a:rPr lang="en-US" altLang="en-US"/>
              <a:t> </a:t>
            </a:r>
            <a:r>
              <a:rPr lang="en-US" altLang="en-US" b="1"/>
              <a:t>benefits</a:t>
            </a:r>
            <a:r>
              <a:rPr lang="en-US" altLang="en-US"/>
              <a:t>, as we will see later</a:t>
            </a:r>
            <a:r>
              <a:rPr lang="en-US" altLang="en-US">
                <a:ea typeface="ＭＳ Ｐゴシック" pitchFamily="34" charset="-128"/>
              </a:rPr>
              <a:t> . </a:t>
            </a:r>
          </a:p>
        </p:txBody>
      </p:sp>
    </p:spTree>
    <p:extLst>
      <p:ext uri="{BB962C8B-B14F-4D97-AF65-F5344CB8AC3E}">
        <p14:creationId xmlns:p14="http://schemas.microsoft.com/office/powerpoint/2010/main" val="562048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of Fund Transfer</a:t>
            </a:r>
          </a:p>
        </p:txBody>
      </p:sp>
      <p:sp>
        <p:nvSpPr>
          <p:cNvPr id="3" name="Content Placeholder 2"/>
          <p:cNvSpPr>
            <a:spLocks noGrp="1"/>
          </p:cNvSpPr>
          <p:nvPr>
            <p:ph idx="1"/>
          </p:nvPr>
        </p:nvSpPr>
        <p:spPr/>
        <p:txBody>
          <a:bodyPr>
            <a:normAutofit/>
          </a:bodyPr>
          <a:lstStyle/>
          <a:p>
            <a:pPr marL="0" indent="0">
              <a:lnSpc>
                <a:spcPct val="90000"/>
              </a:lnSpc>
              <a:buNone/>
            </a:pPr>
            <a:r>
              <a:rPr lang="en-US" altLang="en-US" b="1">
                <a:solidFill>
                  <a:srgbClr val="000099"/>
                </a:solidFill>
              </a:rPr>
              <a:t>Durability requirement</a:t>
            </a:r>
            <a:r>
              <a:rPr lang="en-US" altLang="en-US"/>
              <a:t> — once the user has been notified that the transaction has completed (i.e., the transfer of the $50 has taken place), the </a:t>
            </a:r>
            <a:r>
              <a:rPr lang="en-US" altLang="en-US" b="1"/>
              <a:t>updates to the database by the transaction must persist</a:t>
            </a:r>
            <a:r>
              <a:rPr lang="en-US" altLang="en-US"/>
              <a:t> even if there are software or hardware failures.</a:t>
            </a:r>
          </a:p>
          <a:p>
            <a:pPr>
              <a:lnSpc>
                <a:spcPct val="90000"/>
              </a:lnSpc>
              <a:buFont typeface="Wingdings" panose="05000000000000000000" pitchFamily="2" charset="2"/>
              <a:buChar char="§"/>
            </a:pPr>
            <a:endParaRPr lang="en-US" altLang="en-US">
              <a:ea typeface="ＭＳ Ｐゴシック" pitchFamily="34" charset="-128"/>
            </a:endParaRPr>
          </a:p>
        </p:txBody>
      </p:sp>
    </p:spTree>
    <p:extLst>
      <p:ext uri="{BB962C8B-B14F-4D97-AF65-F5344CB8AC3E}">
        <p14:creationId xmlns:p14="http://schemas.microsoft.com/office/powerpoint/2010/main" val="3577416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Concurrent Executions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a:t>Multiple transactions are allowed to run concurrently in the system.  Advantages are:</a:t>
            </a:r>
          </a:p>
          <a:p>
            <a:pPr lvl="1">
              <a:buFont typeface="Wingdings" panose="05000000000000000000" pitchFamily="2" charset="2"/>
              <a:buChar char="§"/>
            </a:pPr>
            <a:r>
              <a:rPr lang="en-US" altLang="en-US" b="1">
                <a:ea typeface="ＭＳ Ｐゴシック" pitchFamily="34" charset="-128"/>
              </a:rPr>
              <a:t>increased processor and disk utilization</a:t>
            </a:r>
            <a:r>
              <a:rPr lang="en-US" altLang="en-US">
                <a:ea typeface="ＭＳ Ｐゴシック" pitchFamily="34" charset="-128"/>
              </a:rPr>
              <a:t>, leading to better transaction </a:t>
            </a:r>
            <a:r>
              <a:rPr lang="en-US" altLang="en-US" b="1" i="1">
                <a:solidFill>
                  <a:srgbClr val="FF0000"/>
                </a:solidFill>
                <a:ea typeface="ＭＳ Ｐゴシック" pitchFamily="34" charset="-128"/>
              </a:rPr>
              <a:t>throughput</a:t>
            </a:r>
          </a:p>
          <a:p>
            <a:pPr lvl="2">
              <a:buFont typeface="Wingdings" panose="05000000000000000000" pitchFamily="2" charset="2"/>
              <a:buChar char="§"/>
            </a:pPr>
            <a:r>
              <a:rPr lang="en-US" altLang="en-US">
                <a:ea typeface="ＭＳ Ｐゴシック" pitchFamily="34" charset="-128"/>
              </a:rPr>
              <a:t>E.g. one transaction can be using the CPU while another is reading from or writing to the disk</a:t>
            </a:r>
          </a:p>
          <a:p>
            <a:pPr lvl="1">
              <a:buFont typeface="Wingdings" panose="05000000000000000000" pitchFamily="2" charset="2"/>
              <a:buChar char="§"/>
            </a:pPr>
            <a:r>
              <a:rPr lang="en-US" altLang="en-US" b="1">
                <a:ea typeface="ＭＳ Ｐゴシック" pitchFamily="34" charset="-128"/>
              </a:rPr>
              <a:t>reduced average response time</a:t>
            </a:r>
            <a:r>
              <a:rPr lang="en-US" altLang="en-US">
                <a:ea typeface="ＭＳ Ｐゴシック" pitchFamily="34" charset="-128"/>
              </a:rPr>
              <a:t> for transactions: short transactions need not wait behind long ones.</a:t>
            </a:r>
          </a:p>
        </p:txBody>
      </p:sp>
    </p:spTree>
    <p:extLst>
      <p:ext uri="{BB962C8B-B14F-4D97-AF65-F5344CB8AC3E}">
        <p14:creationId xmlns:p14="http://schemas.microsoft.com/office/powerpoint/2010/main" val="1248624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Concurrent Executions</a:t>
            </a:r>
          </a:p>
        </p:txBody>
      </p:sp>
    </p:spTree>
    <p:extLst>
      <p:ext uri="{BB962C8B-B14F-4D97-AF65-F5344CB8AC3E}">
        <p14:creationId xmlns:p14="http://schemas.microsoft.com/office/powerpoint/2010/main" val="3393630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Concurrent Executions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b="1">
                <a:solidFill>
                  <a:srgbClr val="000099"/>
                </a:solidFill>
              </a:rPr>
              <a:t>Concurrency control schemes</a:t>
            </a:r>
            <a:r>
              <a:rPr lang="en-US" altLang="en-US" i="1"/>
              <a:t> </a:t>
            </a:r>
            <a:r>
              <a:rPr lang="en-US" altLang="en-US"/>
              <a:t>– mechanisms  to achieve isolation</a:t>
            </a:r>
          </a:p>
          <a:p>
            <a:pPr lvl="1">
              <a:buFont typeface="Wingdings" panose="05000000000000000000" pitchFamily="2" charset="2"/>
              <a:buChar char="§"/>
            </a:pPr>
            <a:r>
              <a:rPr lang="en-US" altLang="en-US">
                <a:ea typeface="ＭＳ Ｐゴシック" pitchFamily="34" charset="-128"/>
              </a:rPr>
              <a:t> that is, to control the interaction among the concurrent transactions in order to prevent them from destroying the consistency of the database</a:t>
            </a:r>
          </a:p>
        </p:txBody>
      </p:sp>
    </p:spTree>
    <p:extLst>
      <p:ext uri="{BB962C8B-B14F-4D97-AF65-F5344CB8AC3E}">
        <p14:creationId xmlns:p14="http://schemas.microsoft.com/office/powerpoint/2010/main" val="1394543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b="1">
                <a:solidFill>
                  <a:srgbClr val="000099"/>
                </a:solidFill>
              </a:rPr>
              <a:t>Schedule</a:t>
            </a:r>
            <a:r>
              <a:rPr lang="en-US" altLang="en-US" b="1">
                <a:solidFill>
                  <a:schemeClr val="tx2"/>
                </a:solidFill>
              </a:rPr>
              <a:t> </a:t>
            </a:r>
            <a:r>
              <a:rPr lang="en-US" altLang="en-US"/>
              <a:t>– a sequences of instructions that specify the chronological order in which instructions of concurrent transactions are executed</a:t>
            </a:r>
          </a:p>
          <a:p>
            <a:pPr lvl="1">
              <a:buFont typeface="Wingdings" panose="05000000000000000000" pitchFamily="2" charset="2"/>
              <a:buChar char="§"/>
            </a:pPr>
            <a:r>
              <a:rPr lang="en-US" altLang="en-US">
                <a:ea typeface="ＭＳ Ｐゴシック" pitchFamily="34" charset="-128"/>
              </a:rPr>
              <a:t>a schedule for a set of transactions must consist of all instructions of those transactions</a:t>
            </a:r>
          </a:p>
          <a:p>
            <a:pPr lvl="1">
              <a:buFont typeface="Wingdings" panose="05000000000000000000" pitchFamily="2" charset="2"/>
              <a:buChar char="§"/>
            </a:pPr>
            <a:r>
              <a:rPr lang="en-US" altLang="en-US">
                <a:ea typeface="ＭＳ Ｐゴシック" pitchFamily="34" charset="-128"/>
              </a:rPr>
              <a:t>must preserve the order in which the instructions appear in each individual transaction.</a:t>
            </a:r>
          </a:p>
        </p:txBody>
      </p:sp>
    </p:spTree>
    <p:extLst>
      <p:ext uri="{BB962C8B-B14F-4D97-AF65-F5344CB8AC3E}">
        <p14:creationId xmlns:p14="http://schemas.microsoft.com/office/powerpoint/2010/main" val="2131449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a:t>A transaction that successfully completes its execution will have a commit instructions as the last statement </a:t>
            </a:r>
          </a:p>
          <a:p>
            <a:pPr lvl="1">
              <a:buFont typeface="Wingdings" panose="05000000000000000000" pitchFamily="2" charset="2"/>
              <a:buChar char="§"/>
            </a:pPr>
            <a:r>
              <a:rPr lang="en-US" altLang="en-US">
                <a:ea typeface="ＭＳ Ｐゴシック" pitchFamily="34" charset="-128"/>
              </a:rPr>
              <a:t>by default transaction assumed to execute commit instruction as its last step</a:t>
            </a:r>
          </a:p>
          <a:p>
            <a:pPr>
              <a:buFont typeface="Wingdings" panose="05000000000000000000" pitchFamily="2" charset="2"/>
              <a:buChar char="§"/>
            </a:pPr>
            <a:r>
              <a:rPr lang="en-US" altLang="en-US"/>
              <a:t>A transaction that fails to successfully complete its execution will have an abort instruction as the last statement </a:t>
            </a:r>
          </a:p>
          <a:p>
            <a:pPr>
              <a:buFont typeface="Wingdings" panose="05000000000000000000" pitchFamily="2" charset="2"/>
              <a:buChar char="§"/>
            </a:pPr>
            <a:endParaRPr lang="en-US"/>
          </a:p>
        </p:txBody>
      </p:sp>
    </p:spTree>
    <p:extLst>
      <p:ext uri="{BB962C8B-B14F-4D97-AF65-F5344CB8AC3E}">
        <p14:creationId xmlns:p14="http://schemas.microsoft.com/office/powerpoint/2010/main" val="195221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 1</a:t>
            </a:r>
          </a:p>
        </p:txBody>
      </p:sp>
      <p:sp>
        <p:nvSpPr>
          <p:cNvPr id="3" name="Content Placeholder 2"/>
          <p:cNvSpPr>
            <a:spLocks noGrp="1"/>
          </p:cNvSpPr>
          <p:nvPr>
            <p:ph idx="1"/>
          </p:nvPr>
        </p:nvSpPr>
        <p:spPr/>
        <p:txBody>
          <a:bodyPr/>
          <a:lstStyle/>
          <a:p>
            <a:pPr>
              <a:lnSpc>
                <a:spcPct val="80000"/>
              </a:lnSpc>
              <a:buFont typeface="Wingdings" panose="05000000000000000000" pitchFamily="2" charset="2"/>
              <a:buChar char="§"/>
              <a:tabLst>
                <a:tab pos="1947863" algn="l"/>
                <a:tab pos="2684463" algn="l"/>
                <a:tab pos="3594100" algn="l"/>
                <a:tab pos="4286250" algn="l"/>
              </a:tabLst>
            </a:pPr>
            <a:r>
              <a:rPr lang="en-US" altLang="en-US" sz="2400"/>
              <a:t>Let </a:t>
            </a:r>
            <a:r>
              <a:rPr lang="en-US" altLang="en-US" sz="2400" i="1"/>
              <a:t>T</a:t>
            </a:r>
            <a:r>
              <a:rPr lang="en-US" altLang="en-US" sz="2400" baseline="-25000"/>
              <a:t>1</a:t>
            </a:r>
            <a:r>
              <a:rPr lang="en-US" altLang="en-US" sz="2400"/>
              <a:t> transfer $50 from </a:t>
            </a:r>
            <a:r>
              <a:rPr lang="en-US" altLang="en-US" sz="2400" i="1"/>
              <a:t>A </a:t>
            </a:r>
            <a:r>
              <a:rPr lang="en-US" altLang="en-US" sz="2400"/>
              <a:t>to </a:t>
            </a:r>
            <a:r>
              <a:rPr lang="en-US" altLang="en-US" sz="2400" i="1"/>
              <a:t>B</a:t>
            </a:r>
            <a:r>
              <a:rPr lang="en-US" altLang="en-US" sz="2400"/>
              <a:t>, and </a:t>
            </a:r>
            <a:r>
              <a:rPr lang="en-US" altLang="en-US" sz="2400" i="1"/>
              <a:t>T</a:t>
            </a:r>
            <a:r>
              <a:rPr lang="en-US" altLang="en-US" sz="2400" baseline="-25000"/>
              <a:t>2</a:t>
            </a:r>
            <a:r>
              <a:rPr lang="en-US" altLang="en-US" sz="2400"/>
              <a:t> transfer 10% of the balance from </a:t>
            </a:r>
            <a:r>
              <a:rPr lang="en-US" altLang="en-US" sz="2400" i="1"/>
              <a:t>A </a:t>
            </a:r>
            <a:r>
              <a:rPr lang="en-US" altLang="en-US" sz="2400"/>
              <a:t>to </a:t>
            </a:r>
            <a:r>
              <a:rPr lang="en-US" altLang="en-US" sz="2400" i="1"/>
              <a:t>B.</a:t>
            </a:r>
            <a:r>
              <a:rPr lang="en-US" altLang="en-US" sz="2400"/>
              <a:t>  </a:t>
            </a:r>
          </a:p>
          <a:p>
            <a:pPr>
              <a:lnSpc>
                <a:spcPct val="80000"/>
              </a:lnSpc>
              <a:buFont typeface="Wingdings" panose="05000000000000000000" pitchFamily="2" charset="2"/>
              <a:buChar char="§"/>
              <a:tabLst>
                <a:tab pos="1947863" algn="l"/>
                <a:tab pos="2684463" algn="l"/>
                <a:tab pos="3594100" algn="l"/>
                <a:tab pos="4286250" algn="l"/>
              </a:tabLst>
            </a:pPr>
            <a:r>
              <a:rPr lang="en-US" altLang="en-US" sz="2400"/>
              <a:t>A </a:t>
            </a:r>
            <a:r>
              <a:rPr lang="en-US" altLang="en-US" sz="2400">
                <a:solidFill>
                  <a:srgbClr val="000099"/>
                </a:solidFill>
              </a:rPr>
              <a:t>serial </a:t>
            </a:r>
            <a:r>
              <a:rPr lang="en-US" altLang="en-US" sz="2400"/>
              <a:t>schedule in which </a:t>
            </a:r>
            <a:r>
              <a:rPr lang="en-US" altLang="en-US" sz="2400" i="1"/>
              <a:t>T</a:t>
            </a:r>
            <a:r>
              <a:rPr lang="en-US" altLang="en-US" sz="2400" baseline="-25000"/>
              <a:t>1</a:t>
            </a:r>
            <a:r>
              <a:rPr lang="en-US" altLang="en-US" sz="2400"/>
              <a:t> is followed by </a:t>
            </a:r>
            <a:r>
              <a:rPr lang="en-US" altLang="en-US" sz="2400" i="1"/>
              <a:t>T</a:t>
            </a:r>
            <a:r>
              <a:rPr lang="en-US" altLang="en-US" sz="2400" baseline="-25000"/>
              <a:t>2</a:t>
            </a:r>
            <a:r>
              <a:rPr lang="en-US" altLang="en-US" sz="2400"/>
              <a:t> </a:t>
            </a:r>
          </a:p>
          <a:p>
            <a:pPr marL="0" indent="0">
              <a:lnSpc>
                <a:spcPct val="80000"/>
              </a:lnSpc>
              <a:buNone/>
              <a:tabLst>
                <a:tab pos="1947863" algn="l"/>
                <a:tab pos="2684463" algn="l"/>
                <a:tab pos="3594100" algn="l"/>
                <a:tab pos="4286250" algn="l"/>
              </a:tabLst>
            </a:pPr>
            <a:r>
              <a:rPr lang="en-US" altLang="en-US" sz="2000"/>
              <a:t>		</a:t>
            </a:r>
          </a:p>
          <a:p>
            <a:endParaRPr lang="en-US"/>
          </a:p>
        </p:txBody>
      </p:sp>
      <p:pic>
        <p:nvPicPr>
          <p:cNvPr id="4"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2763982"/>
            <a:ext cx="3733799"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91496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 2</a:t>
            </a:r>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ltLang="en-US" sz="2800"/>
              <a:t>A serial schedule where </a:t>
            </a:r>
            <a:r>
              <a:rPr lang="en-US" altLang="en-US" sz="2800" i="1"/>
              <a:t>T</a:t>
            </a:r>
            <a:r>
              <a:rPr lang="en-US" altLang="en-US" sz="2800" i="1" baseline="-25000"/>
              <a:t>2</a:t>
            </a:r>
            <a:r>
              <a:rPr lang="en-US" altLang="en-US" sz="2800"/>
              <a:t> is followed by </a:t>
            </a:r>
            <a:r>
              <a:rPr kumimoji="1" lang="en-US" altLang="en-US" sz="2800" i="1"/>
              <a:t>T</a:t>
            </a:r>
            <a:r>
              <a:rPr kumimoji="1" lang="en-US" altLang="en-US" sz="2800" baseline="-25000"/>
              <a:t>1</a:t>
            </a:r>
          </a:p>
          <a:p>
            <a:pPr>
              <a:buFont typeface="Wingdings" panose="05000000000000000000" pitchFamily="2" charset="2"/>
              <a:buChar char="§"/>
            </a:pPr>
            <a:endParaRPr lang="en-US" sz="2800"/>
          </a:p>
        </p:txBody>
      </p:sp>
      <p:pic>
        <p:nvPicPr>
          <p:cNvPr id="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413" y="2209800"/>
            <a:ext cx="3827462" cy="4495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1628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 3</a:t>
            </a:r>
          </a:p>
        </p:txBody>
      </p:sp>
      <p:sp>
        <p:nvSpPr>
          <p:cNvPr id="3" name="Content Placeholder 2"/>
          <p:cNvSpPr>
            <a:spLocks noGrp="1"/>
          </p:cNvSpPr>
          <p:nvPr>
            <p:ph idx="1"/>
          </p:nvPr>
        </p:nvSpPr>
        <p:spPr>
          <a:xfrm>
            <a:off x="457200" y="1219200"/>
            <a:ext cx="8229600" cy="4906963"/>
          </a:xfrm>
        </p:spPr>
        <p:txBody>
          <a:bodyPr/>
          <a:lstStyle/>
          <a:p>
            <a:pPr>
              <a:lnSpc>
                <a:spcPct val="90000"/>
              </a:lnSpc>
              <a:tabLst>
                <a:tab pos="1947863" algn="l"/>
                <a:tab pos="2684463" algn="l"/>
                <a:tab pos="3594100" algn="l"/>
                <a:tab pos="4286250" algn="l"/>
              </a:tabLst>
            </a:pPr>
            <a:r>
              <a:rPr lang="en-US" altLang="en-US" sz="2400"/>
              <a:t>Let </a:t>
            </a:r>
            <a:r>
              <a:rPr lang="en-US" altLang="en-US" sz="2400" i="1"/>
              <a:t>T</a:t>
            </a:r>
            <a:r>
              <a:rPr lang="en-US" altLang="en-US" sz="2400" baseline="-25000"/>
              <a:t>1</a:t>
            </a:r>
            <a:r>
              <a:rPr lang="en-US" altLang="en-US" sz="2400"/>
              <a:t> and </a:t>
            </a:r>
            <a:r>
              <a:rPr lang="en-US" altLang="en-US" sz="2400" i="1"/>
              <a:t>T</a:t>
            </a:r>
            <a:r>
              <a:rPr lang="en-US" altLang="en-US" sz="2400" baseline="-25000"/>
              <a:t>2</a:t>
            </a:r>
            <a:r>
              <a:rPr lang="en-US" altLang="en-US" sz="2400"/>
              <a:t> be the transactions defined previously</a:t>
            </a:r>
            <a:r>
              <a:rPr lang="en-US" altLang="en-US" sz="2400" i="1"/>
              <a:t>.</a:t>
            </a:r>
            <a:r>
              <a:rPr lang="en-US" altLang="en-US" sz="2400"/>
              <a:t>  The following schedule is </a:t>
            </a:r>
            <a:r>
              <a:rPr lang="en-US" altLang="en-US" sz="2400" b="1"/>
              <a:t>not a serial schedule</a:t>
            </a:r>
            <a:r>
              <a:rPr lang="en-US" altLang="en-US" sz="2400"/>
              <a:t>, but it is </a:t>
            </a:r>
            <a:r>
              <a:rPr lang="en-US" altLang="en-US" sz="2400" b="1" i="1">
                <a:solidFill>
                  <a:srgbClr val="000099"/>
                </a:solidFill>
              </a:rPr>
              <a:t>equivalent</a:t>
            </a:r>
            <a:r>
              <a:rPr lang="en-US" altLang="en-US" sz="2400">
                <a:solidFill>
                  <a:srgbClr val="000099"/>
                </a:solidFill>
              </a:rPr>
              <a:t> </a:t>
            </a:r>
            <a:r>
              <a:rPr lang="en-US" altLang="en-US" sz="2400"/>
              <a:t>to Schedule 1.</a:t>
            </a:r>
          </a:p>
          <a:p>
            <a:pPr>
              <a:lnSpc>
                <a:spcPct val="90000"/>
              </a:lnSpc>
              <a:buFont typeface="Monotype Sorts" charset="2"/>
              <a:buNone/>
              <a:tabLst>
                <a:tab pos="1947863" algn="l"/>
                <a:tab pos="2684463" algn="l"/>
                <a:tab pos="3594100" algn="l"/>
                <a:tab pos="4286250" algn="l"/>
              </a:tabLst>
            </a:pPr>
            <a:r>
              <a:rPr lang="en-US" altLang="en-US" sz="2400"/>
              <a:t>		</a:t>
            </a:r>
            <a:endParaRPr lang="en-US" altLang="en-US" sz="2400" i="1"/>
          </a:p>
          <a:p>
            <a:endParaRPr lang="en-US"/>
          </a:p>
        </p:txBody>
      </p:sp>
      <p:pic>
        <p:nvPicPr>
          <p:cNvPr id="4"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8300" y="1962150"/>
            <a:ext cx="3273425" cy="408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62000" y="6049963"/>
            <a:ext cx="7848600" cy="369332"/>
          </a:xfrm>
          <a:prstGeom prst="rect">
            <a:avLst/>
          </a:prstGeom>
        </p:spPr>
        <p:txBody>
          <a:bodyPr wrap="square">
            <a:spAutoFit/>
          </a:bodyPr>
          <a:lstStyle/>
          <a:p>
            <a:pPr>
              <a:buSzTx/>
              <a:buFont typeface="Monotype Sorts" charset="2"/>
              <a:buNone/>
            </a:pPr>
            <a:r>
              <a:rPr lang="en-US" altLang="en-US">
                <a:latin typeface="Arial" charset="0"/>
              </a:rPr>
              <a:t>In Schedules 1, 2 and 3, the sum </a:t>
            </a:r>
            <a:r>
              <a:rPr lang="en-US" altLang="en-US" b="1">
                <a:latin typeface="Arial" charset="0"/>
              </a:rPr>
              <a:t>A + B is preserved</a:t>
            </a:r>
            <a:r>
              <a:rPr lang="en-US" altLang="en-US">
                <a:latin typeface="Arial" charset="0"/>
              </a:rPr>
              <a:t>.</a:t>
            </a:r>
          </a:p>
        </p:txBody>
      </p:sp>
    </p:spTree>
    <p:extLst>
      <p:ext uri="{BB962C8B-B14F-4D97-AF65-F5344CB8AC3E}">
        <p14:creationId xmlns:p14="http://schemas.microsoft.com/office/powerpoint/2010/main" val="10640909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Schedule 4</a:t>
            </a:r>
          </a:p>
        </p:txBody>
      </p:sp>
      <p:sp>
        <p:nvSpPr>
          <p:cNvPr id="3" name="Content Placeholder 2"/>
          <p:cNvSpPr>
            <a:spLocks noGrp="1"/>
          </p:cNvSpPr>
          <p:nvPr>
            <p:ph idx="1"/>
          </p:nvPr>
        </p:nvSpPr>
        <p:spPr>
          <a:xfrm>
            <a:off x="457200" y="1295400"/>
            <a:ext cx="8229600" cy="5257800"/>
          </a:xfrm>
        </p:spPr>
        <p:txBody>
          <a:bodyPr>
            <a:normAutofit/>
          </a:bodyPr>
          <a:lstStyle/>
          <a:p>
            <a:r>
              <a:rPr lang="en-US" altLang="en-US" sz="2400"/>
              <a:t>The following concurrent schedule </a:t>
            </a:r>
            <a:r>
              <a:rPr lang="en-US" altLang="en-US" sz="2400" b="1"/>
              <a:t>does not preserve </a:t>
            </a:r>
            <a:r>
              <a:rPr lang="en-US" altLang="en-US" sz="2400"/>
              <a:t>the value of </a:t>
            </a:r>
            <a:r>
              <a:rPr lang="en-US" altLang="en-US" sz="2400" b="1"/>
              <a:t>(</a:t>
            </a:r>
            <a:r>
              <a:rPr lang="en-US" altLang="en-US" sz="2400" b="1" i="1"/>
              <a:t>A </a:t>
            </a:r>
            <a:r>
              <a:rPr lang="en-US" altLang="en-US" sz="2400" b="1"/>
              <a:t>+ </a:t>
            </a:r>
            <a:r>
              <a:rPr lang="en-US" altLang="en-US" sz="2400" b="1" i="1"/>
              <a:t>B</a:t>
            </a:r>
            <a:r>
              <a:rPr lang="en-US" altLang="en-US" sz="2400" b="1"/>
              <a:t> </a:t>
            </a:r>
            <a:r>
              <a:rPr lang="en-US" altLang="en-US" sz="2400" b="1" i="1"/>
              <a:t>)</a:t>
            </a:r>
            <a:r>
              <a:rPr lang="en-US" altLang="en-US" sz="2400"/>
              <a:t>.</a:t>
            </a:r>
            <a:endParaRPr lang="en-US" sz="2400"/>
          </a:p>
        </p:txBody>
      </p:sp>
      <p:pic>
        <p:nvPicPr>
          <p:cNvPr id="4"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663" y="2098675"/>
            <a:ext cx="3419475"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3113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Serializability</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
            </a:pPr>
            <a:r>
              <a:rPr lang="en-US" altLang="en-US" b="1"/>
              <a:t>Basic Assumption</a:t>
            </a:r>
            <a:r>
              <a:rPr lang="en-US" altLang="en-US"/>
              <a:t> – Each transaction preserves database consistency.</a:t>
            </a:r>
          </a:p>
          <a:p>
            <a:pPr>
              <a:buFont typeface="Wingdings" panose="05000000000000000000" pitchFamily="2" charset="2"/>
              <a:buChar char="§"/>
            </a:pPr>
            <a:r>
              <a:rPr lang="en-US" altLang="en-US"/>
              <a:t>Thus serial execution of a set of transactions preserves database consistency.</a:t>
            </a:r>
          </a:p>
          <a:p>
            <a:pPr>
              <a:buFont typeface="Wingdings" panose="05000000000000000000" pitchFamily="2" charset="2"/>
              <a:buChar char="§"/>
            </a:pPr>
            <a:r>
              <a:rPr lang="en-US" altLang="en-US"/>
              <a:t>A (possibly concurrent) </a:t>
            </a:r>
            <a:r>
              <a:rPr lang="en-US" altLang="en-US" b="1"/>
              <a:t>schedule is serializable if it is equivalent to a serial schedule</a:t>
            </a:r>
            <a:r>
              <a:rPr lang="en-US" altLang="en-US"/>
              <a:t>.  Different forms of schedule equivalence give rise to the notions of:</a:t>
            </a:r>
          </a:p>
          <a:p>
            <a:pPr marL="457200" lvl="1" indent="0">
              <a:buNone/>
            </a:pPr>
            <a:r>
              <a:rPr lang="en-US" altLang="en-US">
                <a:ea typeface="ＭＳ Ｐゴシック" pitchFamily="34" charset="-128"/>
              </a:rPr>
              <a:t>1.	</a:t>
            </a:r>
            <a:r>
              <a:rPr lang="en-US" altLang="en-US" b="1">
                <a:solidFill>
                  <a:srgbClr val="000099"/>
                </a:solidFill>
                <a:ea typeface="ＭＳ Ｐゴシック" pitchFamily="34" charset="-128"/>
              </a:rPr>
              <a:t>conflict serializability</a:t>
            </a:r>
          </a:p>
          <a:p>
            <a:pPr marL="457200" lvl="1" indent="0">
              <a:buNone/>
            </a:pPr>
            <a:r>
              <a:rPr lang="en-US" altLang="en-US">
                <a:ea typeface="ＭＳ Ｐゴシック" pitchFamily="34" charset="-128"/>
              </a:rPr>
              <a:t>2.	</a:t>
            </a:r>
            <a:r>
              <a:rPr lang="en-US" altLang="en-US" b="1">
                <a:solidFill>
                  <a:srgbClr val="000099"/>
                </a:solidFill>
                <a:ea typeface="ＭＳ Ｐゴシック" pitchFamily="34" charset="-128"/>
              </a:rPr>
              <a:t>view serializability</a:t>
            </a:r>
          </a:p>
          <a:p>
            <a:pPr>
              <a:buFont typeface="Wingdings" panose="05000000000000000000" pitchFamily="2" charset="2"/>
              <a:buChar char="§"/>
            </a:pPr>
            <a:endParaRPr lang="en-US"/>
          </a:p>
        </p:txBody>
      </p:sp>
    </p:spTree>
    <p:extLst>
      <p:ext uri="{BB962C8B-B14F-4D97-AF65-F5344CB8AC3E}">
        <p14:creationId xmlns:p14="http://schemas.microsoft.com/office/powerpoint/2010/main" val="2566593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Conflicting Instructions </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altLang="en-US"/>
              <a:t>Instructions </a:t>
            </a:r>
            <a:r>
              <a:rPr lang="en-US" altLang="en-US" i="1"/>
              <a:t>l</a:t>
            </a:r>
            <a:r>
              <a:rPr lang="en-US" altLang="en-US" i="1" baseline="-25000"/>
              <a:t>i</a:t>
            </a:r>
            <a:r>
              <a:rPr lang="en-US" altLang="en-US"/>
              <a:t> and </a:t>
            </a:r>
            <a:r>
              <a:rPr lang="en-US" altLang="en-US" i="1" err="1"/>
              <a:t>l</a:t>
            </a:r>
            <a:r>
              <a:rPr lang="en-US" altLang="en-US" i="1" baseline="-25000" err="1"/>
              <a:t>j</a:t>
            </a:r>
            <a:r>
              <a:rPr lang="en-US" altLang="en-US"/>
              <a:t> of transactions </a:t>
            </a:r>
            <a:r>
              <a:rPr lang="en-US" altLang="en-US" i="1"/>
              <a:t>T</a:t>
            </a:r>
            <a:r>
              <a:rPr lang="en-US" altLang="en-US" i="1" baseline="-25000"/>
              <a:t>i</a:t>
            </a:r>
            <a:r>
              <a:rPr lang="en-US" altLang="en-US"/>
              <a:t> and </a:t>
            </a:r>
            <a:r>
              <a:rPr lang="en-US" altLang="en-US" i="1"/>
              <a:t>T</a:t>
            </a:r>
            <a:r>
              <a:rPr lang="en-US" altLang="en-US" i="1" baseline="-25000"/>
              <a:t>j</a:t>
            </a:r>
            <a:r>
              <a:rPr lang="en-US" altLang="en-US"/>
              <a:t> respectively, </a:t>
            </a:r>
            <a:r>
              <a:rPr lang="en-US" altLang="en-US" b="1">
                <a:solidFill>
                  <a:srgbClr val="000099"/>
                </a:solidFill>
              </a:rPr>
              <a:t>conflict</a:t>
            </a:r>
            <a:r>
              <a:rPr lang="en-US" altLang="en-US"/>
              <a:t> if and only if there exists some item </a:t>
            </a:r>
            <a:r>
              <a:rPr lang="en-US" altLang="en-US" i="1"/>
              <a:t>Q</a:t>
            </a:r>
            <a:r>
              <a:rPr lang="en-US" altLang="en-US"/>
              <a:t> accessed by both </a:t>
            </a:r>
            <a:r>
              <a:rPr lang="en-US" altLang="en-US" i="1"/>
              <a:t>l</a:t>
            </a:r>
            <a:r>
              <a:rPr lang="en-US" altLang="en-US" i="1" baseline="-25000"/>
              <a:t>i</a:t>
            </a:r>
            <a:r>
              <a:rPr lang="en-US" altLang="en-US"/>
              <a:t> and </a:t>
            </a:r>
            <a:r>
              <a:rPr lang="en-US" altLang="en-US" i="1" err="1"/>
              <a:t>l</a:t>
            </a:r>
            <a:r>
              <a:rPr lang="en-US" altLang="en-US" i="1" baseline="-25000" err="1"/>
              <a:t>j</a:t>
            </a:r>
            <a:r>
              <a:rPr lang="en-US" altLang="en-US"/>
              <a:t>, and at least one of these instructions wrote </a:t>
            </a:r>
          </a:p>
          <a:p>
            <a:pPr marL="0" indent="0">
              <a:buNone/>
            </a:pPr>
            <a:r>
              <a:rPr lang="en-US" altLang="en-US" i="1"/>
              <a:t>    </a:t>
            </a:r>
            <a:r>
              <a:rPr lang="en-US" altLang="en-US"/>
              <a:t>1. </a:t>
            </a:r>
            <a:r>
              <a:rPr lang="en-US" altLang="en-US" i="1"/>
              <a:t>l</a:t>
            </a:r>
            <a:r>
              <a:rPr lang="en-US" altLang="en-US" i="1" baseline="-25000"/>
              <a:t>i</a:t>
            </a:r>
            <a:r>
              <a:rPr lang="en-US" altLang="en-US"/>
              <a:t> = </a:t>
            </a:r>
            <a:r>
              <a:rPr lang="en-US" altLang="en-US" b="1"/>
              <a:t>read</a:t>
            </a:r>
            <a:r>
              <a:rPr lang="en-US" altLang="en-US"/>
              <a:t>(</a:t>
            </a:r>
            <a:r>
              <a:rPr lang="en-US" altLang="en-US" i="1"/>
              <a:t>Q), </a:t>
            </a:r>
            <a:r>
              <a:rPr lang="en-US" altLang="en-US" i="1" err="1"/>
              <a:t>l</a:t>
            </a:r>
            <a:r>
              <a:rPr lang="en-US" altLang="en-US" i="1" baseline="-25000" err="1"/>
              <a:t>j</a:t>
            </a:r>
            <a:r>
              <a:rPr lang="en-US" altLang="en-US" i="1"/>
              <a:t> = </a:t>
            </a:r>
            <a:r>
              <a:rPr lang="en-US" altLang="en-US" b="1"/>
              <a:t>read</a:t>
            </a:r>
            <a:r>
              <a:rPr lang="en-US" altLang="en-US"/>
              <a:t>(</a:t>
            </a:r>
            <a:r>
              <a:rPr lang="en-US" altLang="en-US" i="1"/>
              <a:t>Q</a:t>
            </a:r>
            <a:r>
              <a:rPr lang="en-US" altLang="en-US"/>
              <a:t>).   </a:t>
            </a:r>
            <a:r>
              <a:rPr lang="en-US" altLang="en-US" i="1"/>
              <a:t>l</a:t>
            </a:r>
            <a:r>
              <a:rPr lang="en-US" altLang="en-US" i="1" baseline="-25000"/>
              <a:t>i</a:t>
            </a:r>
            <a:r>
              <a:rPr lang="en-US" altLang="en-US"/>
              <a:t> and </a:t>
            </a:r>
            <a:r>
              <a:rPr lang="en-US" altLang="en-US" i="1" err="1"/>
              <a:t>l</a:t>
            </a:r>
            <a:r>
              <a:rPr lang="en-US" altLang="en-US" i="1" baseline="-25000" err="1"/>
              <a:t>j</a:t>
            </a:r>
            <a:r>
              <a:rPr lang="en-US" altLang="en-US" i="1"/>
              <a:t> </a:t>
            </a:r>
            <a:r>
              <a:rPr lang="en-US" altLang="en-US" b="1"/>
              <a:t>don’t </a:t>
            </a:r>
          </a:p>
          <a:p>
            <a:pPr marL="0" indent="0">
              <a:buNone/>
            </a:pPr>
            <a:r>
              <a:rPr lang="en-US" altLang="en-US" b="1"/>
              <a:t>                                                      conflict</a:t>
            </a:r>
            <a:r>
              <a:rPr lang="en-US" altLang="en-US"/>
              <a:t>.</a:t>
            </a:r>
            <a:br>
              <a:rPr lang="en-US" altLang="en-US"/>
            </a:br>
            <a:r>
              <a:rPr lang="en-US" altLang="en-US"/>
              <a:t>   2. </a:t>
            </a:r>
            <a:r>
              <a:rPr lang="en-US" altLang="en-US" i="1"/>
              <a:t>l</a:t>
            </a:r>
            <a:r>
              <a:rPr lang="en-US" altLang="en-US" i="1" baseline="-25000"/>
              <a:t>i</a:t>
            </a:r>
            <a:r>
              <a:rPr lang="en-US" altLang="en-US"/>
              <a:t> = </a:t>
            </a:r>
            <a:r>
              <a:rPr lang="en-US" altLang="en-US" b="1"/>
              <a:t>read</a:t>
            </a:r>
            <a:r>
              <a:rPr lang="en-US" altLang="en-US"/>
              <a:t>(</a:t>
            </a:r>
            <a:r>
              <a:rPr lang="en-US" altLang="en-US" i="1"/>
              <a:t>Q),  </a:t>
            </a:r>
            <a:r>
              <a:rPr lang="en-US" altLang="en-US" i="1" err="1"/>
              <a:t>l</a:t>
            </a:r>
            <a:r>
              <a:rPr lang="en-US" altLang="en-US" i="1" baseline="-25000" err="1"/>
              <a:t>j</a:t>
            </a:r>
            <a:r>
              <a:rPr lang="en-US" altLang="en-US" i="1"/>
              <a:t> = </a:t>
            </a:r>
            <a:r>
              <a:rPr lang="en-US" altLang="en-US" b="1"/>
              <a:t>write</a:t>
            </a:r>
            <a:r>
              <a:rPr lang="en-US" altLang="en-US"/>
              <a:t>(</a:t>
            </a:r>
            <a:r>
              <a:rPr lang="en-US" altLang="en-US" i="1"/>
              <a:t>Q</a:t>
            </a:r>
            <a:r>
              <a:rPr lang="en-US" altLang="en-US"/>
              <a:t>).  They </a:t>
            </a:r>
            <a:r>
              <a:rPr lang="en-US" altLang="en-US" b="1"/>
              <a:t>conflict</a:t>
            </a:r>
            <a:r>
              <a:rPr lang="en-US" altLang="en-US"/>
              <a:t>.</a:t>
            </a:r>
            <a:br>
              <a:rPr lang="en-US" altLang="en-US"/>
            </a:br>
            <a:r>
              <a:rPr lang="en-US" altLang="en-US"/>
              <a:t>   3. </a:t>
            </a:r>
            <a:r>
              <a:rPr lang="en-US" altLang="en-US" i="1"/>
              <a:t>l</a:t>
            </a:r>
            <a:r>
              <a:rPr lang="en-US" altLang="en-US" i="1" baseline="-25000"/>
              <a:t>i</a:t>
            </a:r>
            <a:r>
              <a:rPr lang="en-US" altLang="en-US"/>
              <a:t> = </a:t>
            </a:r>
            <a:r>
              <a:rPr lang="en-US" altLang="en-US" b="1"/>
              <a:t>write</a:t>
            </a:r>
            <a:r>
              <a:rPr lang="en-US" altLang="en-US"/>
              <a:t>(</a:t>
            </a:r>
            <a:r>
              <a:rPr lang="en-US" altLang="en-US" i="1"/>
              <a:t>Q), </a:t>
            </a:r>
            <a:r>
              <a:rPr lang="en-US" altLang="en-US" i="1" err="1"/>
              <a:t>l</a:t>
            </a:r>
            <a:r>
              <a:rPr lang="en-US" altLang="en-US" i="1" baseline="-25000" err="1"/>
              <a:t>j</a:t>
            </a:r>
            <a:r>
              <a:rPr lang="en-US" altLang="en-US" i="1"/>
              <a:t> = </a:t>
            </a:r>
            <a:r>
              <a:rPr lang="en-US" altLang="en-US" b="1"/>
              <a:t>read</a:t>
            </a:r>
            <a:r>
              <a:rPr lang="en-US" altLang="en-US"/>
              <a:t>(</a:t>
            </a:r>
            <a:r>
              <a:rPr lang="en-US" altLang="en-US" i="1"/>
              <a:t>Q</a:t>
            </a:r>
            <a:r>
              <a:rPr lang="en-US" altLang="en-US"/>
              <a:t>).   They </a:t>
            </a:r>
            <a:r>
              <a:rPr lang="en-US" altLang="en-US" b="1"/>
              <a:t>conflict</a:t>
            </a:r>
            <a:br>
              <a:rPr lang="en-US" altLang="en-US"/>
            </a:br>
            <a:r>
              <a:rPr lang="en-US" altLang="en-US"/>
              <a:t>   4. </a:t>
            </a:r>
            <a:r>
              <a:rPr lang="en-US" altLang="en-US" i="1"/>
              <a:t>l</a:t>
            </a:r>
            <a:r>
              <a:rPr lang="en-US" altLang="en-US" i="1" baseline="-25000"/>
              <a:t>i</a:t>
            </a:r>
            <a:r>
              <a:rPr lang="en-US" altLang="en-US"/>
              <a:t> = </a:t>
            </a:r>
            <a:r>
              <a:rPr lang="en-US" altLang="en-US" b="1"/>
              <a:t>write</a:t>
            </a:r>
            <a:r>
              <a:rPr lang="en-US" altLang="en-US"/>
              <a:t>(</a:t>
            </a:r>
            <a:r>
              <a:rPr lang="en-US" altLang="en-US" i="1"/>
              <a:t>Q), </a:t>
            </a:r>
            <a:r>
              <a:rPr lang="en-US" altLang="en-US" i="1" err="1"/>
              <a:t>l</a:t>
            </a:r>
            <a:r>
              <a:rPr lang="en-US" altLang="en-US" i="1" baseline="-25000" err="1"/>
              <a:t>j</a:t>
            </a:r>
            <a:r>
              <a:rPr lang="en-US" altLang="en-US" i="1"/>
              <a:t> = </a:t>
            </a:r>
            <a:r>
              <a:rPr lang="en-US" altLang="en-US" b="1"/>
              <a:t>write</a:t>
            </a:r>
            <a:r>
              <a:rPr lang="en-US" altLang="en-US"/>
              <a:t>(</a:t>
            </a:r>
            <a:r>
              <a:rPr lang="en-US" altLang="en-US" i="1"/>
              <a:t>Q</a:t>
            </a:r>
            <a:r>
              <a:rPr lang="en-US" altLang="en-US"/>
              <a:t>).  They </a:t>
            </a:r>
            <a:r>
              <a:rPr lang="en-US" altLang="en-US" b="1"/>
              <a:t>conflict</a:t>
            </a:r>
          </a:p>
        </p:txBody>
      </p:sp>
    </p:spTree>
    <p:extLst>
      <p:ext uri="{BB962C8B-B14F-4D97-AF65-F5344CB8AC3E}">
        <p14:creationId xmlns:p14="http://schemas.microsoft.com/office/powerpoint/2010/main" val="4277246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Conflicting Instructions </a:t>
            </a:r>
          </a:p>
        </p:txBody>
      </p:sp>
      <p:sp>
        <p:nvSpPr>
          <p:cNvPr id="3" name="Content Placeholder 2"/>
          <p:cNvSpPr>
            <a:spLocks noGrp="1"/>
          </p:cNvSpPr>
          <p:nvPr>
            <p:ph idx="1"/>
          </p:nvPr>
        </p:nvSpPr>
        <p:spPr/>
        <p:txBody>
          <a:bodyPr>
            <a:normAutofit/>
          </a:bodyPr>
          <a:lstStyle/>
          <a:p>
            <a:pPr marL="0" indent="0">
              <a:buNone/>
            </a:pPr>
            <a:endParaRPr lang="en-US" altLang="en-US" b="1"/>
          </a:p>
          <a:p>
            <a:pPr>
              <a:buFont typeface="Wingdings" panose="05000000000000000000" pitchFamily="2" charset="2"/>
              <a:buChar char="§"/>
            </a:pPr>
            <a:r>
              <a:rPr lang="en-US" altLang="en-US"/>
              <a:t>Intuitively, a conflict between </a:t>
            </a:r>
            <a:r>
              <a:rPr lang="en-US" altLang="en-US" i="1"/>
              <a:t>l</a:t>
            </a:r>
            <a:r>
              <a:rPr lang="en-US" altLang="en-US" i="1" baseline="-25000"/>
              <a:t>i</a:t>
            </a:r>
            <a:r>
              <a:rPr lang="en-US" altLang="en-US" i="1"/>
              <a:t> </a:t>
            </a:r>
            <a:r>
              <a:rPr lang="en-US" altLang="en-US"/>
              <a:t>and </a:t>
            </a:r>
            <a:r>
              <a:rPr lang="en-US" altLang="en-US" i="1" err="1"/>
              <a:t>l</a:t>
            </a:r>
            <a:r>
              <a:rPr lang="en-US" altLang="en-US" i="1" baseline="-25000" err="1"/>
              <a:t>j</a:t>
            </a:r>
            <a:r>
              <a:rPr lang="en-US" altLang="en-US"/>
              <a:t> forces a (logical) temporal order between them.  </a:t>
            </a:r>
          </a:p>
          <a:p>
            <a:pPr lvl="1">
              <a:buFont typeface="Wingdings" panose="05000000000000000000" pitchFamily="2" charset="2"/>
              <a:buChar char="§"/>
            </a:pPr>
            <a:r>
              <a:rPr lang="en-US" altLang="en-US">
                <a:ea typeface="ＭＳ Ｐゴシック" pitchFamily="34" charset="-128"/>
              </a:rPr>
              <a:t> If </a:t>
            </a:r>
            <a:r>
              <a:rPr lang="en-US" altLang="en-US" i="1">
                <a:ea typeface="ＭＳ Ｐゴシック" pitchFamily="34" charset="-128"/>
              </a:rPr>
              <a:t>l</a:t>
            </a:r>
            <a:r>
              <a:rPr lang="en-US" altLang="en-US" i="1" baseline="-25000">
                <a:ea typeface="ＭＳ Ｐゴシック" pitchFamily="34" charset="-128"/>
              </a:rPr>
              <a:t>i</a:t>
            </a:r>
            <a:r>
              <a:rPr lang="en-US" altLang="en-US">
                <a:ea typeface="ＭＳ Ｐゴシック" pitchFamily="34" charset="-128"/>
              </a:rPr>
              <a:t> and </a:t>
            </a:r>
            <a:r>
              <a:rPr lang="en-US" altLang="en-US" i="1" err="1">
                <a:ea typeface="ＭＳ Ｐゴシック" pitchFamily="34" charset="-128"/>
              </a:rPr>
              <a:t>l</a:t>
            </a:r>
            <a:r>
              <a:rPr lang="en-US" altLang="en-US" i="1" baseline="-25000" err="1">
                <a:ea typeface="ＭＳ Ｐゴシック" pitchFamily="34" charset="-128"/>
              </a:rPr>
              <a:t>j</a:t>
            </a:r>
            <a:r>
              <a:rPr lang="en-US" altLang="en-US">
                <a:ea typeface="ＭＳ Ｐゴシック" pitchFamily="34" charset="-128"/>
              </a:rPr>
              <a:t> are consecutive in a schedule and they do not conflict, their results would remain the same even if they had been interchanged in the schedule.</a:t>
            </a:r>
          </a:p>
          <a:p>
            <a:endParaRPr lang="en-US"/>
          </a:p>
        </p:txBody>
      </p:sp>
    </p:spTree>
    <p:extLst>
      <p:ext uri="{BB962C8B-B14F-4D97-AF65-F5344CB8AC3E}">
        <p14:creationId xmlns:p14="http://schemas.microsoft.com/office/powerpoint/2010/main" val="2662694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Conflict Serializability</a:t>
            </a:r>
          </a:p>
        </p:txBody>
      </p:sp>
      <p:sp>
        <p:nvSpPr>
          <p:cNvPr id="3" name="Content Placeholder 2"/>
          <p:cNvSpPr>
            <a:spLocks noGrp="1"/>
          </p:cNvSpPr>
          <p:nvPr>
            <p:ph idx="1"/>
          </p:nvPr>
        </p:nvSpPr>
        <p:spPr/>
        <p:txBody>
          <a:bodyPr/>
          <a:lstStyle/>
          <a:p>
            <a:pPr>
              <a:buFont typeface="Wingdings" panose="05000000000000000000" pitchFamily="2" charset="2"/>
              <a:buChar char="§"/>
              <a:tabLst>
                <a:tab pos="2222500" algn="l"/>
                <a:tab pos="2568575" algn="l"/>
                <a:tab pos="3319463" algn="l"/>
                <a:tab pos="3594100" algn="l"/>
              </a:tabLst>
            </a:pPr>
            <a:r>
              <a:rPr lang="en-US" altLang="en-US"/>
              <a:t>If a schedule </a:t>
            </a:r>
            <a:r>
              <a:rPr lang="en-US" altLang="en-US" i="1"/>
              <a:t>S</a:t>
            </a:r>
            <a:r>
              <a:rPr lang="en-US" altLang="en-US"/>
              <a:t> can be transformed into a schedule </a:t>
            </a:r>
            <a:r>
              <a:rPr lang="en-US" altLang="en-US" i="1"/>
              <a:t>S´ </a:t>
            </a:r>
            <a:r>
              <a:rPr lang="en-US" altLang="en-US"/>
              <a:t>by a series of swaps of non-conflicting instructions, we say that </a:t>
            </a:r>
            <a:r>
              <a:rPr lang="en-US" altLang="en-US" i="1"/>
              <a:t>S</a:t>
            </a:r>
            <a:r>
              <a:rPr lang="en-US" altLang="en-US"/>
              <a:t> and </a:t>
            </a:r>
            <a:r>
              <a:rPr lang="en-US" altLang="en-US" i="1"/>
              <a:t>S´ </a:t>
            </a:r>
            <a:r>
              <a:rPr lang="en-US" altLang="en-US"/>
              <a:t>are </a:t>
            </a:r>
            <a:r>
              <a:rPr lang="en-US" altLang="en-US" b="1">
                <a:solidFill>
                  <a:srgbClr val="000099"/>
                </a:solidFill>
              </a:rPr>
              <a:t>conflict equivalent</a:t>
            </a:r>
            <a:r>
              <a:rPr lang="en-US" altLang="en-US" i="1"/>
              <a:t>.</a:t>
            </a:r>
            <a:endParaRPr lang="en-US" altLang="en-US"/>
          </a:p>
          <a:p>
            <a:pPr>
              <a:buFont typeface="Wingdings" panose="05000000000000000000" pitchFamily="2" charset="2"/>
              <a:buChar char="§"/>
              <a:tabLst>
                <a:tab pos="2222500" algn="l"/>
                <a:tab pos="2568575" algn="l"/>
                <a:tab pos="3319463" algn="l"/>
                <a:tab pos="3594100" algn="l"/>
              </a:tabLst>
            </a:pPr>
            <a:r>
              <a:rPr lang="en-US" altLang="en-US"/>
              <a:t>We say that a schedule </a:t>
            </a:r>
            <a:r>
              <a:rPr lang="en-US" altLang="en-US" i="1"/>
              <a:t>S</a:t>
            </a:r>
            <a:r>
              <a:rPr lang="en-US" altLang="en-US"/>
              <a:t> is </a:t>
            </a:r>
            <a:r>
              <a:rPr lang="en-US" altLang="en-US" b="1">
                <a:solidFill>
                  <a:srgbClr val="000099"/>
                </a:solidFill>
              </a:rPr>
              <a:t>conflict serializable</a:t>
            </a:r>
            <a:r>
              <a:rPr lang="en-US" altLang="en-US"/>
              <a:t> if it is conflict </a:t>
            </a:r>
            <a:r>
              <a:rPr lang="en-US" altLang="en-US" b="1"/>
              <a:t>equivalent to a serial schedule</a:t>
            </a:r>
          </a:p>
          <a:p>
            <a:pPr>
              <a:buFont typeface="Wingdings" panose="05000000000000000000" pitchFamily="2" charset="2"/>
              <a:buChar char="§"/>
            </a:pPr>
            <a:endParaRPr lang="en-US"/>
          </a:p>
        </p:txBody>
      </p:sp>
    </p:spTree>
    <p:extLst>
      <p:ext uri="{BB962C8B-B14F-4D97-AF65-F5344CB8AC3E}">
        <p14:creationId xmlns:p14="http://schemas.microsoft.com/office/powerpoint/2010/main" val="752625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Conflict Serializability</a:t>
            </a: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Schedule 3 can be transformed into Schedule 6 </a:t>
            </a:r>
          </a:p>
          <a:p>
            <a:pPr>
              <a:buFont typeface="Wingdings" panose="05000000000000000000" pitchFamily="2" charset="2"/>
              <a:buChar char="§"/>
            </a:pPr>
            <a:r>
              <a:rPr lang="en-US"/>
              <a:t> A serial schedule where T2 follows T1, by a series of swaps of non-conflicting instructions. Therefore, Schedule 3 is conflict serializable.</a:t>
            </a:r>
          </a:p>
        </p:txBody>
      </p:sp>
    </p:spTree>
    <p:extLst>
      <p:ext uri="{BB962C8B-B14F-4D97-AF65-F5344CB8AC3E}">
        <p14:creationId xmlns:p14="http://schemas.microsoft.com/office/powerpoint/2010/main" val="1966699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Conflict Serializability</a:t>
            </a:r>
            <a:endParaRPr lang="en-US"/>
          </a:p>
        </p:txBody>
      </p:sp>
      <p:pic>
        <p:nvPicPr>
          <p:cNvPr id="4" name="Picture 1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0150" y="1828800"/>
            <a:ext cx="3048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828800"/>
            <a:ext cx="422592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619895" y="6096000"/>
            <a:ext cx="1797287" cy="523220"/>
          </a:xfrm>
          <a:prstGeom prst="rect">
            <a:avLst/>
          </a:prstGeom>
        </p:spPr>
        <p:txBody>
          <a:bodyPr wrap="none">
            <a:spAutoFit/>
          </a:bodyPr>
          <a:lstStyle/>
          <a:p>
            <a:pPr algn="r"/>
            <a:r>
              <a:rPr lang="en-US" altLang="en-US" sz="2800" b="1"/>
              <a:t>Schedule 3</a:t>
            </a:r>
          </a:p>
        </p:txBody>
      </p:sp>
      <p:sp>
        <p:nvSpPr>
          <p:cNvPr id="7" name="Rectangle 6"/>
          <p:cNvSpPr/>
          <p:nvPr/>
        </p:nvSpPr>
        <p:spPr>
          <a:xfrm>
            <a:off x="5572375" y="6096000"/>
            <a:ext cx="1797287" cy="523220"/>
          </a:xfrm>
          <a:prstGeom prst="rect">
            <a:avLst/>
          </a:prstGeom>
        </p:spPr>
        <p:txBody>
          <a:bodyPr wrap="none">
            <a:spAutoFit/>
          </a:bodyPr>
          <a:lstStyle/>
          <a:p>
            <a:pPr algn="r"/>
            <a:r>
              <a:rPr lang="en-US" altLang="en-US" sz="2800" b="1"/>
              <a:t>Schedule 6</a:t>
            </a:r>
          </a:p>
        </p:txBody>
      </p:sp>
    </p:spTree>
    <p:extLst>
      <p:ext uri="{BB962C8B-B14F-4D97-AF65-F5344CB8AC3E}">
        <p14:creationId xmlns:p14="http://schemas.microsoft.com/office/powerpoint/2010/main" val="41336203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Conflict Serializability</a:t>
            </a:r>
            <a:endParaRPr lang="en-US"/>
          </a:p>
        </p:txBody>
      </p:sp>
      <p:sp>
        <p:nvSpPr>
          <p:cNvPr id="3" name="Content Placeholder 2"/>
          <p:cNvSpPr>
            <a:spLocks noGrp="1"/>
          </p:cNvSpPr>
          <p:nvPr>
            <p:ph idx="1"/>
          </p:nvPr>
        </p:nvSpPr>
        <p:spPr/>
        <p:txBody>
          <a:bodyPr/>
          <a:lstStyle/>
          <a:p>
            <a:r>
              <a:rPr lang="en-US"/>
              <a:t>Example of a schedule that is not conflict serializable</a:t>
            </a:r>
          </a:p>
        </p:txBody>
      </p:sp>
    </p:spTree>
    <p:extLst>
      <p:ext uri="{BB962C8B-B14F-4D97-AF65-F5344CB8AC3E}">
        <p14:creationId xmlns:p14="http://schemas.microsoft.com/office/powerpoint/2010/main" val="3579690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a:t>Anomalies with Interleaved Execution</a:t>
            </a: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ltLang="en-US"/>
              <a:t>Overwriting Uncommitted Data (WW Conflicts):</a:t>
            </a:r>
          </a:p>
          <a:p>
            <a:endParaRPr lang="en-US"/>
          </a:p>
        </p:txBody>
      </p:sp>
      <p:pic>
        <p:nvPicPr>
          <p:cNvPr id="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590800"/>
            <a:ext cx="42386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990600" y="5410200"/>
            <a:ext cx="4572000" cy="1200329"/>
          </a:xfrm>
          <a:prstGeom prst="rect">
            <a:avLst/>
          </a:prstGeom>
        </p:spPr>
        <p:txBody>
          <a:bodyPr>
            <a:spAutoFit/>
          </a:bodyPr>
          <a:lstStyle/>
          <a:p>
            <a:r>
              <a:rPr lang="en-US" altLang="en-US" sz="2400">
                <a:latin typeface="Times New Roman" pitchFamily="18" charset="0"/>
              </a:rPr>
              <a:t>Values of A and B are equal</a:t>
            </a:r>
          </a:p>
          <a:p>
            <a:r>
              <a:rPr lang="en-US" altLang="en-US" sz="2400">
                <a:latin typeface="Times New Roman" pitchFamily="18" charset="0"/>
              </a:rPr>
              <a:t>T1 makes A &amp; B are 1000</a:t>
            </a:r>
          </a:p>
          <a:p>
            <a:r>
              <a:rPr lang="en-US" altLang="en-US" sz="2400">
                <a:latin typeface="Times New Roman" pitchFamily="18" charset="0"/>
              </a:rPr>
              <a:t>T2 makes A &amp; B are 2000</a:t>
            </a:r>
          </a:p>
        </p:txBody>
      </p:sp>
    </p:spTree>
    <p:extLst>
      <p:ext uri="{BB962C8B-B14F-4D97-AF65-F5344CB8AC3E}">
        <p14:creationId xmlns:p14="http://schemas.microsoft.com/office/powerpoint/2010/main" val="2344643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1860917339A24CBF48CA72FD87A938" ma:contentTypeVersion="4" ma:contentTypeDescription="Create a new document." ma:contentTypeScope="" ma:versionID="980b02646fa074ec6df36e14e32d67b1">
  <xsd:schema xmlns:xsd="http://www.w3.org/2001/XMLSchema" xmlns:xs="http://www.w3.org/2001/XMLSchema" xmlns:p="http://schemas.microsoft.com/office/2006/metadata/properties" xmlns:ns2="add626ea-3744-4bc4-9968-be3225425790" xmlns:ns3="be0a9719-4ac4-4ca6-8b98-e7dd01bc4f66" targetNamespace="http://schemas.microsoft.com/office/2006/metadata/properties" ma:root="true" ma:fieldsID="8108df76a192e00ecce4cadae88a104d" ns2:_="" ns3:_="">
    <xsd:import namespace="add626ea-3744-4bc4-9968-be3225425790"/>
    <xsd:import namespace="be0a9719-4ac4-4ca6-8b98-e7dd01bc4f6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d626ea-3744-4bc4-9968-be3225425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0a9719-4ac4-4ca6-8b98-e7dd01bc4f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8F53F0-6349-4FAA-AC4F-7A373528A5EB}">
  <ds:schemaRefs>
    <ds:schemaRef ds:uri="http://schemas.microsoft.com/sharepoint/v3/contenttype/forms"/>
  </ds:schemaRefs>
</ds:datastoreItem>
</file>

<file path=customXml/itemProps2.xml><?xml version="1.0" encoding="utf-8"?>
<ds:datastoreItem xmlns:ds="http://schemas.openxmlformats.org/officeDocument/2006/customXml" ds:itemID="{A4B95255-74F3-47C2-B589-E00E80E361AE}">
  <ds:schemaRefs>
    <ds:schemaRef ds:uri="0d751855-8ec5-4dae-b5f0-246e4d04320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F86B8BF-65A5-43D3-B222-017ACF0800D9}"/>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47</Slides>
  <Notes>0</Notes>
  <HiddenSlides>0</HiddenSlide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Transaction Management System</vt:lpstr>
      <vt:lpstr> Basic Concepts</vt:lpstr>
      <vt:lpstr>Introduction to Transaction Processing</vt:lpstr>
      <vt:lpstr>Introduction to Transaction Processing</vt:lpstr>
      <vt:lpstr>READ AND WRITE OPERATIONS</vt:lpstr>
      <vt:lpstr>READ AND WRITE OPERATIONS</vt:lpstr>
      <vt:lpstr>READ AND WRITE OPERATIONS</vt:lpstr>
      <vt:lpstr>Introduction to Transaction Processing</vt:lpstr>
      <vt:lpstr>Introduction to Transaction Processing</vt:lpstr>
      <vt:lpstr>Introduction to Transaction Processing</vt:lpstr>
      <vt:lpstr>Transaction State</vt:lpstr>
      <vt:lpstr>Transaction State</vt:lpstr>
      <vt:lpstr>Transaction State</vt:lpstr>
      <vt:lpstr>Transaction State</vt:lpstr>
      <vt:lpstr>Transaction State</vt:lpstr>
      <vt:lpstr>Transaction State</vt:lpstr>
      <vt:lpstr>Transaction State</vt:lpstr>
      <vt:lpstr>Transaction State</vt:lpstr>
      <vt:lpstr>Transaction State</vt:lpstr>
      <vt:lpstr>Atomicity Consistency Isolation Durability Properties</vt:lpstr>
      <vt:lpstr>ACID Properties</vt:lpstr>
      <vt:lpstr>ACID Properties</vt:lpstr>
      <vt:lpstr>Operations</vt:lpstr>
      <vt:lpstr>Example of Fund Transfer</vt:lpstr>
      <vt:lpstr>Example of Fund Transfer</vt:lpstr>
      <vt:lpstr>Example of Fund Transfer</vt:lpstr>
      <vt:lpstr>Example of Fund Transfer</vt:lpstr>
      <vt:lpstr>Example of Fund Transfer</vt:lpstr>
      <vt:lpstr>Example of Fund Transfer</vt:lpstr>
      <vt:lpstr>Example of Fund Transfer</vt:lpstr>
      <vt:lpstr>Concurrent Executions</vt:lpstr>
      <vt:lpstr>Concurrent Executions</vt:lpstr>
      <vt:lpstr>Concurrent Executions</vt:lpstr>
      <vt:lpstr>Schedules</vt:lpstr>
      <vt:lpstr>Schedules</vt:lpstr>
      <vt:lpstr>Schedule 1</vt:lpstr>
      <vt:lpstr>Schedule 2</vt:lpstr>
      <vt:lpstr>Schedule 3</vt:lpstr>
      <vt:lpstr>Schedule 4</vt:lpstr>
      <vt:lpstr>Serializability</vt:lpstr>
      <vt:lpstr>Conflicting Instructions </vt:lpstr>
      <vt:lpstr>Conflicting Instructions </vt:lpstr>
      <vt:lpstr>Conflict Serializability</vt:lpstr>
      <vt:lpstr>Conflict Serializability</vt:lpstr>
      <vt:lpstr>Conflict Serializability</vt:lpstr>
      <vt:lpstr>Conflict Serializability</vt:lpstr>
      <vt:lpstr>Anomalies with Interleaved Execution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Management System</dc:title>
  <dc:creator>reshma malik</dc:creator>
  <cp:revision>1</cp:revision>
  <dcterms:created xsi:type="dcterms:W3CDTF">2020-11-09T05:00:14Z</dcterms:created>
  <dcterms:modified xsi:type="dcterms:W3CDTF">2022-11-24T11:21:04Z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0x010100821860917339A24CBF48CA72FD87A938</vt:lpwstr>
  </property>
</Properties>
</file>