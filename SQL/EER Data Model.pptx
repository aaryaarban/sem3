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93" r:id="rId5"/>
    <p:sldId id="257" r:id="rId6"/>
    <p:sldId id="258" r:id="rId7"/>
    <p:sldId id="294" r:id="rId8"/>
    <p:sldId id="259" r:id="rId9"/>
    <p:sldId id="260" r:id="rId10"/>
    <p:sldId id="296" r:id="rId11"/>
    <p:sldId id="261" r:id="rId12"/>
    <p:sldId id="262" r:id="rId13"/>
    <p:sldId id="263" r:id="rId14"/>
    <p:sldId id="264" r:id="rId15"/>
    <p:sldId id="265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305" r:id="rId25"/>
    <p:sldId id="306" r:id="rId26"/>
    <p:sldId id="304" r:id="rId27"/>
    <p:sldId id="278" r:id="rId28"/>
    <p:sldId id="295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7" r:id="rId42"/>
    <p:sldId id="302" r:id="rId43"/>
    <p:sldId id="301" r:id="rId44"/>
  </p:sldIdLst>
  <p:sldSz cx="10080625" cy="7559675"/>
  <p:notesSz cx="7559675" cy="106918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DejaVu Sans"/>
        <a:cs typeface="DejaVu San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DejaVu Sans"/>
        <a:cs typeface="DejaVu San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DejaVu Sans"/>
        <a:cs typeface="DejaVu San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DejaVu Sans"/>
        <a:cs typeface="DejaVu San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DejaVu Sans"/>
        <a:cs typeface="DejaVu San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DejaVu Sans"/>
        <a:cs typeface="DejaVu San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DejaVu Sans"/>
        <a:cs typeface="DejaVu San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DejaVu Sans"/>
        <a:cs typeface="DejaVu San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DejaVu Sans"/>
        <a:cs typeface="DejaVu Sans"/>
      </a:defRPr>
    </a:lvl9pPr>
  </p:defaultTextStyle>
  <p:extLst>
    <p:ext uri="{EFAFB233-063F-42B5-8137-9DF3F51BA10A}">
      <p15:sldGuideLst xmlns:p15="http://schemas.microsoft.com/office/powerpoint/2012/main">
        <p15:guide id="1" orient="horz" pos="2381">
          <p15:clr>
            <a:srgbClr val="A4A3A4"/>
          </p15:clr>
        </p15:guide>
        <p15:guide id="2" pos="317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28DF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9387D9-C2DF-4E11-A6C0-72B98F014D11}" v="3" dt="2022-11-24T15:38:15.2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9" d="100"/>
          <a:sy n="69" d="100"/>
        </p:scale>
        <p:origin x="-1194" y="12"/>
      </p:cViewPr>
      <p:guideLst>
        <p:guide orient="horz" pos="2381"/>
        <p:guide pos="317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theme" Target="theme/theme1.xml"/><Relationship Id="rId50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HAK MEHTA" userId="S::mehak.mehta215063@tsecedu.org::19d39efa-d9cb-4c7c-8999-52a767dde223" providerId="AD" clId="Web-{F49387D9-C2DF-4E11-A6C0-72B98F014D11}"/>
    <pc:docChg chg="modSld">
      <pc:chgData name="MEHAK MEHTA" userId="S::mehak.mehta215063@tsecedu.org::19d39efa-d9cb-4c7c-8999-52a767dde223" providerId="AD" clId="Web-{F49387D9-C2DF-4E11-A6C0-72B98F014D11}" dt="2022-11-24T15:38:11.718" v="1" actId="20577"/>
      <pc:docMkLst>
        <pc:docMk/>
      </pc:docMkLst>
      <pc:sldChg chg="modSp">
        <pc:chgData name="MEHAK MEHTA" userId="S::mehak.mehta215063@tsecedu.org::19d39efa-d9cb-4c7c-8999-52a767dde223" providerId="AD" clId="Web-{F49387D9-C2DF-4E11-A6C0-72B98F014D11}" dt="2022-11-24T15:38:11.718" v="1" actId="20577"/>
        <pc:sldMkLst>
          <pc:docMk/>
          <pc:sldMk cId="0" sldId="257"/>
        </pc:sldMkLst>
        <pc:spChg chg="mod">
          <ac:chgData name="MEHAK MEHTA" userId="S::mehak.mehta215063@tsecedu.org::19d39efa-d9cb-4c7c-8999-52a767dde223" providerId="AD" clId="Web-{F49387D9-C2DF-4E11-A6C0-72B98F014D11}" dt="2022-11-24T15:38:11.718" v="1" actId="20577"/>
          <ac:spMkLst>
            <pc:docMk/>
            <pc:sldMk cId="0" sldId="257"/>
            <ac:spMk id="15362" creationId="{8A9C4CBD-9D25-5E0A-59F5-6DEB5777B45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493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52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anchor="ctr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14795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52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08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07941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52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438408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438408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945815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52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57317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301320"/>
            <a:ext cx="9071640" cy="5852160"/>
          </a:xfrm>
          <a:prstGeom prst="rect">
            <a:avLst/>
          </a:prstGeom>
        </p:spPr>
        <p:txBody>
          <a:bodyPr anchor="ctr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25834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52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209088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504000" y="4059000"/>
            <a:ext cx="4426920" cy="209088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438408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323688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52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438408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209088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5152680" y="4059000"/>
            <a:ext cx="4426920" cy="209088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356755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52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209088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209088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504000" y="4059000"/>
            <a:ext cx="9071640" cy="209088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4888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52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209088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504000" y="4059000"/>
            <a:ext cx="9071640" cy="209088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855308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52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209088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209088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5152680" y="4059000"/>
            <a:ext cx="4426920" cy="209088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504000" y="4059000"/>
            <a:ext cx="4426920" cy="209088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143801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>
            <a:extLst>
              <a:ext uri="{FF2B5EF4-FFF2-40B4-BE49-F238E27FC236}">
                <a16:creationId xmlns:a16="http://schemas.microsoft.com/office/drawing/2014/main" id="{61968F70-E1D9-71F6-BC5E-E922657A1C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2350" y="1768475"/>
            <a:ext cx="5494338" cy="438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7">
            <a:extLst>
              <a:ext uri="{FF2B5EF4-FFF2-40B4-BE49-F238E27FC236}">
                <a16:creationId xmlns:a16="http://schemas.microsoft.com/office/drawing/2014/main" id="{CE86A0EB-9CE0-FD86-6B2A-71DA3A8178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2350" y="1768475"/>
            <a:ext cx="5494338" cy="438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52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08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08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179346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PlaceHolder 1">
            <a:extLst>
              <a:ext uri="{FF2B5EF4-FFF2-40B4-BE49-F238E27FC236}">
                <a16:creationId xmlns:a16="http://schemas.microsoft.com/office/drawing/2014/main" id="{D01294C5-0321-F0D9-4AD2-0D99B653401E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503238" y="301625"/>
            <a:ext cx="9072562" cy="1262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IN" altLang="en-US"/>
              <a:t>Click to edit the title text format</a:t>
            </a:r>
            <a:endParaRPr lang="en-US" altLang="en-US"/>
          </a:p>
        </p:txBody>
      </p:sp>
      <p:sp>
        <p:nvSpPr>
          <p:cNvPr id="6" name="PlaceHolder 2">
            <a:extLst>
              <a:ext uri="{FF2B5EF4-FFF2-40B4-BE49-F238E27FC236}">
                <a16:creationId xmlns:a16="http://schemas.microsoft.com/office/drawing/2014/main" id="{74E681B7-44FA-F74E-FC4A-985F39709527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503238" y="1768475"/>
            <a:ext cx="9072562" cy="4384675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IN"/>
              <a:t>Click to edit the outline text format</a:t>
            </a:r>
            <a:endParaRPr/>
          </a:p>
          <a:p>
            <a:pPr lvl="1"/>
            <a:r>
              <a:rPr lang="en-IN"/>
              <a:t>Second Outline Level</a:t>
            </a:r>
            <a:endParaRPr/>
          </a:p>
          <a:p>
            <a:pPr lvl="2"/>
            <a:r>
              <a:rPr lang="en-IN"/>
              <a:t>Third Outline Level</a:t>
            </a:r>
            <a:endParaRPr/>
          </a:p>
          <a:p>
            <a:pPr lvl="3"/>
            <a:r>
              <a:rPr lang="en-IN"/>
              <a:t>Fourth Outline Level</a:t>
            </a:r>
            <a:endParaRPr/>
          </a:p>
          <a:p>
            <a:pPr lvl="4"/>
            <a:r>
              <a:rPr lang="en-IN"/>
              <a:t>Fifth Outline Level</a:t>
            </a:r>
            <a:endParaRPr/>
          </a:p>
          <a:p>
            <a:pPr lvl="5"/>
            <a:r>
              <a:rPr lang="en-IN"/>
              <a:t>Sixth Outline Level</a:t>
            </a:r>
            <a:endParaRPr/>
          </a:p>
          <a:p>
            <a:pPr lvl="6"/>
            <a:r>
              <a:rPr lang="en-IN"/>
              <a:t>Seventh Outline Level</a:t>
            </a:r>
            <a:endParaRPr/>
          </a:p>
        </p:txBody>
      </p:sp>
      <p:sp>
        <p:nvSpPr>
          <p:cNvPr id="2" name="PlaceHolder 3">
            <a:extLst>
              <a:ext uri="{FF2B5EF4-FFF2-40B4-BE49-F238E27FC236}">
                <a16:creationId xmlns:a16="http://schemas.microsoft.com/office/drawing/2014/main" id="{2C737334-4CC3-C3D3-4F96-804555E1F76C}"/>
              </a:ext>
            </a:extLst>
          </p:cNvPr>
          <p:cNvSpPr>
            <a:spLocks noGrp="1"/>
          </p:cNvSpPr>
          <p:nvPr>
            <p:ph type="dt"/>
          </p:nvPr>
        </p:nvSpPr>
        <p:spPr>
          <a:xfrm>
            <a:off x="503238" y="6886575"/>
            <a:ext cx="2349500" cy="522288"/>
          </a:xfrm>
          <a:prstGeom prst="rect">
            <a:avLst/>
          </a:prstGeom>
        </p:spPr>
        <p:txBody>
          <a:bodyPr lIns="0" tIns="0" rIns="0" bIns="0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400">
                <a:latin typeface="Times New Roman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IN"/>
              <a:t>&lt;date/time&gt;</a:t>
            </a:r>
            <a:endParaRPr sz="1800">
              <a:latin typeface="+mn-lt"/>
            </a:endParaRPr>
          </a:p>
        </p:txBody>
      </p:sp>
      <p:sp>
        <p:nvSpPr>
          <p:cNvPr id="3" name="PlaceHolder 4">
            <a:extLst>
              <a:ext uri="{FF2B5EF4-FFF2-40B4-BE49-F238E27FC236}">
                <a16:creationId xmlns:a16="http://schemas.microsoft.com/office/drawing/2014/main" id="{817343E4-F8C1-B320-C537-349BF2DAE640}"/>
              </a:ext>
            </a:extLst>
          </p:cNvPr>
          <p:cNvSpPr>
            <a:spLocks noGrp="1"/>
          </p:cNvSpPr>
          <p:nvPr>
            <p:ph type="ftr"/>
          </p:nvPr>
        </p:nvSpPr>
        <p:spPr>
          <a:xfrm>
            <a:off x="3448050" y="6886575"/>
            <a:ext cx="3194050" cy="522288"/>
          </a:xfrm>
          <a:prstGeom prst="rect">
            <a:avLst/>
          </a:prstGeom>
        </p:spPr>
        <p:txBody>
          <a:bodyPr lIns="0" tIns="0" rIns="0" bIns="0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400">
                <a:latin typeface="Times New Roman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IN"/>
              <a:t>&lt;footer&gt;</a:t>
            </a:r>
            <a:endParaRPr sz="1800">
              <a:latin typeface="+mn-lt"/>
            </a:endParaRPr>
          </a:p>
        </p:txBody>
      </p:sp>
      <p:sp>
        <p:nvSpPr>
          <p:cNvPr id="4" name="PlaceHolder 5">
            <a:extLst>
              <a:ext uri="{FF2B5EF4-FFF2-40B4-BE49-F238E27FC236}">
                <a16:creationId xmlns:a16="http://schemas.microsoft.com/office/drawing/2014/main" id="{4D95E8CC-9369-AE47-E343-F8720D9B1C45}"/>
              </a:ext>
            </a:extLst>
          </p:cNvPr>
          <p:cNvSpPr>
            <a:spLocks noGrp="1"/>
          </p:cNvSpPr>
          <p:nvPr>
            <p:ph type="sldNum"/>
          </p:nvPr>
        </p:nvSpPr>
        <p:spPr>
          <a:xfrm>
            <a:off x="7226300" y="6886575"/>
            <a:ext cx="2349500" cy="522288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3CE81AC3-62F9-4BED-94F2-AD63D81AFC7B}" type="slidenum">
              <a:rPr lang="en-IN" altLang="en-US"/>
              <a:pPr>
                <a:defRPr/>
              </a:pPr>
              <a:t>‹#›</a:t>
            </a:fld>
            <a:endParaRPr lang="en-US" altLang="en-US" sz="180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  <p:sldLayoutId id="2147483875" r:id="rId11"/>
    <p:sldLayoutId id="2147483876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Arial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Arial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Arial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itchFamily="34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itchFamily="34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itchFamily="34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itchFamily="34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itchFamily="34" charset="0"/>
        </a:defRPr>
      </a:lvl9pPr>
    </p:bodyStyle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Shape 1">
            <a:extLst>
              <a:ext uri="{FF2B5EF4-FFF2-40B4-BE49-F238E27FC236}">
                <a16:creationId xmlns:a16="http://schemas.microsoft.com/office/drawing/2014/main" id="{688751DC-E002-18AC-F0B5-F3F4469CAC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238" y="301625"/>
            <a:ext cx="9072562" cy="1262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SzPct val="45000"/>
              <a:buFontTx/>
              <a:buNone/>
            </a:pPr>
            <a:r>
              <a:rPr lang="en-US" altLang="en-US" sz="4000" b="1">
                <a:latin typeface="Calibri" panose="020F0502020204030204" pitchFamily="34" charset="0"/>
                <a:cs typeface="Calibri" panose="020F0502020204030204" pitchFamily="34" charset="0"/>
              </a:rPr>
              <a:t>The Enhanced Entity-Relationship (EER) Model</a:t>
            </a:r>
          </a:p>
        </p:txBody>
      </p:sp>
      <p:sp>
        <p:nvSpPr>
          <p:cNvPr id="40" name="TextShape 2">
            <a:extLst>
              <a:ext uri="{FF2B5EF4-FFF2-40B4-BE49-F238E27FC236}">
                <a16:creationId xmlns:a16="http://schemas.microsoft.com/office/drawing/2014/main" id="{3135013D-7B9B-982D-9F54-19EC9F51CF93}"/>
              </a:ext>
            </a:extLst>
          </p:cNvPr>
          <p:cNvSpPr txBox="1"/>
          <p:nvPr/>
        </p:nvSpPr>
        <p:spPr>
          <a:xfrm>
            <a:off x="503238" y="1768475"/>
            <a:ext cx="9261475" cy="4384675"/>
          </a:xfrm>
          <a:prstGeom prst="rect">
            <a:avLst/>
          </a:prstGeom>
        </p:spPr>
        <p:txBody>
          <a:bodyPr lIns="0" tIns="0" rIns="0" bIns="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SzPct val="45000"/>
              <a:defRPr/>
            </a:pPr>
            <a:r>
              <a:rPr lang="en-US" sz="3600" b="1" i="1" dirty="0">
                <a:solidFill>
                  <a:srgbClr val="FF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Enhanced ER (EER) model</a:t>
            </a:r>
            <a:endParaRPr sz="3600" b="1" i="1" dirty="0">
              <a:solidFill>
                <a:srgbClr val="FF0000"/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457200" indent="-457200" algn="just" eaLnBrk="1" fontAlgn="auto" hangingPunct="1">
              <a:spcBef>
                <a:spcPts val="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320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Created to design more accurate database</a:t>
            </a:r>
          </a:p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buSzPct val="100000"/>
              <a:defRPr/>
            </a:pPr>
            <a:r>
              <a:rPr lang="en-US" sz="320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    schema's </a:t>
            </a:r>
            <a:endParaRPr sz="3200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457200" indent="-457200" algn="just" eaLnBrk="1" fontAlgn="auto" hangingPunct="1">
              <a:spcBef>
                <a:spcPts val="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320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Reflect the data properties and constraints  </a:t>
            </a:r>
          </a:p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buSzPct val="100000"/>
              <a:defRPr/>
            </a:pPr>
            <a:r>
              <a:rPr lang="en-US" sz="320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    more precisely</a:t>
            </a:r>
            <a:endParaRPr sz="3200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457200" indent="-457200" algn="just" eaLnBrk="1" fontAlgn="auto" hangingPunct="1">
              <a:spcBef>
                <a:spcPts val="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320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Most suitable for complex application than</a:t>
            </a:r>
          </a:p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buSzPct val="100000"/>
              <a:defRPr/>
            </a:pPr>
            <a:r>
              <a:rPr lang="en-US" sz="320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     traditional  applications</a:t>
            </a:r>
            <a:endParaRPr sz="3200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Shape 1">
            <a:extLst>
              <a:ext uri="{FF2B5EF4-FFF2-40B4-BE49-F238E27FC236}">
                <a16:creationId xmlns:a16="http://schemas.microsoft.com/office/drawing/2014/main" id="{8A9C4CBD-9D25-5E0A-59F5-6DEB5777B4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238" y="301625"/>
            <a:ext cx="9072562" cy="1262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Pct val="45000"/>
              <a:buFontTx/>
              <a:buNone/>
            </a:pPr>
            <a:r>
              <a:rPr lang="en-US" altLang="en-US" sz="4000" b="1" dirty="0">
                <a:latin typeface="Calibri"/>
                <a:cs typeface="Calibri"/>
              </a:rPr>
              <a:t>Subclasses, </a:t>
            </a:r>
            <a:r>
              <a:rPr lang="en-US" altLang="en-US" sz="4000" b="1" dirty="0" err="1">
                <a:latin typeface="Calibri"/>
                <a:cs typeface="Calibri"/>
              </a:rPr>
              <a:t>Superclasses</a:t>
            </a:r>
            <a:r>
              <a:rPr lang="en-US" altLang="en-US" sz="4000" b="1" dirty="0">
                <a:latin typeface="Calibri"/>
                <a:cs typeface="Calibri"/>
              </a:rPr>
              <a:t>, and Inheritance</a:t>
            </a:r>
          </a:p>
        </p:txBody>
      </p:sp>
      <p:sp>
        <p:nvSpPr>
          <p:cNvPr id="15363" name="TextShape 2">
            <a:extLst>
              <a:ext uri="{FF2B5EF4-FFF2-40B4-BE49-F238E27FC236}">
                <a16:creationId xmlns:a16="http://schemas.microsoft.com/office/drawing/2014/main" id="{5816CD7A-36AA-5115-740E-C0C45D168B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238" y="1768475"/>
            <a:ext cx="9072562" cy="438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914400" indent="-4572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altLang="en-US" b="1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EER model includes all modeling concepts of the ER model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>
              <a:cs typeface="Calibri" panose="020F0502020204030204" pitchFamily="34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endParaRPr lang="en-US" altLang="en-US" sz="1800">
              <a:cs typeface="Calibri" panose="020F0502020204030204" pitchFamily="34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altLang="en-US">
                <a:latin typeface="Calibri" panose="020F0502020204030204" pitchFamily="34" charset="0"/>
                <a:cs typeface="Calibri" panose="020F0502020204030204" pitchFamily="34" charset="0"/>
              </a:rPr>
              <a:t>In addition, EER includes:</a:t>
            </a:r>
            <a:endParaRPr lang="en-US" altLang="en-US" sz="18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>
              <a:spcBef>
                <a:spcPct val="0"/>
              </a:spcBef>
              <a:buSzPct val="70000"/>
              <a:buFont typeface="Wingdings" panose="05000000000000000000" pitchFamily="2" charset="2"/>
              <a:buChar char="q"/>
            </a:pPr>
            <a:r>
              <a:rPr lang="en-US" altLang="en-US" b="1" i="1">
                <a:latin typeface="Calibri" panose="020F0502020204030204" pitchFamily="34" charset="0"/>
                <a:cs typeface="Calibri" panose="020F0502020204030204" pitchFamily="34" charset="0"/>
              </a:rPr>
              <a:t>Subclasses</a:t>
            </a:r>
            <a:r>
              <a:rPr lang="en-US" altLang="en-US" i="1"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altLang="en-US" b="1" i="1">
                <a:latin typeface="Calibri" panose="020F0502020204030204" pitchFamily="34" charset="0"/>
                <a:cs typeface="Calibri" panose="020F0502020204030204" pitchFamily="34" charset="0"/>
              </a:rPr>
              <a:t>Superclasses</a:t>
            </a:r>
            <a:endParaRPr lang="en-US" altLang="en-US" sz="1800" i="1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>
              <a:spcBef>
                <a:spcPct val="0"/>
              </a:spcBef>
              <a:buSzPct val="70000"/>
              <a:buFont typeface="Wingdings" panose="05000000000000000000" pitchFamily="2" charset="2"/>
              <a:buChar char="q"/>
            </a:pPr>
            <a:r>
              <a:rPr lang="en-US" altLang="en-US" b="1" i="1">
                <a:latin typeface="Calibri" panose="020F0502020204030204" pitchFamily="34" charset="0"/>
                <a:cs typeface="Calibri" panose="020F0502020204030204" pitchFamily="34" charset="0"/>
              </a:rPr>
              <a:t>Specialization</a:t>
            </a:r>
            <a:r>
              <a:rPr lang="en-US" altLang="en-US" i="1"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altLang="en-US" b="1" i="1">
                <a:latin typeface="Calibri" panose="020F0502020204030204" pitchFamily="34" charset="0"/>
                <a:cs typeface="Calibri" panose="020F0502020204030204" pitchFamily="34" charset="0"/>
              </a:rPr>
              <a:t>Generalization</a:t>
            </a:r>
            <a:endParaRPr lang="en-US" altLang="en-US" sz="1800" i="1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>
              <a:spcBef>
                <a:spcPct val="0"/>
              </a:spcBef>
              <a:buSzPct val="70000"/>
              <a:buFont typeface="Wingdings" panose="05000000000000000000" pitchFamily="2" charset="2"/>
              <a:buChar char="q"/>
            </a:pPr>
            <a:r>
              <a:rPr lang="en-US" altLang="en-US" b="1" i="1">
                <a:latin typeface="Calibri" panose="020F0502020204030204" pitchFamily="34" charset="0"/>
                <a:cs typeface="Calibri" panose="020F0502020204030204" pitchFamily="34" charset="0"/>
              </a:rPr>
              <a:t>Category</a:t>
            </a:r>
            <a:r>
              <a:rPr lang="en-US" altLang="en-US" i="1">
                <a:latin typeface="Calibri" panose="020F0502020204030204" pitchFamily="34" charset="0"/>
                <a:cs typeface="Calibri" panose="020F0502020204030204" pitchFamily="34" charset="0"/>
              </a:rPr>
              <a:t> and  </a:t>
            </a:r>
            <a:r>
              <a:rPr lang="en-US" altLang="en-US" b="1" i="1">
                <a:latin typeface="Calibri" panose="020F0502020204030204" pitchFamily="34" charset="0"/>
                <a:cs typeface="Calibri" panose="020F0502020204030204" pitchFamily="34" charset="0"/>
              </a:rPr>
              <a:t>union type</a:t>
            </a:r>
            <a:endParaRPr lang="en-US" altLang="en-US" sz="1800" i="1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>
              <a:spcBef>
                <a:spcPct val="0"/>
              </a:spcBef>
              <a:buSzPct val="70000"/>
              <a:buFont typeface="Wingdings" panose="05000000000000000000" pitchFamily="2" charset="2"/>
              <a:buChar char="q"/>
            </a:pPr>
            <a:r>
              <a:rPr lang="en-US" altLang="en-US" b="1" i="1">
                <a:latin typeface="Calibri" panose="020F0502020204030204" pitchFamily="34" charset="0"/>
                <a:cs typeface="Calibri" panose="020F0502020204030204" pitchFamily="34" charset="0"/>
              </a:rPr>
              <a:t>Attribute</a:t>
            </a:r>
            <a:r>
              <a:rPr lang="en-US" altLang="en-US" i="1"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altLang="en-US" b="1" i="1">
                <a:latin typeface="Calibri" panose="020F0502020204030204" pitchFamily="34" charset="0"/>
                <a:cs typeface="Calibri" panose="020F0502020204030204" pitchFamily="34" charset="0"/>
              </a:rPr>
              <a:t>relationship</a:t>
            </a:r>
            <a:r>
              <a:rPr lang="en-US" altLang="en-US" i="1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b="1" i="1">
                <a:latin typeface="Calibri" panose="020F0502020204030204" pitchFamily="34" charset="0"/>
                <a:cs typeface="Calibri" panose="020F0502020204030204" pitchFamily="34" charset="0"/>
              </a:rPr>
              <a:t>inheritance</a:t>
            </a:r>
            <a:endParaRPr lang="en-US" altLang="en-US" sz="1800" i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Shape 1">
            <a:extLst>
              <a:ext uri="{FF2B5EF4-FFF2-40B4-BE49-F238E27FC236}">
                <a16:creationId xmlns:a16="http://schemas.microsoft.com/office/drawing/2014/main" id="{9D557C45-087D-1BFE-8AF5-D3386845C2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238" y="301625"/>
            <a:ext cx="9072562" cy="1262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SzPct val="45000"/>
              <a:buFontTx/>
              <a:buNone/>
            </a:pPr>
            <a:r>
              <a:rPr lang="en-US" altLang="en-US" sz="4400" b="1">
                <a:latin typeface="Calibri" panose="020F0502020204030204" pitchFamily="34" charset="0"/>
                <a:cs typeface="Calibri" panose="020F0502020204030204" pitchFamily="34" charset="0"/>
              </a:rPr>
              <a:t>Subclasses, Superclasses, and Inheritance (cont’d.)</a:t>
            </a:r>
            <a:endParaRPr lang="en-US" altLang="en-US" sz="1800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4" name="TextShape 2">
            <a:extLst>
              <a:ext uri="{FF2B5EF4-FFF2-40B4-BE49-F238E27FC236}">
                <a16:creationId xmlns:a16="http://schemas.microsoft.com/office/drawing/2014/main" id="{9955A80B-7C9E-B312-C29A-5F9938FDEBAE}"/>
              </a:ext>
            </a:extLst>
          </p:cNvPr>
          <p:cNvSpPr txBox="1"/>
          <p:nvPr/>
        </p:nvSpPr>
        <p:spPr>
          <a:xfrm>
            <a:off x="503238" y="1768475"/>
            <a:ext cx="9072562" cy="4384675"/>
          </a:xfrm>
          <a:prstGeom prst="rect">
            <a:avLst/>
          </a:prstGeom>
        </p:spPr>
        <p:txBody>
          <a:bodyPr lIns="0" tIns="0" rIns="0" bIns="0"/>
          <a:lstStyle/>
          <a:p>
            <a:pPr lvl="1" eaLnBrk="1" fontAlgn="auto" hangingPunct="1">
              <a:spcBef>
                <a:spcPts val="0"/>
              </a:spcBef>
              <a:spcAft>
                <a:spcPts val="0"/>
              </a:spcAft>
              <a:buSzPct val="75000"/>
              <a:defRPr/>
            </a:pPr>
            <a:endParaRPr dirty="0">
              <a:latin typeface="+mn-lt"/>
              <a:ea typeface="+mn-ea"/>
              <a:cs typeface="+mn-cs"/>
            </a:endParaRPr>
          </a:p>
          <a:p>
            <a:pPr marL="457200" indent="-457200" eaLnBrk="1" fontAlgn="auto" hangingPunct="1">
              <a:spcBef>
                <a:spcPts val="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3600" b="1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Super class</a:t>
            </a:r>
            <a:endParaRPr sz="3600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914400" lvl="1" indent="-457200" eaLnBrk="1" fontAlgn="auto" hangingPunct="1">
              <a:spcBef>
                <a:spcPts val="0"/>
              </a:spcBef>
              <a:spcAft>
                <a:spcPts val="0"/>
              </a:spcAft>
              <a:buSzPct val="70000"/>
              <a:buFont typeface="Wingdings" panose="05000000000000000000" pitchFamily="2" charset="2"/>
              <a:buChar char="q"/>
              <a:defRPr/>
            </a:pPr>
            <a:r>
              <a:rPr lang="en-US" sz="320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The class which is having its sub grouping ,called as </a:t>
            </a:r>
            <a:r>
              <a:rPr lang="en-US" sz="3200" b="1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super class</a:t>
            </a:r>
          </a:p>
          <a:p>
            <a:pPr marL="914400" lvl="1" indent="-457200" eaLnBrk="1" fontAlgn="auto" hangingPunct="1">
              <a:spcBef>
                <a:spcPts val="0"/>
              </a:spcBef>
              <a:spcAft>
                <a:spcPts val="0"/>
              </a:spcAft>
              <a:buSzPct val="70000"/>
              <a:buFont typeface="Wingdings" panose="05000000000000000000" pitchFamily="2" charset="2"/>
              <a:buChar char="q"/>
              <a:defRPr/>
            </a:pPr>
            <a:endParaRPr lang="en-US" sz="3200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914400" lvl="1" indent="-457200" eaLnBrk="1" fontAlgn="auto" hangingPunct="1">
              <a:spcBef>
                <a:spcPts val="0"/>
              </a:spcBef>
              <a:spcAft>
                <a:spcPts val="0"/>
              </a:spcAft>
              <a:buSzPct val="70000"/>
              <a:buFont typeface="Wingdings" panose="05000000000000000000" pitchFamily="2" charset="2"/>
              <a:buChar char="q"/>
              <a:defRPr/>
            </a:pPr>
            <a:r>
              <a:rPr lang="en-US" sz="320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For example :</a:t>
            </a:r>
            <a:r>
              <a:rPr lang="en-US" sz="3200" b="1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Employee super </a:t>
            </a:r>
            <a:r>
              <a:rPr lang="en-US" sz="320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class is having sub grouping as </a:t>
            </a:r>
            <a:r>
              <a:rPr lang="en-US" sz="3200" b="1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Technician , Secretary and Developer</a:t>
            </a:r>
          </a:p>
          <a:p>
            <a:pPr marL="914400" lvl="1" indent="-457200" eaLnBrk="1" fontAlgn="auto" hangingPunct="1">
              <a:spcBef>
                <a:spcPts val="0"/>
              </a:spcBef>
              <a:spcAft>
                <a:spcPts val="0"/>
              </a:spcAft>
              <a:buSzPct val="70000"/>
              <a:buFont typeface="Wingdings" panose="05000000000000000000" pitchFamily="2" charset="2"/>
              <a:buChar char="q"/>
              <a:defRPr/>
            </a:pPr>
            <a:endParaRPr lang="en-US" sz="3600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lvl="1" eaLnBrk="1" fontAlgn="auto" hangingPunct="1">
              <a:spcBef>
                <a:spcPts val="0"/>
              </a:spcBef>
              <a:spcAft>
                <a:spcPts val="0"/>
              </a:spcAft>
              <a:buSzPct val="70000"/>
              <a:defRPr/>
            </a:pPr>
            <a:endParaRPr lang="en-US" sz="3600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Shape 1">
            <a:extLst>
              <a:ext uri="{FF2B5EF4-FFF2-40B4-BE49-F238E27FC236}">
                <a16:creationId xmlns:a16="http://schemas.microsoft.com/office/drawing/2014/main" id="{385BE66D-F45A-AEA6-6781-C7C8E07556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238" y="301625"/>
            <a:ext cx="9072562" cy="1262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SzPct val="45000"/>
              <a:buFontTx/>
              <a:buNone/>
            </a:pPr>
            <a:r>
              <a:rPr lang="en-US" altLang="en-US" sz="4000" b="1">
                <a:latin typeface="Calibri" panose="020F0502020204030204" pitchFamily="34" charset="0"/>
                <a:cs typeface="Calibri" panose="020F0502020204030204" pitchFamily="34" charset="0"/>
              </a:rPr>
              <a:t>Subclasses, Superclasses, and Inheritance (cont’d.)</a:t>
            </a:r>
          </a:p>
        </p:txBody>
      </p:sp>
      <p:sp>
        <p:nvSpPr>
          <p:cNvPr id="44" name="TextShape 2">
            <a:extLst>
              <a:ext uri="{FF2B5EF4-FFF2-40B4-BE49-F238E27FC236}">
                <a16:creationId xmlns:a16="http://schemas.microsoft.com/office/drawing/2014/main" id="{8D97D6D9-7962-91CB-90F0-44510908ADE5}"/>
              </a:ext>
            </a:extLst>
          </p:cNvPr>
          <p:cNvSpPr txBox="1"/>
          <p:nvPr/>
        </p:nvSpPr>
        <p:spPr>
          <a:xfrm>
            <a:off x="503238" y="1768475"/>
            <a:ext cx="9072562" cy="4384675"/>
          </a:xfrm>
          <a:prstGeom prst="rect">
            <a:avLst/>
          </a:prstGeom>
        </p:spPr>
        <p:txBody>
          <a:bodyPr lIns="0" tIns="0" rIns="0" bIns="0"/>
          <a:lstStyle/>
          <a:p>
            <a:pPr lvl="1" eaLnBrk="1" fontAlgn="auto" hangingPunct="1">
              <a:spcBef>
                <a:spcPts val="0"/>
              </a:spcBef>
              <a:spcAft>
                <a:spcPts val="0"/>
              </a:spcAft>
              <a:buSzPct val="75000"/>
              <a:defRPr/>
            </a:pPr>
            <a:endParaRPr dirty="0">
              <a:latin typeface="+mn-lt"/>
              <a:ea typeface="+mn-ea"/>
              <a:cs typeface="+mn-cs"/>
            </a:endParaRPr>
          </a:p>
          <a:p>
            <a:pPr marL="457200" indent="-457200" eaLnBrk="1" fontAlgn="auto" hangingPunct="1">
              <a:spcBef>
                <a:spcPts val="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3600" b="1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Subtype</a:t>
            </a:r>
            <a:r>
              <a:rPr lang="en-US" sz="360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or </a:t>
            </a:r>
            <a:r>
              <a:rPr lang="en-US" sz="3600" b="1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subclass</a:t>
            </a:r>
            <a:r>
              <a:rPr lang="en-US" sz="360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of an entity type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SzPct val="100000"/>
              <a:defRPr/>
            </a:pPr>
            <a:endParaRPr dirty="0">
              <a:latin typeface="+mn-lt"/>
              <a:ea typeface="+mn-ea"/>
              <a:cs typeface="+mn-cs"/>
            </a:endParaRPr>
          </a:p>
          <a:p>
            <a:pPr marL="914400" lvl="1" indent="-457200" eaLnBrk="1" fontAlgn="auto" hangingPunct="1">
              <a:spcBef>
                <a:spcPts val="0"/>
              </a:spcBef>
              <a:spcAft>
                <a:spcPts val="0"/>
              </a:spcAft>
              <a:buSzPct val="70000"/>
              <a:buFont typeface="Wingdings" panose="05000000000000000000" pitchFamily="2" charset="2"/>
              <a:buChar char="q"/>
              <a:defRPr/>
            </a:pPr>
            <a:r>
              <a:rPr lang="en-US" sz="320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The class which is sub grouping of other class  ,called as </a:t>
            </a:r>
            <a:r>
              <a:rPr lang="en-US" sz="3200" b="1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subclass</a:t>
            </a:r>
          </a:p>
          <a:p>
            <a:pPr marL="914400" lvl="1" indent="-457200" eaLnBrk="1" fontAlgn="auto" hangingPunct="1">
              <a:spcBef>
                <a:spcPts val="0"/>
              </a:spcBef>
              <a:spcAft>
                <a:spcPts val="0"/>
              </a:spcAft>
              <a:buSzPct val="70000"/>
              <a:buFont typeface="Wingdings" panose="05000000000000000000" pitchFamily="2" charset="2"/>
              <a:buChar char="q"/>
              <a:defRPr/>
            </a:pPr>
            <a:endParaRPr lang="en-US" sz="3200" b="1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914400" lvl="1" indent="-457200" eaLnBrk="1" fontAlgn="auto" hangingPunct="1">
              <a:spcBef>
                <a:spcPts val="0"/>
              </a:spcBef>
              <a:spcAft>
                <a:spcPts val="0"/>
              </a:spcAft>
              <a:buSzPct val="70000"/>
              <a:buFont typeface="Wingdings" panose="05000000000000000000" pitchFamily="2" charset="2"/>
              <a:buChar char="q"/>
              <a:defRPr/>
            </a:pPr>
            <a:r>
              <a:rPr lang="en-US" sz="320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 subclass is more specific version of its super class</a:t>
            </a:r>
          </a:p>
          <a:p>
            <a:pPr lvl="1" eaLnBrk="1" fontAlgn="auto" hangingPunct="1">
              <a:spcBef>
                <a:spcPts val="0"/>
              </a:spcBef>
              <a:spcAft>
                <a:spcPts val="0"/>
              </a:spcAft>
              <a:buSzPct val="70000"/>
              <a:defRPr/>
            </a:pPr>
            <a:endParaRPr lang="en-US" sz="3200" dirty="0">
              <a:latin typeface="Arial"/>
              <a:ea typeface="+mn-ea"/>
              <a:cs typeface="+mn-cs"/>
            </a:endParaRPr>
          </a:p>
          <a:p>
            <a:pPr lvl="1" eaLnBrk="1" fontAlgn="auto" hangingPunct="1">
              <a:spcBef>
                <a:spcPts val="0"/>
              </a:spcBef>
              <a:spcAft>
                <a:spcPts val="0"/>
              </a:spcAft>
              <a:buSzPct val="70000"/>
              <a:defRPr/>
            </a:pPr>
            <a:endParaRPr lang="en-US" sz="3200" dirty="0">
              <a:latin typeface="Arial"/>
              <a:ea typeface="+mn-ea"/>
              <a:cs typeface="+mn-cs"/>
            </a:endParaRPr>
          </a:p>
          <a:p>
            <a:pPr lvl="1" eaLnBrk="1" fontAlgn="auto" hangingPunct="1">
              <a:spcBef>
                <a:spcPts val="0"/>
              </a:spcBef>
              <a:spcAft>
                <a:spcPts val="0"/>
              </a:spcAft>
              <a:buSzPct val="70000"/>
              <a:defRPr/>
            </a:pPr>
            <a:endParaRPr lang="en-US" sz="3200" dirty="0">
              <a:latin typeface="Arial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Shape 1">
            <a:extLst>
              <a:ext uri="{FF2B5EF4-FFF2-40B4-BE49-F238E27FC236}">
                <a16:creationId xmlns:a16="http://schemas.microsoft.com/office/drawing/2014/main" id="{ABAE7B01-F4FD-03A8-127A-833AB0F965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238" y="301625"/>
            <a:ext cx="9072562" cy="1262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SzPct val="45000"/>
              <a:buFontTx/>
              <a:buNone/>
            </a:pPr>
            <a:r>
              <a:rPr lang="en-US" altLang="en-US" sz="4000" b="1"/>
              <a:t>Subclasses, Superclasses, and Inheritance (cont’d.)</a:t>
            </a:r>
          </a:p>
        </p:txBody>
      </p:sp>
      <p:sp>
        <p:nvSpPr>
          <p:cNvPr id="46" name="TextShape 2">
            <a:extLst>
              <a:ext uri="{FF2B5EF4-FFF2-40B4-BE49-F238E27FC236}">
                <a16:creationId xmlns:a16="http://schemas.microsoft.com/office/drawing/2014/main" id="{B6534385-1D79-50C0-56AC-6BCB9E6003AA}"/>
              </a:ext>
            </a:extLst>
          </p:cNvPr>
          <p:cNvSpPr txBox="1"/>
          <p:nvPr/>
        </p:nvSpPr>
        <p:spPr>
          <a:xfrm>
            <a:off x="503238" y="1768475"/>
            <a:ext cx="9072562" cy="4384675"/>
          </a:xfrm>
          <a:prstGeom prst="rect">
            <a:avLst/>
          </a:prstGeom>
        </p:spPr>
        <p:txBody>
          <a:bodyPr lIns="0" tIns="0" rIns="0" bIns="0" anchor="ctr"/>
          <a:lstStyle/>
          <a:p>
            <a:pPr marL="457200" indent="-457200" algn="just" eaLnBrk="1" fontAlgn="auto" hangingPunct="1">
              <a:spcBef>
                <a:spcPts val="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320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The relationship between a superclass and any one of its subclasses is known as</a:t>
            </a:r>
            <a:endParaRPr sz="3200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914400" lvl="1" indent="-457200" eaLnBrk="1" fontAlgn="auto" hangingPunct="1">
              <a:spcBef>
                <a:spcPts val="0"/>
              </a:spcBef>
              <a:spcAft>
                <a:spcPts val="0"/>
              </a:spcAft>
              <a:buSzPct val="70000"/>
              <a:buFont typeface="Wingdings" panose="05000000000000000000" pitchFamily="2" charset="2"/>
              <a:buChar char="q"/>
              <a:defRPr/>
            </a:pPr>
            <a:r>
              <a:rPr lang="en-US" sz="2800" b="1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Superclass/subclass (encircled d)</a:t>
            </a:r>
            <a:endParaRPr sz="2800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914400" lvl="1" indent="-457200" eaLnBrk="1" fontAlgn="auto" hangingPunct="1">
              <a:spcBef>
                <a:spcPts val="0"/>
              </a:spcBef>
              <a:spcAft>
                <a:spcPts val="0"/>
              </a:spcAft>
              <a:buSzPct val="70000"/>
              <a:buFont typeface="Wingdings" panose="05000000000000000000" pitchFamily="2" charset="2"/>
              <a:buChar char="q"/>
              <a:defRPr/>
            </a:pPr>
            <a:r>
              <a:rPr lang="en-US" sz="2800" b="1" dirty="0" err="1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Supertype</a:t>
            </a:r>
            <a:r>
              <a:rPr lang="en-US" sz="2800" b="1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/subtype</a:t>
            </a:r>
            <a:endParaRPr sz="2800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914400" lvl="1" indent="-457200" eaLnBrk="1" fontAlgn="auto" hangingPunct="1">
              <a:spcBef>
                <a:spcPts val="0"/>
              </a:spcBef>
              <a:spcAft>
                <a:spcPts val="0"/>
              </a:spcAft>
              <a:buSzPct val="70000"/>
              <a:buFont typeface="Wingdings" panose="05000000000000000000" pitchFamily="2" charset="2"/>
              <a:buChar char="q"/>
              <a:defRPr/>
            </a:pPr>
            <a:r>
              <a:rPr lang="en-US" sz="2800" b="1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Class/subclass</a:t>
            </a:r>
            <a:r>
              <a:rPr lang="en-US" sz="280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relationship</a:t>
            </a:r>
            <a:endParaRPr sz="2800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914400" lvl="1" indent="-457200" eaLnBrk="1" fontAlgn="auto" hangingPunct="1">
              <a:spcBef>
                <a:spcPts val="0"/>
              </a:spcBef>
              <a:spcAft>
                <a:spcPts val="0"/>
              </a:spcAft>
              <a:buSzPct val="70000"/>
              <a:buFont typeface="Wingdings" panose="05000000000000000000" pitchFamily="2" charset="2"/>
              <a:buChar char="q"/>
              <a:defRPr/>
            </a:pPr>
            <a:r>
              <a:rPr lang="en-US" sz="2800" b="1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Type inheritance</a:t>
            </a:r>
          </a:p>
          <a:p>
            <a:pPr lvl="1" eaLnBrk="1" fontAlgn="auto" hangingPunct="1">
              <a:spcBef>
                <a:spcPts val="0"/>
              </a:spcBef>
              <a:spcAft>
                <a:spcPts val="0"/>
              </a:spcAft>
              <a:buSzPct val="90000"/>
              <a:defRPr/>
            </a:pPr>
            <a:endParaRPr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457200" indent="-457200" algn="just" eaLnBrk="1" fontAlgn="auto" hangingPunct="1">
              <a:spcBef>
                <a:spcPts val="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320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Subclass entity inherits all attributes and relationships of superclass</a:t>
            </a:r>
            <a:endParaRPr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Shape 1">
            <a:extLst>
              <a:ext uri="{FF2B5EF4-FFF2-40B4-BE49-F238E27FC236}">
                <a16:creationId xmlns:a16="http://schemas.microsoft.com/office/drawing/2014/main" id="{3830BBDA-ADF7-87D4-2057-C5438DEE03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238" y="301625"/>
            <a:ext cx="9072562" cy="1262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SzPct val="45000"/>
              <a:buFontTx/>
              <a:buNone/>
            </a:pPr>
            <a:r>
              <a:rPr lang="en-US" altLang="en-US" sz="4000" b="1">
                <a:latin typeface="Calibri" panose="020F0502020204030204" pitchFamily="34" charset="0"/>
                <a:cs typeface="Calibri" panose="020F0502020204030204" pitchFamily="34" charset="0"/>
              </a:rPr>
              <a:t>Subclasses and Superclasses (1)</a:t>
            </a:r>
          </a:p>
        </p:txBody>
      </p:sp>
      <p:sp>
        <p:nvSpPr>
          <p:cNvPr id="19459" name="TextShape 2">
            <a:extLst>
              <a:ext uri="{FF2B5EF4-FFF2-40B4-BE49-F238E27FC236}">
                <a16:creationId xmlns:a16="http://schemas.microsoft.com/office/drawing/2014/main" id="{3F3CC19D-E249-E045-432B-23B4C9E1A1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238" y="1768475"/>
            <a:ext cx="9072562" cy="438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914400" indent="-4572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SzPct val="90000"/>
              <a:buFont typeface="Wingdings" panose="05000000000000000000" pitchFamily="2" charset="2"/>
              <a:buChar char="§"/>
            </a:pPr>
            <a:r>
              <a:rPr lang="en-US" altLang="en-US">
                <a:latin typeface="Calibri" panose="020F0502020204030204" pitchFamily="34" charset="0"/>
                <a:cs typeface="Calibri" panose="020F0502020204030204" pitchFamily="34" charset="0"/>
              </a:rPr>
              <a:t>An entity type may have additional meaningful subgroupings of its entities</a:t>
            </a:r>
          </a:p>
          <a:p>
            <a:pPr lvl="1" eaLnBrk="1" hangingPunct="1">
              <a:spcBef>
                <a:spcPct val="0"/>
              </a:spcBef>
              <a:buSzPct val="50000"/>
              <a:buFont typeface="Wingdings" panose="05000000000000000000" pitchFamily="2" charset="2"/>
              <a:buChar char="q"/>
            </a:pPr>
            <a:r>
              <a:rPr lang="en-US" altLang="en-US">
                <a:latin typeface="Calibri" panose="020F0502020204030204" pitchFamily="34" charset="0"/>
                <a:cs typeface="Calibri" panose="020F0502020204030204" pitchFamily="34" charset="0"/>
              </a:rPr>
              <a:t>Example: </a:t>
            </a:r>
            <a:r>
              <a:rPr lang="en-US" altLang="en-US" b="1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EMPLOYEE</a:t>
            </a:r>
            <a:r>
              <a:rPr lang="en-US" altLang="en-US">
                <a:latin typeface="Calibri" panose="020F0502020204030204" pitchFamily="34" charset="0"/>
                <a:cs typeface="Calibri" panose="020F0502020204030204" pitchFamily="34" charset="0"/>
              </a:rPr>
              <a:t> may be further grouped into: </a:t>
            </a:r>
          </a:p>
          <a:p>
            <a:pPr lvl="2" eaLnBrk="1" hangingPunct="1">
              <a:spcBef>
                <a:spcPct val="0"/>
              </a:spcBef>
              <a:buSzPct val="60000"/>
              <a:buFont typeface="Courier New" panose="02070309020205020404" pitchFamily="49" charset="0"/>
              <a:buChar char="o"/>
            </a:pPr>
            <a:r>
              <a:rPr lang="en-US" altLang="en-US" sz="2800" b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SECRETARY, ENGINEER, TECHNICIAN</a:t>
            </a:r>
            <a:r>
              <a:rPr lang="en-US" altLang="en-US" sz="28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…</a:t>
            </a:r>
          </a:p>
          <a:p>
            <a:pPr lvl="3" eaLnBrk="1" hangingPunct="1">
              <a:spcBef>
                <a:spcPct val="0"/>
              </a:spcBef>
              <a:buSzPct val="70000"/>
              <a:buFont typeface="Arial" panose="020B0604020202020204" pitchFamily="34" charset="0"/>
              <a:buChar char="•"/>
            </a:pPr>
            <a:r>
              <a:rPr lang="en-US" altLang="en-US" sz="2800">
                <a:latin typeface="Calibri" panose="020F0502020204030204" pitchFamily="34" charset="0"/>
                <a:cs typeface="Calibri" panose="020F0502020204030204" pitchFamily="34" charset="0"/>
              </a:rPr>
              <a:t>Based on the EMPLOYEE’s Job</a:t>
            </a:r>
          </a:p>
          <a:p>
            <a:pPr lvl="2" eaLnBrk="1" hangingPunct="1">
              <a:spcBef>
                <a:spcPct val="0"/>
              </a:spcBef>
              <a:buSzPct val="70000"/>
              <a:buFont typeface="Courier New" panose="02070309020205020404" pitchFamily="49" charset="0"/>
              <a:buChar char="o"/>
            </a:pPr>
            <a:r>
              <a:rPr lang="en-US" altLang="en-US" sz="2800" b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MANAGER</a:t>
            </a:r>
          </a:p>
          <a:p>
            <a:pPr lvl="3" eaLnBrk="1" hangingPunct="1">
              <a:spcBef>
                <a:spcPct val="0"/>
              </a:spcBef>
              <a:buSzPct val="60000"/>
              <a:buFont typeface="Arial" panose="020B0604020202020204" pitchFamily="34" charset="0"/>
              <a:buChar char="•"/>
            </a:pPr>
            <a:r>
              <a:rPr lang="en-US" altLang="en-US" sz="2800">
                <a:latin typeface="Calibri" panose="020F0502020204030204" pitchFamily="34" charset="0"/>
                <a:cs typeface="Calibri" panose="020F0502020204030204" pitchFamily="34" charset="0"/>
              </a:rPr>
              <a:t>EMPLOYEEs who are managers</a:t>
            </a:r>
          </a:p>
          <a:p>
            <a:pPr lvl="2" eaLnBrk="1" hangingPunct="1">
              <a:spcBef>
                <a:spcPct val="0"/>
              </a:spcBef>
              <a:buSzPct val="70000"/>
              <a:buFont typeface="Courier New" panose="02070309020205020404" pitchFamily="49" charset="0"/>
              <a:buChar char="o"/>
            </a:pPr>
            <a:r>
              <a:rPr lang="en-US" altLang="en-US" sz="2800" b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SALARIED_EMPLOYEE, HOURLY_EMPLOYEE</a:t>
            </a:r>
          </a:p>
          <a:p>
            <a:pPr lvl="3" eaLnBrk="1" hangingPunct="1">
              <a:spcBef>
                <a:spcPct val="0"/>
              </a:spcBef>
              <a:buSzPct val="75000"/>
              <a:buFont typeface="Arial" panose="020B0604020202020204" pitchFamily="34" charset="0"/>
              <a:buChar char="•"/>
            </a:pPr>
            <a:r>
              <a:rPr lang="en-US" altLang="en-US" sz="2800">
                <a:latin typeface="Calibri" panose="020F0502020204030204" pitchFamily="34" charset="0"/>
                <a:cs typeface="Calibri" panose="020F0502020204030204" pitchFamily="34" charset="0"/>
              </a:rPr>
              <a:t>Based on the EMPLOYEE’s method of pay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Shape 1">
            <a:extLst>
              <a:ext uri="{FF2B5EF4-FFF2-40B4-BE49-F238E27FC236}">
                <a16:creationId xmlns:a16="http://schemas.microsoft.com/office/drawing/2014/main" id="{26B44EA9-D13F-09DB-C47D-146C5837FB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238" y="301625"/>
            <a:ext cx="9072562" cy="1262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SzPct val="45000"/>
              <a:buFontTx/>
              <a:buNone/>
            </a:pPr>
            <a:r>
              <a:rPr lang="en-US" altLang="en-US" sz="4000" b="1">
                <a:latin typeface="Calibri" panose="020F0502020204030204" pitchFamily="34" charset="0"/>
                <a:cs typeface="Calibri" panose="020F0502020204030204" pitchFamily="34" charset="0"/>
              </a:rPr>
              <a:t>Subclasses and Superclasses (2)</a:t>
            </a:r>
          </a:p>
        </p:txBody>
      </p:sp>
      <p:sp>
        <p:nvSpPr>
          <p:cNvPr id="20483" name="TextShape 2">
            <a:extLst>
              <a:ext uri="{FF2B5EF4-FFF2-40B4-BE49-F238E27FC236}">
                <a16:creationId xmlns:a16="http://schemas.microsoft.com/office/drawing/2014/main" id="{B151EC83-0072-92A4-392F-32866701C0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238" y="1768475"/>
            <a:ext cx="9072562" cy="438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914400" indent="-4572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altLang="en-US" b="1">
                <a:latin typeface="Calibri" panose="020F0502020204030204" pitchFamily="34" charset="0"/>
                <a:cs typeface="Calibri" panose="020F0502020204030204" pitchFamily="34" charset="0"/>
              </a:rPr>
              <a:t>EER diagrams extend ER diagrams to represent these additional subgroupings, </a:t>
            </a:r>
            <a:r>
              <a:rPr lang="en-US" altLang="en-US" b="1" i="1">
                <a:latin typeface="Calibri" panose="020F0502020204030204" pitchFamily="34" charset="0"/>
                <a:cs typeface="Calibri" panose="020F0502020204030204" pitchFamily="34" charset="0"/>
              </a:rPr>
              <a:t>called subclasses or subtypes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>
            <a:extLst>
              <a:ext uri="{FF2B5EF4-FFF2-40B4-BE49-F238E27FC236}">
                <a16:creationId xmlns:a16="http://schemas.microsoft.com/office/drawing/2014/main" id="{21BF9212-A6B5-5FE8-9F83-0BB3FCEC04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0"/>
            <a:ext cx="9536113" cy="720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Shape 1">
            <a:extLst>
              <a:ext uri="{FF2B5EF4-FFF2-40B4-BE49-F238E27FC236}">
                <a16:creationId xmlns:a16="http://schemas.microsoft.com/office/drawing/2014/main" id="{BE9D8B64-7C80-F316-E9E2-C33224FE42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238" y="301625"/>
            <a:ext cx="9072562" cy="1262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SzPct val="45000"/>
              <a:buFontTx/>
              <a:buNone/>
            </a:pPr>
            <a:r>
              <a:rPr lang="en-US" altLang="en-US" sz="4000" b="1">
                <a:latin typeface="Calibri" panose="020F0502020204030204" pitchFamily="34" charset="0"/>
                <a:cs typeface="Calibri" panose="020F0502020204030204" pitchFamily="34" charset="0"/>
              </a:rPr>
              <a:t>Subclasses and Superclasses (2)</a:t>
            </a:r>
          </a:p>
        </p:txBody>
      </p:sp>
      <p:sp>
        <p:nvSpPr>
          <p:cNvPr id="22531" name="TextShape 2">
            <a:extLst>
              <a:ext uri="{FF2B5EF4-FFF2-40B4-BE49-F238E27FC236}">
                <a16:creationId xmlns:a16="http://schemas.microsoft.com/office/drawing/2014/main" id="{C03E61ED-6959-BDC5-58E4-B092F9B7CC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238" y="1768475"/>
            <a:ext cx="9072562" cy="438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altLang="en-US" sz="2800">
                <a:latin typeface="Calibri" panose="020F0502020204030204" pitchFamily="34" charset="0"/>
                <a:cs typeface="Calibri" panose="020F0502020204030204" pitchFamily="34" charset="0"/>
              </a:rPr>
              <a:t>Each of these subgroupings is a subset of </a:t>
            </a:r>
            <a:r>
              <a:rPr lang="en-US" altLang="en-US" sz="2800" b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EMPLOYEE</a:t>
            </a:r>
            <a:r>
              <a:rPr lang="en-US" altLang="en-US" sz="2800">
                <a:latin typeface="Calibri" panose="020F0502020204030204" pitchFamily="34" charset="0"/>
                <a:cs typeface="Calibri" panose="020F0502020204030204" pitchFamily="34" charset="0"/>
              </a:rPr>
              <a:t> entities 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altLang="en-US" sz="2800">
                <a:latin typeface="Calibri" panose="020F0502020204030204" pitchFamily="34" charset="0"/>
                <a:cs typeface="Calibri" panose="020F0502020204030204" pitchFamily="34" charset="0"/>
              </a:rPr>
              <a:t>Each is called a </a:t>
            </a:r>
            <a:r>
              <a:rPr lang="en-US" altLang="en-US" sz="2800" b="1" i="1" u="sng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subclass</a:t>
            </a:r>
            <a:r>
              <a:rPr lang="en-US" altLang="en-US" sz="2800" u="sng">
                <a:latin typeface="Calibri" panose="020F0502020204030204" pitchFamily="34" charset="0"/>
                <a:cs typeface="Calibri" panose="020F0502020204030204" pitchFamily="34" charset="0"/>
              </a:rPr>
              <a:t> of EMPLOYEE 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altLang="en-US" sz="2800">
                <a:latin typeface="Calibri" panose="020F0502020204030204" pitchFamily="34" charset="0"/>
                <a:cs typeface="Calibri" panose="020F0502020204030204" pitchFamily="34" charset="0"/>
              </a:rPr>
              <a:t>EMPLOYEE is the superclass for each of these subclasses 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altLang="en-US" sz="2800">
                <a:latin typeface="Calibri" panose="020F0502020204030204" pitchFamily="34" charset="0"/>
                <a:cs typeface="Calibri" panose="020F0502020204030204" pitchFamily="34" charset="0"/>
              </a:rPr>
              <a:t>These are called superclass/subclass relationships:</a:t>
            </a:r>
          </a:p>
          <a:p>
            <a:pPr lvl="1" eaLnBrk="1" hangingPunct="1">
              <a:spcBef>
                <a:spcPct val="0"/>
              </a:spcBef>
              <a:buSzPct val="75000"/>
              <a:buFont typeface="StarSymbol"/>
              <a:buChar char=""/>
            </a:pPr>
            <a:r>
              <a:rPr lang="en-US" altLang="en-US">
                <a:latin typeface="Calibri" panose="020F0502020204030204" pitchFamily="34" charset="0"/>
                <a:cs typeface="Calibri" panose="020F0502020204030204" pitchFamily="34" charset="0"/>
              </a:rPr>
              <a:t>EMPLOYEE/SECRETARY</a:t>
            </a:r>
          </a:p>
          <a:p>
            <a:pPr lvl="1" eaLnBrk="1" hangingPunct="1">
              <a:spcBef>
                <a:spcPct val="0"/>
              </a:spcBef>
              <a:buSzPct val="75000"/>
              <a:buFont typeface="StarSymbol"/>
              <a:buChar char=""/>
            </a:pPr>
            <a:r>
              <a:rPr lang="en-US" altLang="en-US">
                <a:latin typeface="Calibri" panose="020F0502020204030204" pitchFamily="34" charset="0"/>
                <a:cs typeface="Calibri" panose="020F0502020204030204" pitchFamily="34" charset="0"/>
              </a:rPr>
              <a:t>EMPLOYEE/TECHNICIAN</a:t>
            </a:r>
          </a:p>
          <a:p>
            <a:pPr lvl="1" eaLnBrk="1" hangingPunct="1">
              <a:spcBef>
                <a:spcPct val="0"/>
              </a:spcBef>
              <a:buSzPct val="75000"/>
              <a:buFont typeface="StarSymbol"/>
              <a:buChar char=""/>
            </a:pPr>
            <a:r>
              <a:rPr lang="en-US" altLang="en-US">
                <a:latin typeface="Calibri" panose="020F0502020204030204" pitchFamily="34" charset="0"/>
                <a:cs typeface="Calibri" panose="020F0502020204030204" pitchFamily="34" charset="0"/>
              </a:rPr>
              <a:t>EMPLOYEE/MANAGER</a:t>
            </a:r>
          </a:p>
          <a:p>
            <a:pPr lvl="1" eaLnBrk="1" hangingPunct="1">
              <a:spcBef>
                <a:spcPct val="0"/>
              </a:spcBef>
              <a:buSzPct val="75000"/>
              <a:buFont typeface="StarSymbol"/>
              <a:buChar char=""/>
            </a:pPr>
            <a:r>
              <a:rPr lang="en-US" altLang="en-US"/>
              <a:t>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Shape 1">
            <a:extLst>
              <a:ext uri="{FF2B5EF4-FFF2-40B4-BE49-F238E27FC236}">
                <a16:creationId xmlns:a16="http://schemas.microsoft.com/office/drawing/2014/main" id="{900B7854-59A5-008D-97E4-86175CBC44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238" y="301625"/>
            <a:ext cx="9072562" cy="1262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3555" name="TextShape 2">
            <a:extLst>
              <a:ext uri="{FF2B5EF4-FFF2-40B4-BE49-F238E27FC236}">
                <a16:creationId xmlns:a16="http://schemas.microsoft.com/office/drawing/2014/main" id="{175BCBF6-DBC4-B44C-B505-2A3BB52C4E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238" y="301625"/>
            <a:ext cx="9072562" cy="683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914400" indent="-4572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altLang="en-US">
                <a:latin typeface="Calibri" panose="020F0502020204030204" pitchFamily="34" charset="0"/>
                <a:cs typeface="Calibri" panose="020F0502020204030204" pitchFamily="34" charset="0"/>
              </a:rPr>
              <a:t>Examples:</a:t>
            </a:r>
          </a:p>
          <a:p>
            <a:pPr lvl="1" eaLnBrk="1" hangingPunct="1">
              <a:spcBef>
                <a:spcPct val="0"/>
              </a:spcBef>
              <a:buSzPct val="75000"/>
              <a:buFont typeface="Wingdings" panose="05000000000000000000" pitchFamily="2" charset="2"/>
              <a:buChar char="v"/>
            </a:pPr>
            <a:r>
              <a:rPr lang="en-US" altLang="en-US">
                <a:latin typeface="Calibri" panose="020F0502020204030204" pitchFamily="34" charset="0"/>
                <a:cs typeface="Calibri" panose="020F0502020204030204" pitchFamily="34" charset="0"/>
              </a:rPr>
              <a:t>A salaried employee who is also an engineer belongs to the two subclasses:</a:t>
            </a:r>
          </a:p>
          <a:p>
            <a:pPr lvl="2" eaLnBrk="1" hangingPunct="1">
              <a:spcBef>
                <a:spcPct val="0"/>
              </a:spcBef>
              <a:buSzPct val="70000"/>
              <a:buFont typeface="Courier New" panose="02070309020205020404" pitchFamily="49" charset="0"/>
              <a:buChar char="o"/>
            </a:pPr>
            <a:r>
              <a:rPr lang="en-US" altLang="en-US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ENGINEER, and</a:t>
            </a:r>
          </a:p>
          <a:p>
            <a:pPr lvl="2" eaLnBrk="1" hangingPunct="1">
              <a:spcBef>
                <a:spcPct val="0"/>
              </a:spcBef>
              <a:buSzPct val="70000"/>
              <a:buFont typeface="Courier New" panose="02070309020205020404" pitchFamily="49" charset="0"/>
              <a:buChar char="o"/>
            </a:pPr>
            <a:r>
              <a:rPr lang="en-US" altLang="en-US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SALARIED_EMPLOYEE </a:t>
            </a:r>
          </a:p>
          <a:p>
            <a:pPr lvl="1" eaLnBrk="1" hangingPunct="1">
              <a:spcBef>
                <a:spcPct val="0"/>
              </a:spcBef>
              <a:buSzPct val="75000"/>
              <a:buFont typeface="Wingdings" panose="05000000000000000000" pitchFamily="2" charset="2"/>
              <a:buChar char="v"/>
            </a:pPr>
            <a:r>
              <a:rPr lang="en-US" altLang="en-US">
                <a:latin typeface="Calibri" panose="020F0502020204030204" pitchFamily="34" charset="0"/>
                <a:cs typeface="Calibri" panose="020F0502020204030204" pitchFamily="34" charset="0"/>
              </a:rPr>
              <a:t>A salaried employee who is also an engineering manager belongs to the three subclasses:</a:t>
            </a:r>
          </a:p>
          <a:p>
            <a:pPr lvl="2" eaLnBrk="1" hangingPunct="1">
              <a:spcBef>
                <a:spcPct val="0"/>
              </a:spcBef>
              <a:buSzPct val="45000"/>
              <a:buFont typeface="Courier New" panose="02070309020205020404" pitchFamily="49" charset="0"/>
              <a:buChar char="o"/>
            </a:pPr>
            <a:r>
              <a:rPr lang="en-US" altLang="en-US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MANAGER,</a:t>
            </a:r>
          </a:p>
          <a:p>
            <a:pPr lvl="2" eaLnBrk="1" hangingPunct="1">
              <a:spcBef>
                <a:spcPct val="0"/>
              </a:spcBef>
              <a:buSzPct val="45000"/>
              <a:buFont typeface="Courier New" panose="02070309020205020404" pitchFamily="49" charset="0"/>
              <a:buChar char="o"/>
            </a:pPr>
            <a:r>
              <a:rPr lang="en-US" altLang="en-US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ENGINEER, and</a:t>
            </a:r>
          </a:p>
          <a:p>
            <a:pPr lvl="2" eaLnBrk="1" hangingPunct="1">
              <a:spcBef>
                <a:spcPct val="0"/>
              </a:spcBef>
              <a:buSzPct val="45000"/>
              <a:buFont typeface="Courier New" panose="02070309020205020404" pitchFamily="49" charset="0"/>
              <a:buChar char="o"/>
            </a:pPr>
            <a:r>
              <a:rPr lang="en-US" altLang="en-US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SALARIED_EMPLOYEE 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altLang="en-US" sz="2800">
                <a:latin typeface="Calibri" panose="020F0502020204030204" pitchFamily="34" charset="0"/>
                <a:cs typeface="Calibri" panose="020F0502020204030204" pitchFamily="34" charset="0"/>
              </a:rPr>
              <a:t>It is not necessary that every entity in a superclass be a member of some subclass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Shape 1">
            <a:extLst>
              <a:ext uri="{FF2B5EF4-FFF2-40B4-BE49-F238E27FC236}">
                <a16:creationId xmlns:a16="http://schemas.microsoft.com/office/drawing/2014/main" id="{8603AC22-D7CD-CD7B-73E6-D39E31D0D5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238" y="301625"/>
            <a:ext cx="9072562" cy="1262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SzPct val="45000"/>
              <a:buFontTx/>
              <a:buNone/>
            </a:pPr>
            <a:r>
              <a:rPr lang="en-US" altLang="en-US" sz="4000" b="1">
                <a:latin typeface="Calibri" panose="020F0502020204030204" pitchFamily="34" charset="0"/>
                <a:cs typeface="Calibri" panose="020F0502020204030204" pitchFamily="34" charset="0"/>
              </a:rPr>
              <a:t>Subclasses and Superclasses (3)</a:t>
            </a:r>
          </a:p>
        </p:txBody>
      </p:sp>
      <p:sp>
        <p:nvSpPr>
          <p:cNvPr id="55" name="TextShape 2">
            <a:extLst>
              <a:ext uri="{FF2B5EF4-FFF2-40B4-BE49-F238E27FC236}">
                <a16:creationId xmlns:a16="http://schemas.microsoft.com/office/drawing/2014/main" id="{2459355F-9596-0A94-C8B6-ACF35F63A835}"/>
              </a:ext>
            </a:extLst>
          </p:cNvPr>
          <p:cNvSpPr txBox="1"/>
          <p:nvPr/>
        </p:nvSpPr>
        <p:spPr>
          <a:xfrm>
            <a:off x="503238" y="1768475"/>
            <a:ext cx="9072562" cy="4384675"/>
          </a:xfrm>
          <a:prstGeom prst="rect">
            <a:avLst/>
          </a:prstGeom>
        </p:spPr>
        <p:txBody>
          <a:bodyPr lIns="0" tIns="0" rIns="0" bIns="0"/>
          <a:lstStyle/>
          <a:p>
            <a:pPr marL="342900" indent="-34290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These are also called </a:t>
            </a:r>
            <a:r>
              <a:rPr lang="en-US" sz="2800" b="1" dirty="0">
                <a:solidFill>
                  <a:srgbClr val="FF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IS-A</a:t>
            </a:r>
            <a:r>
              <a:rPr lang="en-US" sz="280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relationships</a:t>
            </a:r>
          </a:p>
          <a:p>
            <a:pPr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defRPr/>
            </a:pPr>
            <a:endParaRPr sz="2800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800100" lvl="1" indent="-34290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75000"/>
              <a:buFont typeface="Wingdings" panose="05000000000000000000" pitchFamily="2" charset="2"/>
              <a:buChar char="q"/>
              <a:defRPr/>
            </a:pPr>
            <a:r>
              <a:rPr lang="en-US" sz="220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SECRETARY IS-A EMPLOYEE, TECHNICIAN IS-A EMPLOYEE, ….</a:t>
            </a:r>
          </a:p>
          <a:p>
            <a:pPr marL="800100" lvl="1" indent="-34290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75000"/>
              <a:buFont typeface="Wingdings" panose="05000000000000000000" pitchFamily="2" charset="2"/>
              <a:buChar char="q"/>
              <a:defRPr/>
            </a:pPr>
            <a:endParaRPr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342900" indent="-34290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An entity that is member of a subclass represents the same real-world entity as some member of the superclass:</a:t>
            </a:r>
            <a:endParaRPr sz="2800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lvl="1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75000"/>
              <a:buFont typeface="StarSymbol"/>
              <a:buChar char=""/>
              <a:defRPr/>
            </a:pPr>
            <a:r>
              <a:rPr lang="en-US" sz="280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The subclass member is the same entity in a </a:t>
            </a:r>
            <a:r>
              <a:rPr lang="en-US" sz="2800" i="1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distinct specific role</a:t>
            </a:r>
            <a:r>
              <a:rPr lang="en-US" sz="280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endParaRPr sz="2800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lvl="1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75000"/>
              <a:buFont typeface="StarSymbol"/>
              <a:buChar char=""/>
              <a:defRPr/>
            </a:pPr>
            <a:r>
              <a:rPr lang="en-US" sz="280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An entity cannot exist in the database merely by being a member of a subclass; it must also be a member of the superclass </a:t>
            </a:r>
            <a:endParaRPr sz="2800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lvl="1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75000"/>
              <a:buFont typeface="StarSymbol"/>
              <a:buChar char=""/>
              <a:defRPr/>
            </a:pPr>
            <a:r>
              <a:rPr lang="en-US" sz="280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 member of the superclass can be optionally included as a member of any number of its subclasses</a:t>
            </a:r>
            <a:endParaRPr sz="2800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Shape 1">
            <a:extLst>
              <a:ext uri="{FF2B5EF4-FFF2-40B4-BE49-F238E27FC236}">
                <a16:creationId xmlns:a16="http://schemas.microsoft.com/office/drawing/2014/main" id="{98072139-E8D0-4971-A22C-E2B54807FD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238" y="301625"/>
            <a:ext cx="9072562" cy="1262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5603" name="TextShape 2">
            <a:extLst>
              <a:ext uri="{FF2B5EF4-FFF2-40B4-BE49-F238E27FC236}">
                <a16:creationId xmlns:a16="http://schemas.microsoft.com/office/drawing/2014/main" id="{1EF6ED0C-2D1C-40B4-34A3-61D9BE6B03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238" y="122238"/>
            <a:ext cx="9072562" cy="6030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altLang="en-US" sz="2800">
                <a:latin typeface="Calibri" panose="020F0502020204030204" pitchFamily="34" charset="0"/>
                <a:cs typeface="Calibri" panose="020F0502020204030204" pitchFamily="34" charset="0"/>
              </a:rPr>
              <a:t>Examples:</a:t>
            </a:r>
          </a:p>
          <a:p>
            <a:pPr lvl="1" eaLnBrk="1" hangingPunct="1">
              <a:spcBef>
                <a:spcPct val="0"/>
              </a:spcBef>
              <a:buSzPct val="75000"/>
              <a:buFont typeface="StarSymbol"/>
              <a:buChar char=""/>
            </a:pPr>
            <a:r>
              <a:rPr lang="en-US" altLang="en-US">
                <a:latin typeface="Calibri" panose="020F0502020204030204" pitchFamily="34" charset="0"/>
                <a:cs typeface="Calibri" panose="020F0502020204030204" pitchFamily="34" charset="0"/>
              </a:rPr>
              <a:t> A salaried employee who is also an engineer belongs to the two  subclasses:</a:t>
            </a:r>
          </a:p>
          <a:p>
            <a:pPr lvl="2" eaLnBrk="1" hangingPunct="1">
              <a:spcBef>
                <a:spcPct val="0"/>
              </a:spcBef>
            </a:pPr>
            <a:r>
              <a:rPr lang="en-US" altLang="en-US" sz="2800">
                <a:latin typeface="Calibri" panose="020F0502020204030204" pitchFamily="34" charset="0"/>
                <a:cs typeface="Calibri" panose="020F0502020204030204" pitchFamily="34" charset="0"/>
              </a:rPr>
              <a:t>ENGINEER, and</a:t>
            </a:r>
          </a:p>
          <a:p>
            <a:pPr lvl="2" eaLnBrk="1" hangingPunct="1">
              <a:spcBef>
                <a:spcPct val="0"/>
              </a:spcBef>
            </a:pPr>
            <a:r>
              <a:rPr lang="en-US" altLang="en-US" sz="2800">
                <a:latin typeface="Calibri" panose="020F0502020204030204" pitchFamily="34" charset="0"/>
                <a:cs typeface="Calibri" panose="020F0502020204030204" pitchFamily="34" charset="0"/>
              </a:rPr>
              <a:t>SALARIED_EMPLOYEE </a:t>
            </a:r>
          </a:p>
          <a:p>
            <a:pPr lvl="1" eaLnBrk="1" hangingPunct="1">
              <a:spcBef>
                <a:spcPct val="0"/>
              </a:spcBef>
              <a:buSzPct val="75000"/>
              <a:buFont typeface="StarSymbol"/>
              <a:buChar char=""/>
            </a:pPr>
            <a:r>
              <a:rPr lang="en-US" altLang="en-US">
                <a:latin typeface="Calibri" panose="020F0502020204030204" pitchFamily="34" charset="0"/>
                <a:cs typeface="Calibri" panose="020F0502020204030204" pitchFamily="34" charset="0"/>
              </a:rPr>
              <a:t>A salaried employee who is also an engineering manager belongs to the three subclasses:</a:t>
            </a:r>
          </a:p>
          <a:p>
            <a:pPr lvl="2" eaLnBrk="1" hangingPunct="1">
              <a:spcBef>
                <a:spcPct val="0"/>
              </a:spcBef>
              <a:buFont typeface="StarSymbol"/>
              <a:buChar char=""/>
            </a:pPr>
            <a:r>
              <a:rPr lang="en-US" altLang="en-US" sz="2800">
                <a:latin typeface="Calibri" panose="020F0502020204030204" pitchFamily="34" charset="0"/>
                <a:cs typeface="Calibri" panose="020F0502020204030204" pitchFamily="34" charset="0"/>
              </a:rPr>
              <a:t>MANAGER,</a:t>
            </a:r>
          </a:p>
          <a:p>
            <a:pPr lvl="2" eaLnBrk="1" hangingPunct="1">
              <a:spcBef>
                <a:spcPct val="0"/>
              </a:spcBef>
              <a:buFont typeface="StarSymbol"/>
              <a:buChar char=""/>
            </a:pPr>
            <a:r>
              <a:rPr lang="en-US" altLang="en-US" sz="2800">
                <a:latin typeface="Calibri" panose="020F0502020204030204" pitchFamily="34" charset="0"/>
                <a:cs typeface="Calibri" panose="020F0502020204030204" pitchFamily="34" charset="0"/>
              </a:rPr>
              <a:t>ENGINEER, and</a:t>
            </a:r>
          </a:p>
          <a:p>
            <a:pPr lvl="2" eaLnBrk="1" hangingPunct="1">
              <a:spcBef>
                <a:spcPct val="0"/>
              </a:spcBef>
              <a:buFont typeface="StarSymbol"/>
              <a:buChar char=""/>
            </a:pPr>
            <a:r>
              <a:rPr lang="en-US" altLang="en-US" sz="2800">
                <a:latin typeface="Calibri" panose="020F0502020204030204" pitchFamily="34" charset="0"/>
                <a:cs typeface="Calibri" panose="020F0502020204030204" pitchFamily="34" charset="0"/>
              </a:rPr>
              <a:t>SALARIED_EMPLOYEE </a:t>
            </a:r>
          </a:p>
          <a:p>
            <a:pPr eaLnBrk="1" hangingPunct="1">
              <a:spcBef>
                <a:spcPct val="0"/>
              </a:spcBef>
              <a:buSzPct val="45000"/>
              <a:buFontTx/>
              <a:buNone/>
            </a:pPr>
            <a:endParaRPr lang="en-US" altLang="en-US" sz="28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spcBef>
                <a:spcPct val="0"/>
              </a:spcBef>
              <a:buSzPct val="45000"/>
              <a:buFontTx/>
              <a:buNone/>
            </a:pPr>
            <a:r>
              <a:rPr lang="en-US" altLang="en-US" sz="2800">
                <a:latin typeface="Calibri" panose="020F0502020204030204" pitchFamily="34" charset="0"/>
                <a:cs typeface="Calibri" panose="020F0502020204030204" pitchFamily="34" charset="0"/>
              </a:rPr>
              <a:t>It is not necessary that every entity in a superclass be a member of some subclass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467323DF-02A8-ADC9-3E7C-31199CB86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238" y="301625"/>
            <a:ext cx="9072562" cy="1262063"/>
          </a:xfrm>
        </p:spPr>
        <p:txBody>
          <a:bodyPr/>
          <a:lstStyle/>
          <a:p>
            <a:pPr eaLnBrk="1" hangingPunct="1"/>
            <a:r>
              <a:rPr lang="en-US" altLang="en-US" sz="3200" b="1">
                <a:solidFill>
                  <a:srgbClr val="000000"/>
                </a:solidFill>
              </a:rPr>
              <a:t>Representing Specialization in EER Diagrams</a:t>
            </a:r>
            <a:br>
              <a:rPr lang="en-US" altLang="en-US" sz="3200" b="1">
                <a:solidFill>
                  <a:srgbClr val="000000"/>
                </a:solidFill>
              </a:rPr>
            </a:br>
            <a:endParaRPr lang="en-US" altLang="en-US" sz="3200" b="1">
              <a:solidFill>
                <a:srgbClr val="000000"/>
              </a:solidFill>
            </a:endParaRPr>
          </a:p>
        </p:txBody>
      </p:sp>
      <p:pic>
        <p:nvPicPr>
          <p:cNvPr id="26627" name="Picture 4" descr="fig04_04">
            <a:extLst>
              <a:ext uri="{FF2B5EF4-FFF2-40B4-BE49-F238E27FC236}">
                <a16:creationId xmlns:a16="http://schemas.microsoft.com/office/drawing/2014/main" id="{DC558D28-6C04-E8C6-3D26-C35E773E96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438" y="1820863"/>
            <a:ext cx="9134475" cy="523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>
            <a:extLst>
              <a:ext uri="{FF2B5EF4-FFF2-40B4-BE49-F238E27FC236}">
                <a16:creationId xmlns:a16="http://schemas.microsoft.com/office/drawing/2014/main" id="{FAE724D2-7675-F0CE-8F5F-AD8D7B5E5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238" y="301625"/>
            <a:ext cx="9072562" cy="1262063"/>
          </a:xfrm>
        </p:spPr>
        <p:txBody>
          <a:bodyPr/>
          <a:lstStyle/>
          <a:p>
            <a:pPr eaLnBrk="1" hangingPunct="1"/>
            <a:r>
              <a:rPr lang="en-US" altLang="en-US" sz="3200" b="1">
                <a:solidFill>
                  <a:srgbClr val="000000"/>
                </a:solidFill>
              </a:rPr>
              <a:t>Attribute Inheritance in Superclass / Subclass Relationships </a:t>
            </a:r>
            <a:br>
              <a:rPr lang="en-US" altLang="en-US" sz="3200" b="1">
                <a:solidFill>
                  <a:srgbClr val="000000"/>
                </a:solidFill>
              </a:rPr>
            </a:br>
            <a:endParaRPr lang="en-US" altLang="en-US" sz="3200" b="1">
              <a:solidFill>
                <a:srgbClr val="000000"/>
              </a:solidFill>
            </a:endParaRPr>
          </a:p>
        </p:txBody>
      </p:sp>
      <p:sp>
        <p:nvSpPr>
          <p:cNvPr id="27651" name="Subtitle 2">
            <a:extLst>
              <a:ext uri="{FF2B5EF4-FFF2-40B4-BE49-F238E27FC236}">
                <a16:creationId xmlns:a16="http://schemas.microsoft.com/office/drawing/2014/main" id="{4708C4BF-B8B5-FB8B-6381-3F5427B43257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503238" y="301625"/>
            <a:ext cx="9072562" cy="1262063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"/>
            </a:pPr>
            <a:endParaRPr lang="en-US" altLang="en-US" sz="2800">
              <a:solidFill>
                <a:srgbClr val="000000"/>
              </a:solidFill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"/>
            </a:pPr>
            <a:endParaRPr lang="en-US" altLang="en-US" sz="2800">
              <a:solidFill>
                <a:srgbClr val="000000"/>
              </a:solidFill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"/>
            </a:pPr>
            <a:endParaRPr lang="en-US" altLang="en-US" sz="2800">
              <a:solidFill>
                <a:srgbClr val="000000"/>
              </a:solidFill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"/>
            </a:pPr>
            <a:endParaRPr lang="en-US" altLang="en-US" sz="2800">
              <a:solidFill>
                <a:srgbClr val="000000"/>
              </a:solidFill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"/>
            </a:pPr>
            <a:endParaRPr lang="en-US" altLang="en-US" sz="2800">
              <a:solidFill>
                <a:srgbClr val="000000"/>
              </a:solidFill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"/>
            </a:pPr>
            <a:endParaRPr lang="en-US" altLang="en-US" sz="2800">
              <a:solidFill>
                <a:srgbClr val="000000"/>
              </a:solidFill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"/>
            </a:pPr>
            <a:endParaRPr lang="en-US" altLang="en-US" sz="2800">
              <a:solidFill>
                <a:srgbClr val="000000"/>
              </a:solidFill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"/>
            </a:pPr>
            <a:endParaRPr lang="en-US" altLang="en-US" sz="2800">
              <a:solidFill>
                <a:srgbClr val="000000"/>
              </a:solidFill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"/>
            </a:pPr>
            <a:endParaRPr lang="en-US" altLang="en-US" sz="2800">
              <a:solidFill>
                <a:srgbClr val="000000"/>
              </a:solidFill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"/>
            </a:pPr>
            <a:endParaRPr lang="en-US" altLang="en-US" sz="2800">
              <a:solidFill>
                <a:srgbClr val="000000"/>
              </a:solidFill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"/>
            </a:pPr>
            <a:endParaRPr lang="en-US" altLang="en-US" sz="2800">
              <a:solidFill>
                <a:srgbClr val="000000"/>
              </a:solidFill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"/>
            </a:pPr>
            <a:endParaRPr lang="en-US" altLang="en-US" sz="2800">
              <a:solidFill>
                <a:srgbClr val="000000"/>
              </a:solidFill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"/>
            </a:pPr>
            <a:endParaRPr lang="en-US" altLang="en-US" sz="2800">
              <a:solidFill>
                <a:srgbClr val="000000"/>
              </a:solidFill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"/>
            </a:pPr>
            <a:endParaRPr lang="en-US" altLang="en-US" sz="2800">
              <a:solidFill>
                <a:srgbClr val="000000"/>
              </a:solidFill>
            </a:endParaRPr>
          </a:p>
          <a:p>
            <a:pPr algn="l" eaLnBrk="1" hangingPunct="1">
              <a:lnSpc>
                <a:spcPct val="90000"/>
              </a:lnSpc>
              <a:buFont typeface="Wingdings" panose="05000000000000000000" pitchFamily="2" charset="2"/>
              <a:buChar char=""/>
            </a:pPr>
            <a:endParaRPr lang="en-US" altLang="en-US" sz="280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 eaLnBrk="1" hangingPunct="1">
              <a:lnSpc>
                <a:spcPct val="90000"/>
              </a:lnSpc>
            </a:pPr>
            <a:endParaRPr lang="en-US" altLang="en-US" sz="280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 eaLnBrk="1" hangingPunct="1">
              <a:lnSpc>
                <a:spcPct val="90000"/>
              </a:lnSpc>
            </a:pPr>
            <a:endParaRPr lang="en-US" altLang="en-US" sz="280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 eaLnBrk="1" hangingPunct="1">
              <a:lnSpc>
                <a:spcPct val="90000"/>
              </a:lnSpc>
              <a:buFont typeface="Wingdings" panose="05000000000000000000" pitchFamily="2" charset="2"/>
              <a:buChar char=""/>
            </a:pPr>
            <a:endParaRPr lang="en-US" altLang="en-US" sz="280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lnSpc>
                <a:spcPct val="90000"/>
              </a:lnSpc>
            </a:pPr>
            <a:endParaRPr lang="en-US" altLang="en-US" sz="280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 eaLnBrk="1" hangingPunct="1">
              <a:lnSpc>
                <a:spcPct val="90000"/>
              </a:lnSpc>
              <a:buFont typeface="Wingdings" panose="05000000000000000000" pitchFamily="2" charset="2"/>
              <a:buChar char=""/>
            </a:pPr>
            <a:r>
              <a:rPr lang="en-US" altLang="en-US" sz="28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 entity that is member of a subclass </a:t>
            </a:r>
            <a:r>
              <a:rPr lang="en-US" altLang="en-US" sz="2800" i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inherits</a:t>
            </a:r>
            <a:r>
              <a:rPr lang="en-US" altLang="en-US" sz="28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all attributes</a:t>
            </a:r>
          </a:p>
          <a:p>
            <a:pPr algn="l" eaLnBrk="1" hangingPunct="1">
              <a:lnSpc>
                <a:spcPct val="90000"/>
              </a:lnSpc>
            </a:pPr>
            <a:r>
              <a:rPr lang="en-US" altLang="en-US" sz="28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of the entity as a member of the superclass.</a:t>
            </a:r>
          </a:p>
          <a:p>
            <a:pPr algn="l" eaLnBrk="1" hangingPunct="1">
              <a:lnSpc>
                <a:spcPct val="90000"/>
              </a:lnSpc>
            </a:pPr>
            <a:endParaRPr lang="en-US" altLang="en-US" sz="280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algn="l" eaLnBrk="1" hangingPunct="1">
              <a:lnSpc>
                <a:spcPct val="90000"/>
              </a:lnSpc>
              <a:buSzPct val="80000"/>
              <a:buFont typeface="Wingdings" panose="05000000000000000000" pitchFamily="2" charset="2"/>
              <a:buChar char=""/>
            </a:pPr>
            <a:r>
              <a:rPr lang="en-US" altLang="en-US" sz="28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All relationships of the entity as a member of the superclass</a:t>
            </a:r>
          </a:p>
          <a:p>
            <a:pPr algn="l" eaLnBrk="1" hangingPunct="1">
              <a:lnSpc>
                <a:spcPct val="90000"/>
              </a:lnSpc>
              <a:buFont typeface="Wingdings" panose="05000000000000000000" pitchFamily="2" charset="2"/>
              <a:buChar char=""/>
            </a:pPr>
            <a:r>
              <a:rPr lang="en-US" altLang="en-US" sz="28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Example: SECRETARY (as well as TECHNICIAN and ENGINEER)    inherit the attributes Name, SSN, …, from EMPLOYEE</a:t>
            </a:r>
          </a:p>
          <a:p>
            <a:pPr algn="l" eaLnBrk="1" hangingPunct="1">
              <a:lnSpc>
                <a:spcPct val="90000"/>
              </a:lnSpc>
              <a:buFont typeface="Wingdings" panose="05000000000000000000" pitchFamily="2" charset="2"/>
              <a:buChar char=""/>
            </a:pPr>
            <a:endParaRPr lang="en-US" altLang="en-US" sz="280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algn="l" eaLnBrk="1" hangingPunct="1">
              <a:lnSpc>
                <a:spcPct val="90000"/>
              </a:lnSpc>
              <a:buSzPct val="80000"/>
              <a:buFont typeface="Wingdings" panose="05000000000000000000" pitchFamily="2" charset="2"/>
              <a:buChar char=""/>
            </a:pPr>
            <a:r>
              <a:rPr lang="en-US" altLang="en-US" sz="28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Every SECRETARY entity will have values for the inherited attributes</a:t>
            </a:r>
          </a:p>
          <a:p>
            <a:pPr algn="l" eaLnBrk="1" hangingPunct="1">
              <a:lnSpc>
                <a:spcPct val="90000"/>
              </a:lnSpc>
              <a:buFont typeface="Wingdings" panose="05000000000000000000" pitchFamily="2" charset="2"/>
              <a:buChar char=""/>
            </a:pPr>
            <a:endParaRPr lang="en-US" altLang="en-US" sz="280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/>
            <a:endParaRPr lang="en-US" altLang="en-US" sz="280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>
            <a:extLst>
              <a:ext uri="{FF2B5EF4-FFF2-40B4-BE49-F238E27FC236}">
                <a16:creationId xmlns:a16="http://schemas.microsoft.com/office/drawing/2014/main" id="{77A48356-8280-3208-DC8C-675F3C7E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238" y="301625"/>
            <a:ext cx="9072562" cy="1262063"/>
          </a:xfrm>
        </p:spPr>
        <p:txBody>
          <a:bodyPr/>
          <a:lstStyle/>
          <a:p>
            <a:pPr eaLnBrk="1" hangingPunct="1"/>
            <a:r>
              <a:rPr lang="en-US" altLang="en-US" sz="3200" b="1">
                <a:solidFill>
                  <a:srgbClr val="000000"/>
                </a:solidFill>
              </a:rPr>
              <a:t>Specialization (1)</a:t>
            </a:r>
            <a:br>
              <a:rPr lang="en-US" altLang="en-US" sz="1800" b="1">
                <a:solidFill>
                  <a:srgbClr val="000000"/>
                </a:solidFill>
              </a:rPr>
            </a:br>
            <a:endParaRPr lang="en-US" altLang="en-US" sz="1800" b="1">
              <a:solidFill>
                <a:srgbClr val="000000"/>
              </a:solidFill>
            </a:endParaRPr>
          </a:p>
        </p:txBody>
      </p:sp>
      <p:sp>
        <p:nvSpPr>
          <p:cNvPr id="28675" name="Subtitle 2">
            <a:extLst>
              <a:ext uri="{FF2B5EF4-FFF2-40B4-BE49-F238E27FC236}">
                <a16:creationId xmlns:a16="http://schemas.microsoft.com/office/drawing/2014/main" id="{CED11492-CED2-92D0-B00B-7F35C1B1C449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503238" y="301625"/>
            <a:ext cx="9072562" cy="1262063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3200">
              <a:solidFill>
                <a:srgbClr val="00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3200">
              <a:solidFill>
                <a:srgbClr val="00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3200">
              <a:solidFill>
                <a:srgbClr val="00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3200">
              <a:solidFill>
                <a:srgbClr val="00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3200">
              <a:solidFill>
                <a:srgbClr val="00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3200">
              <a:solidFill>
                <a:srgbClr val="00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3200">
              <a:solidFill>
                <a:srgbClr val="00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3200">
              <a:solidFill>
                <a:srgbClr val="00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3200">
              <a:solidFill>
                <a:srgbClr val="00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3200">
              <a:solidFill>
                <a:srgbClr val="000000"/>
              </a:solidFill>
            </a:endParaRPr>
          </a:p>
          <a:p>
            <a:pPr algn="l" eaLnBrk="1" hangingPunct="1">
              <a:buFont typeface="Wingdings" panose="05000000000000000000" pitchFamily="2" charset="2"/>
              <a:buChar char=""/>
            </a:pPr>
            <a:endParaRPr lang="en-US" altLang="en-US" sz="3200">
              <a:solidFill>
                <a:srgbClr val="00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3200">
              <a:solidFill>
                <a:srgbClr val="00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3200">
              <a:solidFill>
                <a:srgbClr val="000000"/>
              </a:solidFill>
            </a:endParaRPr>
          </a:p>
          <a:p>
            <a:pPr algn="l" eaLnBrk="1" hangingPunct="1">
              <a:buFont typeface="Wingdings" panose="05000000000000000000" pitchFamily="2" charset="2"/>
              <a:buChar char=""/>
            </a:pPr>
            <a:r>
              <a:rPr lang="en-US" altLang="en-US" sz="3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Specialization is the process of defining a set of</a:t>
            </a:r>
          </a:p>
          <a:p>
            <a:pPr algn="l" eaLnBrk="1" hangingPunct="1"/>
            <a:r>
              <a:rPr lang="en-US" altLang="en-US" sz="3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subclasses of a superclass </a:t>
            </a:r>
          </a:p>
          <a:p>
            <a:pPr algn="l" eaLnBrk="1" hangingPunct="1">
              <a:buFont typeface="Wingdings" panose="05000000000000000000" pitchFamily="2" charset="2"/>
              <a:buChar char=""/>
            </a:pPr>
            <a:r>
              <a:rPr lang="en-US" altLang="en-US" sz="3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set of subclasses is based upon some   </a:t>
            </a:r>
          </a:p>
          <a:p>
            <a:pPr algn="l" eaLnBrk="1" hangingPunct="1"/>
            <a:r>
              <a:rPr lang="en-US" altLang="en-US" sz="3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distinguishing characteristics of the entities in the </a:t>
            </a:r>
          </a:p>
          <a:p>
            <a:pPr algn="l" eaLnBrk="1" hangingPunct="1"/>
            <a:r>
              <a:rPr lang="en-US" altLang="en-US" sz="3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superclass</a:t>
            </a:r>
          </a:p>
          <a:p>
            <a:pPr lvl="1" algn="l" eaLnBrk="1" hangingPunct="1">
              <a:buSzPct val="80000"/>
              <a:buFont typeface="Wingdings" panose="05000000000000000000" pitchFamily="2" charset="2"/>
              <a:buChar char=""/>
            </a:pPr>
            <a:r>
              <a:rPr lang="en-US" altLang="en-US" sz="3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Example: {SECRETARY, ENGINEER, TECHNICIAN} is a </a:t>
            </a:r>
          </a:p>
          <a:p>
            <a:pPr lvl="1" algn="l" eaLnBrk="1" hangingPunct="1">
              <a:buSzPct val="80000"/>
            </a:pPr>
            <a:r>
              <a:rPr lang="en-US" altLang="en-US" sz="3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specialization of EMPLOYEE based upon </a:t>
            </a:r>
            <a:r>
              <a:rPr lang="en-US" altLang="en-US" sz="3200" i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job type.</a:t>
            </a:r>
            <a:endParaRPr lang="en-US" altLang="en-US" sz="320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2" algn="l" eaLnBrk="1" hangingPunct="1">
              <a:buFontTx/>
              <a:buChar char="•"/>
            </a:pPr>
            <a:r>
              <a:rPr lang="en-US" altLang="en-US" sz="3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May have several specializations of the same </a:t>
            </a:r>
          </a:p>
          <a:p>
            <a:pPr lvl="2" algn="l" eaLnBrk="1" hangingPunct="1"/>
            <a:r>
              <a:rPr lang="en-US" altLang="en-US" sz="3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superclass </a:t>
            </a:r>
          </a:p>
          <a:p>
            <a:pPr algn="l" eaLnBrk="1" hangingPunct="1"/>
            <a:endParaRPr lang="en-US" altLang="en-US" sz="320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>
            <a:extLst>
              <a:ext uri="{FF2B5EF4-FFF2-40B4-BE49-F238E27FC236}">
                <a16:creationId xmlns:a16="http://schemas.microsoft.com/office/drawing/2014/main" id="{CB092E2C-F661-2FD0-29DA-8FFFC9FBA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238" y="301625"/>
            <a:ext cx="9072562" cy="1262063"/>
          </a:xfrm>
        </p:spPr>
        <p:txBody>
          <a:bodyPr/>
          <a:lstStyle/>
          <a:p>
            <a:pPr eaLnBrk="1" hangingPunct="1"/>
            <a:r>
              <a:rPr lang="en-US" altLang="en-US" sz="3200" b="1">
                <a:solidFill>
                  <a:srgbClr val="000000"/>
                </a:solidFill>
              </a:rPr>
              <a:t>Specialization (2)</a:t>
            </a:r>
            <a:br>
              <a:rPr lang="en-US" altLang="en-US" sz="3200" b="1">
                <a:solidFill>
                  <a:srgbClr val="000000"/>
                </a:solidFill>
              </a:rPr>
            </a:br>
            <a:endParaRPr lang="en-US" altLang="en-US" sz="3200" b="1">
              <a:solidFill>
                <a:srgbClr val="000000"/>
              </a:solidFill>
            </a:endParaRPr>
          </a:p>
        </p:txBody>
      </p:sp>
      <p:sp>
        <p:nvSpPr>
          <p:cNvPr id="29699" name="Subtitle 2">
            <a:extLst>
              <a:ext uri="{FF2B5EF4-FFF2-40B4-BE49-F238E27FC236}">
                <a16:creationId xmlns:a16="http://schemas.microsoft.com/office/drawing/2014/main" id="{758D7BC7-5BCB-8ED4-3629-A00A0F3EE081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503238" y="301625"/>
            <a:ext cx="9072562" cy="735013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2800">
              <a:solidFill>
                <a:srgbClr val="00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2800">
              <a:solidFill>
                <a:srgbClr val="00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2800">
              <a:solidFill>
                <a:srgbClr val="00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2800">
              <a:solidFill>
                <a:srgbClr val="00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2800">
              <a:solidFill>
                <a:srgbClr val="00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2800">
              <a:solidFill>
                <a:srgbClr val="00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2800">
              <a:solidFill>
                <a:srgbClr val="00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2800">
              <a:solidFill>
                <a:srgbClr val="00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2800">
              <a:solidFill>
                <a:srgbClr val="00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2800">
              <a:solidFill>
                <a:srgbClr val="00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2800">
              <a:solidFill>
                <a:srgbClr val="00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2800">
              <a:solidFill>
                <a:srgbClr val="00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2800">
              <a:solidFill>
                <a:srgbClr val="00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2800">
              <a:solidFill>
                <a:srgbClr val="00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2800">
              <a:solidFill>
                <a:srgbClr val="00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2800">
              <a:solidFill>
                <a:srgbClr val="00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2800">
              <a:solidFill>
                <a:srgbClr val="000000"/>
              </a:solidFill>
            </a:endParaRPr>
          </a:p>
          <a:p>
            <a:pPr algn="l" eaLnBrk="1" hangingPunct="1">
              <a:buFont typeface="Wingdings" panose="05000000000000000000" pitchFamily="2" charset="2"/>
              <a:buChar char=""/>
            </a:pPr>
            <a:r>
              <a:rPr lang="en-US" altLang="en-US" sz="28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Another example of specialization of </a:t>
            </a:r>
            <a:r>
              <a:rPr lang="en-US" altLang="en-US" sz="2800" b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EMPLOYEE</a:t>
            </a:r>
            <a:r>
              <a:rPr lang="en-US" altLang="en-US" sz="28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based on </a:t>
            </a:r>
          </a:p>
          <a:p>
            <a:pPr algn="l" eaLnBrk="1" hangingPunct="1"/>
            <a:r>
              <a:rPr lang="en-US" altLang="en-US" sz="2800" i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method of pay</a:t>
            </a:r>
            <a:r>
              <a:rPr lang="en-US" altLang="en-US" sz="28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is  </a:t>
            </a:r>
          </a:p>
          <a:p>
            <a:pPr algn="l" eaLnBrk="1" hangingPunct="1"/>
            <a:r>
              <a:rPr lang="en-US" altLang="en-US" sz="28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                  {SALARIED_EMPLOYEE,HOURLY_EMPLOYEE}.</a:t>
            </a:r>
          </a:p>
          <a:p>
            <a:pPr lvl="1" algn="l" eaLnBrk="1" hangingPunct="1">
              <a:buSzPct val="80000"/>
              <a:buFont typeface="Wingdings" panose="05000000000000000000" pitchFamily="2" charset="2"/>
              <a:buChar char=""/>
            </a:pPr>
            <a:r>
              <a:rPr lang="en-US" altLang="en-US" sz="28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Superclass/subclass relationships and specialization can be </a:t>
            </a:r>
          </a:p>
          <a:p>
            <a:pPr lvl="1" algn="l" eaLnBrk="1" hangingPunct="1">
              <a:buSzPct val="80000"/>
            </a:pPr>
            <a:r>
              <a:rPr lang="en-US" altLang="en-US" sz="28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diagrammatically represented in EER diagrams</a:t>
            </a:r>
          </a:p>
          <a:p>
            <a:pPr lvl="1" algn="l" eaLnBrk="1" hangingPunct="1">
              <a:buSzPct val="80000"/>
              <a:buFont typeface="Wingdings" panose="05000000000000000000" pitchFamily="2" charset="2"/>
              <a:buChar char=""/>
            </a:pPr>
            <a:r>
              <a:rPr lang="en-US" altLang="en-US" sz="28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Attributes of a subclass are called </a:t>
            </a:r>
            <a:r>
              <a:rPr lang="en-US" altLang="en-US" sz="2800" b="1" i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specific</a:t>
            </a:r>
            <a:r>
              <a:rPr lang="en-US" altLang="en-US" sz="2800" b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or </a:t>
            </a:r>
            <a:r>
              <a:rPr lang="en-US" altLang="en-US" sz="2800" b="1" i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local</a:t>
            </a:r>
            <a:r>
              <a:rPr lang="en-US" altLang="en-US" sz="2800" b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8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attributes.</a:t>
            </a:r>
          </a:p>
          <a:p>
            <a:pPr lvl="2" algn="l" eaLnBrk="1" hangingPunct="1"/>
            <a:r>
              <a:rPr lang="en-US" altLang="en-US" sz="28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For example, the attribute </a:t>
            </a:r>
            <a:r>
              <a:rPr lang="en-US" altLang="en-US" sz="28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Typing Speed of SECRETARY</a:t>
            </a:r>
          </a:p>
          <a:p>
            <a:pPr lvl="1" algn="l" eaLnBrk="1" hangingPunct="1">
              <a:buSzPct val="80000"/>
              <a:buFont typeface="Wingdings" panose="05000000000000000000" pitchFamily="2" charset="2"/>
              <a:buChar char=""/>
            </a:pPr>
            <a:r>
              <a:rPr lang="en-US" altLang="en-US" sz="28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subclass can also participate in specific relationship </a:t>
            </a:r>
          </a:p>
          <a:p>
            <a:pPr lvl="1" algn="l" eaLnBrk="1" hangingPunct="1">
              <a:buSzPct val="80000"/>
            </a:pPr>
            <a:r>
              <a:rPr lang="en-US" altLang="en-US" sz="28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types.</a:t>
            </a:r>
          </a:p>
          <a:p>
            <a:pPr lvl="2" algn="l" eaLnBrk="1" hangingPunct="1"/>
            <a:r>
              <a:rPr lang="en-US" altLang="en-US" sz="28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For example, a relationship </a:t>
            </a:r>
            <a:r>
              <a:rPr lang="en-US" altLang="en-US" sz="28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BELONGS_TO</a:t>
            </a:r>
            <a:r>
              <a:rPr lang="en-US" altLang="en-US" sz="28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of </a:t>
            </a:r>
          </a:p>
          <a:p>
            <a:pPr lvl="2" algn="l" eaLnBrk="1" hangingPunct="1"/>
            <a:r>
              <a:rPr lang="en-US" altLang="en-US" sz="28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HOURLY_EMPLOYEE</a:t>
            </a:r>
          </a:p>
          <a:p>
            <a:pPr eaLnBrk="1" hangingPunct="1"/>
            <a:endParaRPr lang="en-US" altLang="en-US" sz="280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>
            <a:extLst>
              <a:ext uri="{FF2B5EF4-FFF2-40B4-BE49-F238E27FC236}">
                <a16:creationId xmlns:a16="http://schemas.microsoft.com/office/drawing/2014/main" id="{84A64E75-AB50-7854-2F19-6CD48CBEB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238" y="301625"/>
            <a:ext cx="9072562" cy="1262063"/>
          </a:xfrm>
        </p:spPr>
        <p:txBody>
          <a:bodyPr/>
          <a:lstStyle/>
          <a:p>
            <a:pPr eaLnBrk="1" hangingPunct="1"/>
            <a:r>
              <a:rPr lang="en-US" altLang="en-US" sz="3200" b="1">
                <a:solidFill>
                  <a:srgbClr val="000000"/>
                </a:solidFill>
              </a:rPr>
              <a:t>Specialization and Generalization</a:t>
            </a:r>
            <a:br>
              <a:rPr lang="en-US" altLang="en-US" sz="3200" b="1">
                <a:solidFill>
                  <a:srgbClr val="000000"/>
                </a:solidFill>
              </a:rPr>
            </a:br>
            <a:endParaRPr lang="en-US" altLang="en-US" sz="3200" b="1">
              <a:solidFill>
                <a:srgbClr val="000000"/>
              </a:solidFill>
            </a:endParaRPr>
          </a:p>
        </p:txBody>
      </p:sp>
      <p:sp>
        <p:nvSpPr>
          <p:cNvPr id="30723" name="Subtitle 2">
            <a:extLst>
              <a:ext uri="{FF2B5EF4-FFF2-40B4-BE49-F238E27FC236}">
                <a16:creationId xmlns:a16="http://schemas.microsoft.com/office/drawing/2014/main" id="{4D8241E2-AFBD-8047-0277-FA53015A09AD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503238" y="301625"/>
            <a:ext cx="9072562" cy="1262063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3200" b="1">
              <a:solidFill>
                <a:srgbClr val="00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3200" b="1">
              <a:solidFill>
                <a:srgbClr val="00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3200" b="1">
              <a:solidFill>
                <a:srgbClr val="00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3200" b="1">
              <a:solidFill>
                <a:srgbClr val="00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3200" b="1">
              <a:solidFill>
                <a:srgbClr val="00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3200" b="1">
              <a:solidFill>
                <a:srgbClr val="00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3200" b="1">
              <a:solidFill>
                <a:srgbClr val="00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3200" b="1">
              <a:solidFill>
                <a:srgbClr val="00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3200" b="1">
              <a:solidFill>
                <a:srgbClr val="00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3200" b="1">
              <a:solidFill>
                <a:srgbClr val="00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3200" b="1">
              <a:solidFill>
                <a:srgbClr val="00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3200" b="1">
              <a:solidFill>
                <a:srgbClr val="00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3200" b="1">
              <a:solidFill>
                <a:srgbClr val="000000"/>
              </a:solidFill>
            </a:endParaRPr>
          </a:p>
          <a:p>
            <a:pPr algn="just" eaLnBrk="1" hangingPunct="1">
              <a:buFont typeface="Wingdings" panose="05000000000000000000" pitchFamily="2" charset="2"/>
              <a:buChar char=""/>
            </a:pPr>
            <a:r>
              <a:rPr lang="en-US" altLang="en-US" sz="3200" b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Specialization</a:t>
            </a:r>
            <a:r>
              <a:rPr lang="en-US" altLang="en-US" sz="3200" b="1">
                <a:solidFill>
                  <a:srgbClr val="000000"/>
                </a:solidFill>
              </a:rPr>
              <a:t> </a:t>
            </a:r>
            <a:endParaRPr lang="en-US" altLang="en-US" sz="3200">
              <a:solidFill>
                <a:srgbClr val="000000"/>
              </a:solidFill>
            </a:endParaRPr>
          </a:p>
          <a:p>
            <a:pPr lvl="1" algn="just" eaLnBrk="1" hangingPunct="1">
              <a:buSzPct val="80000"/>
            </a:pPr>
            <a:r>
              <a:rPr lang="en-US" altLang="en-US" sz="3200">
                <a:solidFill>
                  <a:srgbClr val="000000"/>
                </a:solidFill>
              </a:rPr>
              <a:t>     </a:t>
            </a:r>
            <a:r>
              <a:rPr lang="en-US" altLang="en-US" sz="3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Process of defining a set of subclasses of an entity</a:t>
            </a:r>
          </a:p>
          <a:p>
            <a:pPr lvl="1" algn="just" eaLnBrk="1" hangingPunct="1">
              <a:buSzPct val="80000"/>
            </a:pPr>
            <a:r>
              <a:rPr lang="en-US" altLang="en-US" sz="3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type.</a:t>
            </a:r>
          </a:p>
          <a:p>
            <a:pPr lvl="1" algn="just" eaLnBrk="1" hangingPunct="1">
              <a:buSzPct val="80000"/>
            </a:pPr>
            <a:r>
              <a:rPr lang="en-US" altLang="en-US" sz="3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Defined on the basis of some distinguishing</a:t>
            </a:r>
          </a:p>
          <a:p>
            <a:pPr lvl="1" algn="just" eaLnBrk="1" hangingPunct="1">
              <a:buSzPct val="80000"/>
            </a:pPr>
            <a:r>
              <a:rPr lang="en-US" altLang="en-US" sz="3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characteristic of the entities in the superclass</a:t>
            </a:r>
          </a:p>
          <a:p>
            <a:pPr lvl="1" algn="just" eaLnBrk="1" hangingPunct="1">
              <a:buSzPct val="80000"/>
            </a:pPr>
            <a:endParaRPr lang="en-US" altLang="en-US" sz="320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 eaLnBrk="1" hangingPunct="1"/>
            <a:r>
              <a:rPr lang="en-US" altLang="en-US" sz="3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Subclass can define:</a:t>
            </a:r>
          </a:p>
          <a:p>
            <a:pPr lvl="1" algn="just" eaLnBrk="1" hangingPunct="1">
              <a:buSzPct val="80000"/>
            </a:pPr>
            <a:r>
              <a:rPr lang="en-US" altLang="en-US" sz="3200" b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Specific attributes	</a:t>
            </a:r>
            <a:endParaRPr lang="en-US" altLang="en-US" sz="320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algn="just" eaLnBrk="1" hangingPunct="1">
              <a:buSzPct val="80000"/>
            </a:pPr>
            <a:r>
              <a:rPr lang="en-US" altLang="en-US" sz="3200" b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Specific relationship types</a:t>
            </a:r>
            <a:endParaRPr lang="en-US" altLang="en-US" sz="320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 eaLnBrk="1" hangingPunct="1"/>
            <a:endParaRPr lang="en-US" altLang="en-US" sz="320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>
            <a:extLst>
              <a:ext uri="{FF2B5EF4-FFF2-40B4-BE49-F238E27FC236}">
                <a16:creationId xmlns:a16="http://schemas.microsoft.com/office/drawing/2014/main" id="{4ADE4CCB-526F-EC35-D57B-86BD36D37F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52400"/>
            <a:ext cx="9307513" cy="7285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>
            <a:extLst>
              <a:ext uri="{FF2B5EF4-FFF2-40B4-BE49-F238E27FC236}">
                <a16:creationId xmlns:a16="http://schemas.microsoft.com/office/drawing/2014/main" id="{D4C2620D-6468-9041-169A-0EC608DFF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238" y="301625"/>
            <a:ext cx="9072562" cy="1262063"/>
          </a:xfrm>
        </p:spPr>
        <p:txBody>
          <a:bodyPr/>
          <a:lstStyle/>
          <a:p>
            <a:pPr eaLnBrk="1" hangingPunct="1"/>
            <a:r>
              <a:rPr lang="en-US" altLang="en-US" sz="3200" b="1">
                <a:solidFill>
                  <a:srgbClr val="000000"/>
                </a:solidFill>
              </a:rPr>
              <a:t>Specialization and Generalization (cont’d.)</a:t>
            </a:r>
            <a:br>
              <a:rPr lang="en-US" altLang="en-US" sz="3200" b="1">
                <a:solidFill>
                  <a:srgbClr val="000000"/>
                </a:solidFill>
              </a:rPr>
            </a:br>
            <a:endParaRPr lang="en-US" altLang="en-US" sz="3200" b="1">
              <a:solidFill>
                <a:srgbClr val="00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236193-BC90-EEAA-DB45-2B8CFEC9B691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503238" y="301625"/>
            <a:ext cx="9072562" cy="1262063"/>
          </a:xfrm>
          <a:noFill/>
        </p:spPr>
        <p:txBody>
          <a:bodyPr/>
          <a:lstStyle/>
          <a:p>
            <a:pPr marL="457200" indent="-45720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endParaRPr lang="en-US" sz="3200" dirty="0">
              <a:solidFill>
                <a:sysClr val="windowText" lastClr="000000"/>
              </a:solidFill>
              <a:latin typeface="Arial"/>
            </a:endParaRPr>
          </a:p>
          <a:p>
            <a:pPr marL="457200" indent="-45720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endParaRPr lang="en-US" sz="3200" dirty="0">
              <a:solidFill>
                <a:sysClr val="windowText" lastClr="000000"/>
              </a:solidFill>
              <a:latin typeface="Arial"/>
            </a:endParaRPr>
          </a:p>
          <a:p>
            <a:pPr marL="457200" indent="-45720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endParaRPr lang="en-US" sz="3200" dirty="0">
              <a:solidFill>
                <a:sysClr val="windowText" lastClr="000000"/>
              </a:solidFill>
              <a:latin typeface="Arial"/>
            </a:endParaRPr>
          </a:p>
          <a:p>
            <a:pPr marL="457200" indent="-45720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endParaRPr lang="en-US" sz="3200" dirty="0">
              <a:solidFill>
                <a:sysClr val="windowText" lastClr="000000"/>
              </a:solidFill>
              <a:latin typeface="Arial"/>
            </a:endParaRPr>
          </a:p>
          <a:p>
            <a:pPr marL="457200" indent="-45720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endParaRPr lang="en-US" sz="3200" dirty="0">
              <a:solidFill>
                <a:sysClr val="windowText" lastClr="000000"/>
              </a:solidFill>
              <a:latin typeface="Arial"/>
            </a:endParaRPr>
          </a:p>
          <a:p>
            <a:pPr marL="457200" indent="-45720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endParaRPr lang="en-US" sz="3200" dirty="0">
              <a:solidFill>
                <a:sysClr val="windowText" lastClr="000000"/>
              </a:solidFill>
              <a:latin typeface="Arial"/>
            </a:endParaRPr>
          </a:p>
          <a:p>
            <a:pPr marL="457200" indent="-45720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endParaRPr lang="en-US" sz="3200" dirty="0">
              <a:solidFill>
                <a:sysClr val="windowText" lastClr="000000"/>
              </a:solidFill>
              <a:latin typeface="Arial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200" dirty="0">
              <a:solidFill>
                <a:sysClr val="windowText" lastClr="000000"/>
              </a:solidFill>
              <a:latin typeface="Arial"/>
            </a:endParaRPr>
          </a:p>
          <a:p>
            <a:pPr marL="457200" indent="-45720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endParaRPr lang="en-US" sz="3200" dirty="0">
              <a:solidFill>
                <a:sysClr val="windowText" lastClr="000000"/>
              </a:solidFill>
              <a:latin typeface="Arial"/>
            </a:endParaRPr>
          </a:p>
          <a:p>
            <a:pPr marL="457200" indent="-45720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endParaRPr lang="en-US" sz="3200" dirty="0">
              <a:solidFill>
                <a:sysClr val="windowText" lastClr="000000"/>
              </a:solidFill>
              <a:latin typeface="Arial"/>
            </a:endParaRPr>
          </a:p>
          <a:p>
            <a:pPr marL="457200" indent="-45720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endParaRPr lang="en-US" sz="3200" dirty="0">
              <a:solidFill>
                <a:sysClr val="windowText" lastClr="000000"/>
              </a:solidFill>
              <a:latin typeface="Arial"/>
            </a:endParaRPr>
          </a:p>
          <a:p>
            <a:pPr marL="457200" indent="-457200" algn="l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3200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Certain attributes may apply to some but not all entities of the superclass</a:t>
            </a:r>
          </a:p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buFont typeface="Wingdings" charset="2"/>
              <a:buChar char=""/>
              <a:defRPr/>
            </a:pPr>
            <a:r>
              <a:rPr lang="en-US" sz="3200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Some relationship types may be participated in</a:t>
            </a:r>
          </a:p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only by members of the subclass</a:t>
            </a:r>
          </a:p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200" dirty="0">
              <a:solidFill>
                <a:sysClr val="windowText" lastClr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>
            <a:extLst>
              <a:ext uri="{FF2B5EF4-FFF2-40B4-BE49-F238E27FC236}">
                <a16:creationId xmlns:a16="http://schemas.microsoft.com/office/drawing/2014/main" id="{5C00E7EB-9724-600A-53CD-1D9525515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238" y="301625"/>
            <a:ext cx="9072562" cy="1262063"/>
          </a:xfrm>
        </p:spPr>
        <p:txBody>
          <a:bodyPr/>
          <a:lstStyle/>
          <a:p>
            <a:pPr eaLnBrk="1" hangingPunct="1"/>
            <a:r>
              <a:rPr lang="en-US" altLang="en-US" sz="3200" b="1">
                <a:solidFill>
                  <a:srgbClr val="000000"/>
                </a:solidFill>
              </a:rPr>
              <a:t>Generalization </a:t>
            </a:r>
            <a:endParaRPr lang="en-US" altLang="en-US" sz="3200">
              <a:solidFill>
                <a:srgbClr val="000000"/>
              </a:solidFill>
            </a:endParaRPr>
          </a:p>
        </p:txBody>
      </p:sp>
      <p:sp>
        <p:nvSpPr>
          <p:cNvPr id="33795" name="Subtitle 2">
            <a:extLst>
              <a:ext uri="{FF2B5EF4-FFF2-40B4-BE49-F238E27FC236}">
                <a16:creationId xmlns:a16="http://schemas.microsoft.com/office/drawing/2014/main" id="{B3C963B5-DEB8-8391-0A52-4F59F252A86D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503238" y="301625"/>
            <a:ext cx="9072562" cy="1262063"/>
          </a:xfrm>
          <a:noFill/>
        </p:spPr>
        <p:txBody>
          <a:bodyPr/>
          <a:lstStyle/>
          <a:p>
            <a:pPr eaLnBrk="1" hangingPunct="1">
              <a:buFont typeface="Wingdings" pitchFamily="2" charset="2"/>
              <a:buChar char=""/>
              <a:defRPr/>
            </a:pPr>
            <a:endParaRPr lang="en-US" altLang="en-US" sz="3200" dirty="0">
              <a:solidFill>
                <a:srgbClr val="000000"/>
              </a:solidFill>
            </a:endParaRPr>
          </a:p>
          <a:p>
            <a:pPr eaLnBrk="1" hangingPunct="1">
              <a:buFont typeface="Wingdings" pitchFamily="2" charset="2"/>
              <a:buChar char=""/>
              <a:defRPr/>
            </a:pPr>
            <a:endParaRPr lang="en-US" altLang="en-US" sz="3200" dirty="0">
              <a:solidFill>
                <a:srgbClr val="000000"/>
              </a:solidFill>
            </a:endParaRPr>
          </a:p>
          <a:p>
            <a:pPr eaLnBrk="1" hangingPunct="1">
              <a:buFont typeface="Wingdings" pitchFamily="2" charset="2"/>
              <a:buChar char=""/>
              <a:defRPr/>
            </a:pPr>
            <a:endParaRPr lang="en-US" altLang="en-US" sz="3200" dirty="0">
              <a:solidFill>
                <a:srgbClr val="000000"/>
              </a:solidFill>
            </a:endParaRPr>
          </a:p>
          <a:p>
            <a:pPr eaLnBrk="1" hangingPunct="1">
              <a:buFont typeface="Wingdings" pitchFamily="2" charset="2"/>
              <a:buChar char=""/>
              <a:defRPr/>
            </a:pPr>
            <a:endParaRPr lang="en-US" altLang="en-US" sz="3200" dirty="0">
              <a:solidFill>
                <a:srgbClr val="000000"/>
              </a:solidFill>
            </a:endParaRPr>
          </a:p>
          <a:p>
            <a:pPr eaLnBrk="1" hangingPunct="1">
              <a:buFont typeface="Wingdings" pitchFamily="2" charset="2"/>
              <a:buChar char=""/>
              <a:defRPr/>
            </a:pPr>
            <a:endParaRPr lang="en-US" altLang="en-US" sz="3200" dirty="0">
              <a:solidFill>
                <a:srgbClr val="000000"/>
              </a:solidFill>
            </a:endParaRPr>
          </a:p>
          <a:p>
            <a:pPr eaLnBrk="1" hangingPunct="1">
              <a:buFont typeface="Wingdings" pitchFamily="2" charset="2"/>
              <a:buChar char=""/>
              <a:defRPr/>
            </a:pPr>
            <a:endParaRPr lang="en-US" altLang="en-US" sz="3200" dirty="0">
              <a:solidFill>
                <a:srgbClr val="000000"/>
              </a:solidFill>
            </a:endParaRPr>
          </a:p>
          <a:p>
            <a:pPr eaLnBrk="1" hangingPunct="1">
              <a:buFont typeface="Wingdings" pitchFamily="2" charset="2"/>
              <a:buChar char=""/>
              <a:defRPr/>
            </a:pPr>
            <a:endParaRPr lang="en-US" altLang="en-US" sz="3200" dirty="0">
              <a:solidFill>
                <a:srgbClr val="000000"/>
              </a:solidFill>
            </a:endParaRPr>
          </a:p>
          <a:p>
            <a:pPr eaLnBrk="1" hangingPunct="1">
              <a:buFont typeface="Wingdings" pitchFamily="2" charset="2"/>
              <a:buChar char=""/>
              <a:defRPr/>
            </a:pPr>
            <a:endParaRPr lang="en-US" altLang="en-US" sz="3200" dirty="0">
              <a:solidFill>
                <a:srgbClr val="000000"/>
              </a:solidFill>
            </a:endParaRPr>
          </a:p>
          <a:p>
            <a:pPr algn="l" eaLnBrk="1" hangingPunct="1">
              <a:defRPr/>
            </a:pPr>
            <a:endParaRPr lang="en-US" altLang="en-US" sz="3200" dirty="0">
              <a:solidFill>
                <a:srgbClr val="000000"/>
              </a:solidFill>
            </a:endParaRPr>
          </a:p>
          <a:p>
            <a:pPr eaLnBrk="1" hangingPunct="1">
              <a:buFont typeface="Wingdings" pitchFamily="2" charset="2"/>
              <a:buChar char=""/>
              <a:defRPr/>
            </a:pPr>
            <a:endParaRPr lang="en-US" altLang="en-US" sz="3200" dirty="0">
              <a:solidFill>
                <a:srgbClr val="000000"/>
              </a:solidFill>
            </a:endParaRPr>
          </a:p>
          <a:p>
            <a:pPr eaLnBrk="1" hangingPunct="1">
              <a:buFont typeface="Wingdings" pitchFamily="2" charset="2"/>
              <a:buChar char=""/>
              <a:defRPr/>
            </a:pPr>
            <a:endParaRPr lang="en-US" altLang="en-US" sz="3200" dirty="0">
              <a:solidFill>
                <a:srgbClr val="000000"/>
              </a:solidFill>
            </a:endParaRPr>
          </a:p>
          <a:p>
            <a:pPr marL="342900" indent="-342900" algn="l">
              <a:buFont typeface="Wingdings" panose="05000000000000000000" pitchFamily="2" charset="2"/>
              <a:buChar char="§"/>
              <a:defRPr/>
            </a:pPr>
            <a:r>
              <a:rPr lang="en-US" altLang="en-US" sz="2400" dirty="0">
                <a:solidFill>
                  <a:schemeClr val="tx1"/>
                </a:solidFill>
              </a:rPr>
              <a:t>Generalization is the reverse of the specialization process. </a:t>
            </a:r>
          </a:p>
          <a:p>
            <a:pPr marL="342900" indent="-342900" algn="l">
              <a:buFont typeface="Wingdings" panose="05000000000000000000" pitchFamily="2" charset="2"/>
              <a:buChar char="§"/>
              <a:defRPr/>
            </a:pPr>
            <a:r>
              <a:rPr lang="en-US" altLang="en-US" sz="2400" dirty="0">
                <a:solidFill>
                  <a:schemeClr val="tx1"/>
                </a:solidFill>
              </a:rPr>
              <a:t>Several classes with common features are generalized into a superclass.</a:t>
            </a:r>
          </a:p>
          <a:p>
            <a:pPr marL="342900" lvl="1" indent="-342900" algn="l">
              <a:buFont typeface="Wingdings" panose="05000000000000000000" pitchFamily="2" charset="2"/>
              <a:buChar char="§"/>
              <a:defRPr/>
            </a:pPr>
            <a:r>
              <a:rPr lang="en-US" altLang="en-US" sz="2200" dirty="0">
                <a:solidFill>
                  <a:schemeClr val="tx1"/>
                </a:solidFill>
              </a:rPr>
              <a:t>original classes become its subclasses</a:t>
            </a:r>
          </a:p>
          <a:p>
            <a:pPr marL="342900" indent="-342900" algn="l">
              <a:buFont typeface="Wingdings" panose="05000000000000000000" pitchFamily="2" charset="2"/>
              <a:buChar char="§"/>
              <a:defRPr/>
            </a:pPr>
            <a:r>
              <a:rPr lang="en-US" altLang="en-US" sz="2400" dirty="0">
                <a:solidFill>
                  <a:schemeClr val="tx1"/>
                </a:solidFill>
              </a:rPr>
              <a:t>Example: </a:t>
            </a:r>
          </a:p>
          <a:p>
            <a:pPr lvl="1" algn="l">
              <a:defRPr/>
            </a:pPr>
            <a:r>
              <a:rPr lang="en-US" altLang="en-US" sz="2400" dirty="0">
                <a:solidFill>
                  <a:schemeClr val="tx1"/>
                </a:solidFill>
              </a:rPr>
              <a:t>       CAR, TRUCK generalized into VEHICLE; </a:t>
            </a:r>
          </a:p>
          <a:p>
            <a:pPr lvl="1" algn="l">
              <a:defRPr/>
            </a:pPr>
            <a:r>
              <a:rPr lang="en-US" altLang="en-US" sz="2200" dirty="0">
                <a:solidFill>
                  <a:schemeClr val="tx1"/>
                </a:solidFill>
              </a:rPr>
              <a:t>       both CAR, TRUCK become subclasses of the superclass VEHICLE.</a:t>
            </a:r>
          </a:p>
          <a:p>
            <a:pPr lvl="1" algn="l">
              <a:defRPr/>
            </a:pPr>
            <a:endParaRPr lang="en-US" altLang="en-US" sz="2200" dirty="0">
              <a:solidFill>
                <a:schemeClr val="tx1"/>
              </a:solidFill>
            </a:endParaRPr>
          </a:p>
          <a:p>
            <a:pPr marL="342900" lvl="1" indent="-342900" algn="l">
              <a:buFont typeface="Wingdings" panose="05000000000000000000" pitchFamily="2" charset="2"/>
              <a:buChar char="§"/>
              <a:defRPr/>
            </a:pPr>
            <a:r>
              <a:rPr lang="en-US" altLang="en-US" sz="2200" dirty="0">
                <a:solidFill>
                  <a:schemeClr val="tx1"/>
                </a:solidFill>
              </a:rPr>
              <a:t>We can view {CAR, TRUCK} as a specialization of VEHICLE </a:t>
            </a:r>
          </a:p>
          <a:p>
            <a:pPr marL="342900" lvl="1" indent="-342900" algn="l">
              <a:buFont typeface="Wingdings" panose="05000000000000000000" pitchFamily="2" charset="2"/>
              <a:buChar char="§"/>
              <a:defRPr/>
            </a:pPr>
            <a:r>
              <a:rPr lang="en-US" altLang="en-US" sz="2200" dirty="0">
                <a:solidFill>
                  <a:schemeClr val="tx1"/>
                </a:solidFill>
              </a:rPr>
              <a:t>Alternatively, we can view VEHICLE as a generalization of CAR and TRUCK 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>
            <a:extLst>
              <a:ext uri="{FF2B5EF4-FFF2-40B4-BE49-F238E27FC236}">
                <a16:creationId xmlns:a16="http://schemas.microsoft.com/office/drawing/2014/main" id="{CDA82BFA-7E8F-AD42-E1FD-5BE7814DE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238" y="301625"/>
            <a:ext cx="9072562" cy="1262063"/>
          </a:xfrm>
        </p:spPr>
        <p:txBody>
          <a:bodyPr/>
          <a:lstStyle/>
          <a:p>
            <a:pPr algn="l"/>
            <a:r>
              <a:rPr lang="en-US" altLang="en-US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Generalization</a:t>
            </a:r>
          </a:p>
        </p:txBody>
      </p:sp>
      <p:pic>
        <p:nvPicPr>
          <p:cNvPr id="34819" name="Picture 3" descr="fig04_03">
            <a:extLst>
              <a:ext uri="{FF2B5EF4-FFF2-40B4-BE49-F238E27FC236}">
                <a16:creationId xmlns:a16="http://schemas.microsoft.com/office/drawing/2014/main" id="{FC968832-0148-061C-3FB2-0B6A181D83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600200"/>
            <a:ext cx="8774113" cy="484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>
            <a:extLst>
              <a:ext uri="{FF2B5EF4-FFF2-40B4-BE49-F238E27FC236}">
                <a16:creationId xmlns:a16="http://schemas.microsoft.com/office/drawing/2014/main" id="{421CCB68-65DB-9F1F-CCE7-CD53E16B9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238" y="301625"/>
            <a:ext cx="9072562" cy="1262063"/>
          </a:xfrm>
        </p:spPr>
        <p:txBody>
          <a:bodyPr/>
          <a:lstStyle/>
          <a:p>
            <a:pPr algn="l"/>
            <a:r>
              <a:rPr lang="en-US" altLang="en-US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Generalization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35843" name="Subtitle 2">
            <a:extLst>
              <a:ext uri="{FF2B5EF4-FFF2-40B4-BE49-F238E27FC236}">
                <a16:creationId xmlns:a16="http://schemas.microsoft.com/office/drawing/2014/main" id="{46F03723-734F-8DE6-7CA6-CFF5A9A66AC7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503238" y="301625"/>
            <a:ext cx="9072562" cy="1262063"/>
          </a:xfrm>
        </p:spPr>
        <p:txBody>
          <a:bodyPr/>
          <a:lstStyle/>
          <a:p>
            <a:pPr>
              <a:lnSpc>
                <a:spcPct val="90000"/>
              </a:lnSpc>
            </a:pPr>
            <a:endParaRPr lang="en-US" altLang="en-US"/>
          </a:p>
          <a:p>
            <a:pPr>
              <a:lnSpc>
                <a:spcPct val="90000"/>
              </a:lnSpc>
            </a:pPr>
            <a:endParaRPr lang="en-US" altLang="en-US"/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altLang="en-US" sz="320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altLang="en-US" sz="320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altLang="en-US" sz="320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altLang="en-US" sz="320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altLang="en-US" sz="320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altLang="en-US" sz="320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altLang="en-US" sz="320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altLang="en-US" sz="320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altLang="en-US" sz="320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altLang="en-US" sz="320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altLang="en-US" sz="320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altLang="en-US" sz="320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altLang="en-US" sz="320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altLang="en-US" sz="3200">
              <a:solidFill>
                <a:schemeClr val="tx1"/>
              </a:solidFill>
            </a:endParaRPr>
          </a:p>
          <a:p>
            <a:pPr algn="l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sz="3200">
                <a:solidFill>
                  <a:schemeClr val="tx1"/>
                </a:solidFill>
              </a:rPr>
              <a:t>Diagrammatic notation are sometimes used to distinguish between generalization and specialization</a:t>
            </a:r>
          </a:p>
          <a:p>
            <a:pPr lvl="1" algn="l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sz="3200">
                <a:solidFill>
                  <a:schemeClr val="tx1"/>
                </a:solidFill>
              </a:rPr>
              <a:t>Arrow pointing to the generalized superclass represents a generalization </a:t>
            </a:r>
          </a:p>
          <a:p>
            <a:pPr lvl="1" algn="l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sz="3200">
                <a:solidFill>
                  <a:schemeClr val="tx1"/>
                </a:solidFill>
              </a:rPr>
              <a:t>Arrows pointing to the specialized subclasses represent a specialization </a:t>
            </a:r>
          </a:p>
          <a:p>
            <a:pPr lvl="1" algn="l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sz="3200" i="1">
                <a:solidFill>
                  <a:schemeClr val="tx1"/>
                </a:solidFill>
              </a:rPr>
              <a:t>Do not use</a:t>
            </a:r>
            <a:r>
              <a:rPr lang="en-US" altLang="en-US" sz="3200">
                <a:solidFill>
                  <a:schemeClr val="tx1"/>
                </a:solidFill>
              </a:rPr>
              <a:t> this notation because it is often subjective as to which process is more appropriate for a particular situation </a:t>
            </a:r>
          </a:p>
          <a:p>
            <a:pPr lvl="1" algn="l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sz="3200">
                <a:solidFill>
                  <a:schemeClr val="tx1"/>
                </a:solidFill>
              </a:rPr>
              <a:t> better not  to draw any arrows</a:t>
            </a:r>
          </a:p>
          <a:p>
            <a:endParaRPr lang="en-US" altLang="en-US" sz="32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>
            <a:extLst>
              <a:ext uri="{FF2B5EF4-FFF2-40B4-BE49-F238E27FC236}">
                <a16:creationId xmlns:a16="http://schemas.microsoft.com/office/drawing/2014/main" id="{A1D37A91-58FE-1769-1E86-108BECC13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238" y="301625"/>
            <a:ext cx="9072562" cy="1262063"/>
          </a:xfrm>
        </p:spPr>
        <p:txBody>
          <a:bodyPr/>
          <a:lstStyle/>
          <a:p>
            <a:pPr eaLnBrk="1" hangingPunct="1"/>
            <a:r>
              <a:rPr lang="en-US" altLang="en-US" sz="3200" b="1">
                <a:solidFill>
                  <a:srgbClr val="000000"/>
                </a:solidFill>
              </a:rPr>
              <a:t>Constraints on Specialization and Generalization (1)</a:t>
            </a:r>
          </a:p>
        </p:txBody>
      </p:sp>
      <p:sp>
        <p:nvSpPr>
          <p:cNvPr id="36867" name="Subtitle 2">
            <a:extLst>
              <a:ext uri="{FF2B5EF4-FFF2-40B4-BE49-F238E27FC236}">
                <a16:creationId xmlns:a16="http://schemas.microsoft.com/office/drawing/2014/main" id="{0C1C011C-C426-8E7A-7EBD-8BC746AACC92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503238" y="301625"/>
            <a:ext cx="9072562" cy="1262063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3200">
              <a:solidFill>
                <a:srgbClr val="00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3200">
              <a:solidFill>
                <a:srgbClr val="00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3200">
              <a:solidFill>
                <a:srgbClr val="00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3200">
              <a:solidFill>
                <a:srgbClr val="00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3200">
              <a:solidFill>
                <a:srgbClr val="00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3200">
              <a:solidFill>
                <a:srgbClr val="00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3200">
              <a:solidFill>
                <a:srgbClr val="00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3200">
              <a:solidFill>
                <a:srgbClr val="00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3200">
              <a:solidFill>
                <a:srgbClr val="00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3200">
              <a:solidFill>
                <a:srgbClr val="00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3200">
              <a:solidFill>
                <a:srgbClr val="00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3200">
              <a:solidFill>
                <a:srgbClr val="00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3200">
              <a:solidFill>
                <a:srgbClr val="000000"/>
              </a:solidFill>
            </a:endParaRPr>
          </a:p>
          <a:p>
            <a:pPr algn="l" eaLnBrk="1" hangingPunct="1">
              <a:buFont typeface="Wingdings" panose="05000000000000000000" pitchFamily="2" charset="2"/>
              <a:buChar char=""/>
            </a:pPr>
            <a:r>
              <a:rPr lang="en-US" altLang="en-US" sz="28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If we can determine exactly those entities that will </a:t>
            </a:r>
          </a:p>
          <a:p>
            <a:pPr algn="l" eaLnBrk="1" hangingPunct="1"/>
            <a:r>
              <a:rPr lang="en-US" altLang="en-US" sz="28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become members of each subclass by a condition, the</a:t>
            </a:r>
          </a:p>
          <a:p>
            <a:pPr algn="l" eaLnBrk="1" hangingPunct="1"/>
            <a:r>
              <a:rPr lang="en-US" altLang="en-US" sz="28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subclasses are called </a:t>
            </a:r>
            <a:r>
              <a:rPr lang="en-US" altLang="en-US" sz="2800" b="1" i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predicate-defined (or condition-</a:t>
            </a:r>
          </a:p>
          <a:p>
            <a:pPr algn="l" eaLnBrk="1" hangingPunct="1"/>
            <a:r>
              <a:rPr lang="en-US" altLang="en-US" sz="2800" b="1" i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defined) subclasses </a:t>
            </a:r>
          </a:p>
          <a:p>
            <a:pPr algn="l" eaLnBrk="1" hangingPunct="1">
              <a:buFont typeface="Wingdings" panose="05000000000000000000" pitchFamily="2" charset="2"/>
              <a:buChar char=""/>
            </a:pPr>
            <a:endParaRPr lang="en-US" altLang="en-US" sz="180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algn="l" eaLnBrk="1" hangingPunct="1">
              <a:buSzPct val="80000"/>
              <a:buFont typeface="Wingdings" panose="05000000000000000000" pitchFamily="2" charset="2"/>
              <a:buChar char=""/>
            </a:pPr>
            <a:r>
              <a:rPr lang="en-US" altLang="en-US" sz="28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Condition is a constraint that determines subclass </a:t>
            </a:r>
          </a:p>
          <a:p>
            <a:pPr lvl="1" algn="l" eaLnBrk="1" hangingPunct="1">
              <a:buSzPct val="80000"/>
            </a:pPr>
            <a:r>
              <a:rPr lang="en-US" altLang="en-US" sz="28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members </a:t>
            </a:r>
          </a:p>
          <a:p>
            <a:pPr lvl="1" algn="l" eaLnBrk="1" hangingPunct="1">
              <a:buSzPct val="80000"/>
              <a:buFont typeface="Wingdings" panose="05000000000000000000" pitchFamily="2" charset="2"/>
              <a:buChar char=""/>
            </a:pPr>
            <a:endParaRPr lang="en-US" altLang="en-US" sz="180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algn="l" eaLnBrk="1" hangingPunct="1">
              <a:buSzPct val="80000"/>
              <a:buFont typeface="Wingdings" panose="05000000000000000000" pitchFamily="2" charset="2"/>
              <a:buChar char=""/>
            </a:pPr>
            <a:r>
              <a:rPr lang="en-US" altLang="en-US" sz="2800" b="1" i="1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Display a predicate-defined subclass by writing the</a:t>
            </a:r>
          </a:p>
          <a:p>
            <a:pPr lvl="1" algn="l" eaLnBrk="1" hangingPunct="1">
              <a:buSzPct val="80000"/>
            </a:pPr>
            <a:r>
              <a:rPr lang="en-US" altLang="en-US" sz="2800" b="1" i="1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predicate condition next to the line attaching the </a:t>
            </a:r>
          </a:p>
          <a:p>
            <a:pPr lvl="1" algn="l" eaLnBrk="1" hangingPunct="1">
              <a:buSzPct val="80000"/>
            </a:pPr>
            <a:r>
              <a:rPr lang="en-US" altLang="en-US" sz="2800" b="1" i="1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subclass to its superclass </a:t>
            </a:r>
            <a:endParaRPr lang="en-US" altLang="en-US" sz="1800" b="1" i="1">
              <a:solidFill>
                <a:srgbClr val="0000CC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 eaLnBrk="1" hangingPunct="1"/>
            <a:endParaRPr lang="en-US" altLang="en-US" sz="18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>
            <a:extLst>
              <a:ext uri="{FF2B5EF4-FFF2-40B4-BE49-F238E27FC236}">
                <a16:creationId xmlns:a16="http://schemas.microsoft.com/office/drawing/2014/main" id="{0ACECD2E-F7C3-CBA7-6FCD-D2E5F7F91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238" y="301625"/>
            <a:ext cx="9072562" cy="1262063"/>
          </a:xfrm>
        </p:spPr>
        <p:txBody>
          <a:bodyPr/>
          <a:lstStyle/>
          <a:p>
            <a:pPr eaLnBrk="1" hangingPunct="1"/>
            <a:r>
              <a:rPr lang="en-US" altLang="en-US" sz="3200" b="1">
                <a:solidFill>
                  <a:srgbClr val="000000"/>
                </a:solidFill>
              </a:rPr>
              <a:t>Constraints on Specialization and Generalization (2)</a:t>
            </a:r>
            <a:br>
              <a:rPr lang="en-US" altLang="en-US" sz="3200" b="1">
                <a:solidFill>
                  <a:srgbClr val="000000"/>
                </a:solidFill>
              </a:rPr>
            </a:br>
            <a:endParaRPr lang="en-US" altLang="en-US" sz="3200" b="1">
              <a:solidFill>
                <a:srgbClr val="000000"/>
              </a:solidFill>
            </a:endParaRPr>
          </a:p>
        </p:txBody>
      </p:sp>
      <p:sp>
        <p:nvSpPr>
          <p:cNvPr id="37891" name="Subtitle 2">
            <a:extLst>
              <a:ext uri="{FF2B5EF4-FFF2-40B4-BE49-F238E27FC236}">
                <a16:creationId xmlns:a16="http://schemas.microsoft.com/office/drawing/2014/main" id="{D6908A3B-B818-2763-899F-DE3F8095F159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503238" y="301625"/>
            <a:ext cx="9072562" cy="1262063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Char char=""/>
            </a:pPr>
            <a:endParaRPr lang="en-US" altLang="en-US" sz="2800">
              <a:solidFill>
                <a:srgbClr val="000000"/>
              </a:solidFill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Char char=""/>
            </a:pPr>
            <a:endParaRPr lang="en-US" altLang="en-US" sz="2800">
              <a:solidFill>
                <a:srgbClr val="000000"/>
              </a:solidFill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Char char=""/>
            </a:pPr>
            <a:endParaRPr lang="en-US" altLang="en-US" sz="2800">
              <a:solidFill>
                <a:srgbClr val="000000"/>
              </a:solidFill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Char char=""/>
            </a:pPr>
            <a:endParaRPr lang="en-US" altLang="en-US" sz="2800">
              <a:solidFill>
                <a:srgbClr val="000000"/>
              </a:solidFill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Char char=""/>
            </a:pPr>
            <a:endParaRPr lang="en-US" altLang="en-US" sz="2800">
              <a:solidFill>
                <a:srgbClr val="000000"/>
              </a:solidFill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Char char=""/>
            </a:pPr>
            <a:endParaRPr lang="en-US" altLang="en-US" sz="2800">
              <a:solidFill>
                <a:srgbClr val="000000"/>
              </a:solidFill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Char char=""/>
            </a:pPr>
            <a:endParaRPr lang="en-US" altLang="en-US" sz="2800">
              <a:solidFill>
                <a:srgbClr val="000000"/>
              </a:solidFill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Char char=""/>
            </a:pPr>
            <a:endParaRPr lang="en-US" altLang="en-US" sz="2800">
              <a:solidFill>
                <a:srgbClr val="000000"/>
              </a:solidFill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Char char=""/>
            </a:pPr>
            <a:endParaRPr lang="en-US" altLang="en-US" sz="2800">
              <a:solidFill>
                <a:srgbClr val="000000"/>
              </a:solidFill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Char char=""/>
            </a:pPr>
            <a:endParaRPr lang="en-US" altLang="en-US" sz="2800">
              <a:solidFill>
                <a:srgbClr val="000000"/>
              </a:solidFill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Char char=""/>
            </a:pPr>
            <a:endParaRPr lang="en-US" altLang="en-US" sz="2800">
              <a:solidFill>
                <a:srgbClr val="000000"/>
              </a:solidFill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Char char=""/>
            </a:pPr>
            <a:endParaRPr lang="en-US" altLang="en-US" sz="2800">
              <a:solidFill>
                <a:srgbClr val="000000"/>
              </a:solidFill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Char char=""/>
            </a:pPr>
            <a:endParaRPr lang="en-US" altLang="en-US" sz="2800">
              <a:solidFill>
                <a:srgbClr val="000000"/>
              </a:solidFill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Char char=""/>
            </a:pPr>
            <a:endParaRPr lang="en-US" altLang="en-US" sz="2800">
              <a:solidFill>
                <a:srgbClr val="000000"/>
              </a:solidFill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Char char=""/>
            </a:pPr>
            <a:endParaRPr lang="en-US" altLang="en-US" sz="2800">
              <a:solidFill>
                <a:srgbClr val="000000"/>
              </a:solidFill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Char char=""/>
            </a:pPr>
            <a:endParaRPr lang="en-US" altLang="en-US" sz="2800">
              <a:solidFill>
                <a:srgbClr val="000000"/>
              </a:solidFill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Char char=""/>
            </a:pPr>
            <a:endParaRPr lang="en-US" altLang="en-US" sz="2800">
              <a:solidFill>
                <a:srgbClr val="000000"/>
              </a:solidFill>
            </a:endParaRPr>
          </a:p>
          <a:p>
            <a:pPr eaLnBrk="1" hangingPunct="1">
              <a:lnSpc>
                <a:spcPct val="80000"/>
              </a:lnSpc>
            </a:pPr>
            <a:endParaRPr lang="en-US" altLang="en-US" sz="2800">
              <a:solidFill>
                <a:srgbClr val="000000"/>
              </a:solidFill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Char char=""/>
            </a:pPr>
            <a:endParaRPr lang="en-US" altLang="en-US" sz="2800">
              <a:solidFill>
                <a:srgbClr val="000000"/>
              </a:solidFill>
            </a:endParaRPr>
          </a:p>
          <a:p>
            <a:pPr algn="just" eaLnBrk="1" hangingPunct="1">
              <a:lnSpc>
                <a:spcPct val="80000"/>
              </a:lnSpc>
              <a:buFont typeface="Wingdings" panose="05000000000000000000" pitchFamily="2" charset="2"/>
              <a:buChar char=""/>
            </a:pPr>
            <a:r>
              <a:rPr lang="en-US" altLang="en-US" sz="28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If all subclasses in a specialization have membership</a:t>
            </a:r>
          </a:p>
          <a:p>
            <a:pPr algn="just" eaLnBrk="1" hangingPunct="1">
              <a:lnSpc>
                <a:spcPct val="80000"/>
              </a:lnSpc>
            </a:pPr>
            <a:r>
              <a:rPr lang="en-US" altLang="en-US" sz="28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condition on same attribute of the superclass, specialization is</a:t>
            </a:r>
          </a:p>
          <a:p>
            <a:pPr algn="just" eaLnBrk="1" hangingPunct="1">
              <a:lnSpc>
                <a:spcPct val="80000"/>
              </a:lnSpc>
            </a:pPr>
            <a:r>
              <a:rPr lang="en-US" altLang="en-US" sz="28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called an </a:t>
            </a:r>
            <a:r>
              <a:rPr lang="en-US" altLang="en-US" sz="2800" b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attribute-defined specialization</a:t>
            </a:r>
          </a:p>
          <a:p>
            <a:pPr algn="just" eaLnBrk="1" hangingPunct="1">
              <a:lnSpc>
                <a:spcPct val="80000"/>
              </a:lnSpc>
            </a:pPr>
            <a:r>
              <a:rPr lang="en-US" altLang="en-US" sz="2800" b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lvl="1" algn="just" eaLnBrk="1" hangingPunct="1">
              <a:lnSpc>
                <a:spcPct val="80000"/>
              </a:lnSpc>
              <a:buSzPct val="80000"/>
              <a:buFont typeface="Wingdings" panose="05000000000000000000" pitchFamily="2" charset="2"/>
              <a:buChar char=""/>
            </a:pPr>
            <a:r>
              <a:rPr lang="en-US" altLang="en-US" sz="28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Attribute is called the defining attribute of the specialization </a:t>
            </a:r>
          </a:p>
          <a:p>
            <a:pPr lvl="1" algn="just" eaLnBrk="1" hangingPunct="1">
              <a:lnSpc>
                <a:spcPct val="80000"/>
              </a:lnSpc>
              <a:buSzPct val="80000"/>
            </a:pPr>
            <a:endParaRPr lang="en-US" altLang="en-US" sz="280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algn="just" eaLnBrk="1" hangingPunct="1">
              <a:lnSpc>
                <a:spcPct val="80000"/>
              </a:lnSpc>
              <a:buSzPct val="80000"/>
              <a:buFont typeface="Wingdings" panose="05000000000000000000" pitchFamily="2" charset="2"/>
              <a:buChar char=""/>
            </a:pPr>
            <a:r>
              <a:rPr lang="en-US" altLang="en-US" sz="28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Example: JobType is the defining attribute of the specialization {SECRETARY, TECHNICIAN, ENGINEER} of EMPLOYEE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>
            <a:extLst>
              <a:ext uri="{FF2B5EF4-FFF2-40B4-BE49-F238E27FC236}">
                <a16:creationId xmlns:a16="http://schemas.microsoft.com/office/drawing/2014/main" id="{DC773300-D484-6E37-B583-7395F24D1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238" y="301625"/>
            <a:ext cx="9072562" cy="1262063"/>
          </a:xfrm>
        </p:spPr>
        <p:txBody>
          <a:bodyPr/>
          <a:lstStyle/>
          <a:p>
            <a:pPr eaLnBrk="1" hangingPunct="1"/>
            <a:r>
              <a:rPr lang="en-US" altLang="en-US" sz="3200" b="1">
                <a:solidFill>
                  <a:srgbClr val="000000"/>
                </a:solidFill>
              </a:rPr>
              <a:t>Constraints on Specialization and Generalization (2)</a:t>
            </a:r>
            <a:br>
              <a:rPr lang="en-US" altLang="en-US" sz="3200" b="1">
                <a:solidFill>
                  <a:srgbClr val="000000"/>
                </a:solidFill>
              </a:rPr>
            </a:br>
            <a:endParaRPr lang="en-US" altLang="en-US" sz="3200" b="1">
              <a:solidFill>
                <a:srgbClr val="000000"/>
              </a:solidFill>
            </a:endParaRPr>
          </a:p>
        </p:txBody>
      </p:sp>
      <p:sp>
        <p:nvSpPr>
          <p:cNvPr id="35843" name="Subtitle 2">
            <a:extLst>
              <a:ext uri="{FF2B5EF4-FFF2-40B4-BE49-F238E27FC236}">
                <a16:creationId xmlns:a16="http://schemas.microsoft.com/office/drawing/2014/main" id="{7F43A7C3-5E94-93D8-CF8E-5003D4A90248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503238" y="301625"/>
            <a:ext cx="9072562" cy="1262063"/>
          </a:xfrm>
          <a:noFill/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itchFamily="2" charset="2"/>
              <a:buChar char=""/>
              <a:defRPr/>
            </a:pPr>
            <a:endParaRPr lang="en-US" altLang="en-US" sz="2800" dirty="0">
              <a:solidFill>
                <a:srgbClr val="000000"/>
              </a:solidFill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Char char=""/>
              <a:defRPr/>
            </a:pPr>
            <a:endParaRPr lang="en-US" altLang="en-US" sz="2800" dirty="0">
              <a:solidFill>
                <a:srgbClr val="000000"/>
              </a:solidFill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Char char=""/>
              <a:defRPr/>
            </a:pPr>
            <a:endParaRPr lang="en-US" altLang="en-US" sz="2800" dirty="0">
              <a:solidFill>
                <a:srgbClr val="000000"/>
              </a:solidFill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Char char=""/>
              <a:defRPr/>
            </a:pPr>
            <a:endParaRPr lang="en-US" altLang="en-US" sz="2800" dirty="0">
              <a:solidFill>
                <a:srgbClr val="000000"/>
              </a:solidFill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Char char=""/>
              <a:defRPr/>
            </a:pPr>
            <a:endParaRPr lang="en-US" altLang="en-US" sz="2800" dirty="0">
              <a:solidFill>
                <a:srgbClr val="000000"/>
              </a:solidFill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Char char=""/>
              <a:defRPr/>
            </a:pPr>
            <a:endParaRPr lang="en-US" altLang="en-US" sz="2800" dirty="0">
              <a:solidFill>
                <a:srgbClr val="000000"/>
              </a:solidFill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Char char=""/>
              <a:defRPr/>
            </a:pPr>
            <a:endParaRPr lang="en-US" altLang="en-US" sz="2800" dirty="0">
              <a:solidFill>
                <a:srgbClr val="000000"/>
              </a:solidFill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Char char=""/>
              <a:defRPr/>
            </a:pPr>
            <a:endParaRPr lang="en-US" altLang="en-US" sz="2800" dirty="0">
              <a:solidFill>
                <a:srgbClr val="000000"/>
              </a:solidFill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Char char=""/>
              <a:defRPr/>
            </a:pPr>
            <a:endParaRPr lang="en-US" altLang="en-US" sz="2800" dirty="0">
              <a:solidFill>
                <a:srgbClr val="000000"/>
              </a:solidFill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Char char=""/>
              <a:defRPr/>
            </a:pPr>
            <a:endParaRPr lang="en-US" altLang="en-US" sz="2800" dirty="0">
              <a:solidFill>
                <a:srgbClr val="000000"/>
              </a:solidFill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Char char=""/>
              <a:defRPr/>
            </a:pPr>
            <a:endParaRPr lang="en-US" altLang="en-US" sz="2800" dirty="0">
              <a:solidFill>
                <a:srgbClr val="000000"/>
              </a:solidFill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Char char=""/>
              <a:defRPr/>
            </a:pPr>
            <a:endParaRPr lang="en-US" altLang="en-US" sz="2800" dirty="0">
              <a:solidFill>
                <a:srgbClr val="000000"/>
              </a:solidFill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Char char=""/>
              <a:defRPr/>
            </a:pPr>
            <a:endParaRPr lang="en-US" altLang="en-US" sz="2800" dirty="0">
              <a:solidFill>
                <a:srgbClr val="000000"/>
              </a:solidFill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Char char=""/>
              <a:defRPr/>
            </a:pPr>
            <a:endParaRPr lang="en-US" altLang="en-US" sz="2800" dirty="0">
              <a:solidFill>
                <a:srgbClr val="000000"/>
              </a:solidFill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Char char=""/>
              <a:defRPr/>
            </a:pPr>
            <a:endParaRPr lang="en-US" altLang="en-US" sz="2800" dirty="0">
              <a:solidFill>
                <a:srgbClr val="000000"/>
              </a:solidFill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Char char=""/>
              <a:defRPr/>
            </a:pPr>
            <a:endParaRPr lang="en-US" altLang="en-US" sz="2800" dirty="0">
              <a:solidFill>
                <a:srgbClr val="000000"/>
              </a:solidFill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Char char=""/>
              <a:defRPr/>
            </a:pPr>
            <a:endParaRPr lang="en-US" altLang="en-US" sz="2800" dirty="0">
              <a:solidFill>
                <a:srgbClr val="000000"/>
              </a:solidFill>
            </a:endParaRPr>
          </a:p>
          <a:p>
            <a:pPr marL="457200" indent="-457200" algn="just" eaLnBrk="1" hangingPunct="1">
              <a:lnSpc>
                <a:spcPct val="8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en-US" sz="28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If no condition determines membership, the subclass is called user-defined </a:t>
            </a:r>
          </a:p>
          <a:p>
            <a:pPr algn="just" eaLnBrk="1" hangingPunct="1">
              <a:lnSpc>
                <a:spcPct val="80000"/>
              </a:lnSpc>
              <a:defRPr/>
            </a:pPr>
            <a:endParaRPr lang="en-US" altLang="en-US" sz="28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-457200" algn="just" eaLnBrk="1" hangingPunct="1">
              <a:lnSpc>
                <a:spcPct val="80000"/>
              </a:lnSpc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en-US" sz="28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Membership in a subclass is determined by the database users by applying an operation to add an entity to the subclass </a:t>
            </a:r>
          </a:p>
          <a:p>
            <a:pPr marL="457200" lvl="1" indent="-457200" algn="just" eaLnBrk="1" hangingPunct="1">
              <a:lnSpc>
                <a:spcPct val="80000"/>
              </a:lnSpc>
              <a:buSzPct val="80000"/>
              <a:buFont typeface="Arial" panose="020B0604020202020204" pitchFamily="34" charset="0"/>
              <a:buChar char="•"/>
              <a:defRPr/>
            </a:pPr>
            <a:endParaRPr lang="en-US" altLang="en-US" sz="28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algn="just" eaLnBrk="1" hangingPunct="1">
              <a:lnSpc>
                <a:spcPct val="80000"/>
              </a:lnSpc>
              <a:buSzPct val="80000"/>
              <a:defRPr/>
            </a:pPr>
            <a:endParaRPr lang="en-US" altLang="en-US" sz="28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-457200" algn="just" eaLnBrk="1" hangingPunct="1">
              <a:lnSpc>
                <a:spcPct val="80000"/>
              </a:lnSpc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en-US" sz="28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Membership in the subclass is specified individually for each entity in the superclass by the user </a:t>
            </a:r>
          </a:p>
          <a:p>
            <a:pPr algn="just" eaLnBrk="1" hangingPunct="1">
              <a:defRPr/>
            </a:pPr>
            <a:endParaRPr lang="en-US" altLang="en-US" sz="28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>
            <a:extLst>
              <a:ext uri="{FF2B5EF4-FFF2-40B4-BE49-F238E27FC236}">
                <a16:creationId xmlns:a16="http://schemas.microsoft.com/office/drawing/2014/main" id="{78DE2B4D-90A0-2211-EDC1-DEAFDA04A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238" y="301625"/>
            <a:ext cx="9072562" cy="1262063"/>
          </a:xfrm>
        </p:spPr>
        <p:txBody>
          <a:bodyPr/>
          <a:lstStyle/>
          <a:p>
            <a:pPr eaLnBrk="1" hangingPunct="1"/>
            <a:r>
              <a:rPr lang="en-US" altLang="en-US" sz="3200" b="1">
                <a:solidFill>
                  <a:srgbClr val="000000"/>
                </a:solidFill>
              </a:rPr>
              <a:t>Displaying an attribute-defined specialization in EER diagrams</a:t>
            </a:r>
            <a:br>
              <a:rPr lang="en-US" altLang="en-US" sz="3200" b="1">
                <a:solidFill>
                  <a:srgbClr val="000000"/>
                </a:solidFill>
              </a:rPr>
            </a:br>
            <a:endParaRPr lang="en-US" altLang="en-US" sz="3200" b="1">
              <a:solidFill>
                <a:srgbClr val="000000"/>
              </a:solidFill>
            </a:endParaRPr>
          </a:p>
        </p:txBody>
      </p:sp>
      <p:pic>
        <p:nvPicPr>
          <p:cNvPr id="39939" name="Picture 5" descr="fig04_04">
            <a:extLst>
              <a:ext uri="{FF2B5EF4-FFF2-40B4-BE49-F238E27FC236}">
                <a16:creationId xmlns:a16="http://schemas.microsoft.com/office/drawing/2014/main" id="{17775E32-DA34-426D-8F86-688FE1DFC5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050" y="1962150"/>
            <a:ext cx="9339263" cy="5094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>
            <a:extLst>
              <a:ext uri="{FF2B5EF4-FFF2-40B4-BE49-F238E27FC236}">
                <a16:creationId xmlns:a16="http://schemas.microsoft.com/office/drawing/2014/main" id="{A2F2D7BB-D4F9-64ED-4E78-8C14CFFF6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238" y="301625"/>
            <a:ext cx="9072562" cy="1262063"/>
          </a:xfrm>
        </p:spPr>
        <p:txBody>
          <a:bodyPr/>
          <a:lstStyle/>
          <a:p>
            <a:pPr eaLnBrk="1" hangingPunct="1"/>
            <a:r>
              <a:rPr lang="en-US" altLang="en-US" sz="3200" b="1">
                <a:solidFill>
                  <a:srgbClr val="000000"/>
                </a:solidFill>
              </a:rPr>
              <a:t>Constraints on Specialization and Generalization (3)</a:t>
            </a:r>
            <a:br>
              <a:rPr lang="en-US" altLang="en-US" sz="3200" b="1">
                <a:solidFill>
                  <a:srgbClr val="000000"/>
                </a:solidFill>
              </a:rPr>
            </a:br>
            <a:endParaRPr lang="en-US" altLang="en-US" sz="3200" b="1">
              <a:solidFill>
                <a:srgbClr val="000000"/>
              </a:solidFill>
            </a:endParaRPr>
          </a:p>
        </p:txBody>
      </p:sp>
      <p:sp>
        <p:nvSpPr>
          <p:cNvPr id="40963" name="Subtitle 2">
            <a:extLst>
              <a:ext uri="{FF2B5EF4-FFF2-40B4-BE49-F238E27FC236}">
                <a16:creationId xmlns:a16="http://schemas.microsoft.com/office/drawing/2014/main" id="{E57CFA67-48F9-F1FF-CD48-A62369812696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503238" y="301625"/>
            <a:ext cx="9072562" cy="1262063"/>
          </a:xfrm>
        </p:spPr>
        <p:txBody>
          <a:bodyPr/>
          <a:lstStyle/>
          <a:p>
            <a:pPr algn="just" eaLnBrk="1" hangingPunct="1">
              <a:buFont typeface="Wingdings" panose="05000000000000000000" pitchFamily="2" charset="2"/>
              <a:buChar char=""/>
            </a:pPr>
            <a:endParaRPr lang="en-US" altLang="en-US" sz="3200">
              <a:solidFill>
                <a:srgbClr val="000000"/>
              </a:solidFill>
            </a:endParaRPr>
          </a:p>
          <a:p>
            <a:pPr algn="just" eaLnBrk="1" hangingPunct="1">
              <a:buFont typeface="Wingdings" panose="05000000000000000000" pitchFamily="2" charset="2"/>
              <a:buChar char=""/>
            </a:pPr>
            <a:endParaRPr lang="en-US" altLang="en-US" sz="3200">
              <a:solidFill>
                <a:srgbClr val="000000"/>
              </a:solidFill>
            </a:endParaRPr>
          </a:p>
          <a:p>
            <a:pPr algn="just" eaLnBrk="1" hangingPunct="1">
              <a:buFont typeface="Wingdings" panose="05000000000000000000" pitchFamily="2" charset="2"/>
              <a:buChar char=""/>
            </a:pPr>
            <a:endParaRPr lang="en-US" altLang="en-US" sz="3200">
              <a:solidFill>
                <a:srgbClr val="000000"/>
              </a:solidFill>
            </a:endParaRPr>
          </a:p>
          <a:p>
            <a:pPr algn="just" eaLnBrk="1" hangingPunct="1">
              <a:buFont typeface="Wingdings" panose="05000000000000000000" pitchFamily="2" charset="2"/>
              <a:buChar char=""/>
            </a:pPr>
            <a:endParaRPr lang="en-US" altLang="en-US" sz="3200">
              <a:solidFill>
                <a:srgbClr val="000000"/>
              </a:solidFill>
            </a:endParaRPr>
          </a:p>
          <a:p>
            <a:pPr algn="just" eaLnBrk="1" hangingPunct="1">
              <a:buFont typeface="Wingdings" panose="05000000000000000000" pitchFamily="2" charset="2"/>
              <a:buChar char=""/>
            </a:pPr>
            <a:endParaRPr lang="en-US" altLang="en-US" sz="3200">
              <a:solidFill>
                <a:srgbClr val="000000"/>
              </a:solidFill>
            </a:endParaRPr>
          </a:p>
          <a:p>
            <a:pPr algn="just" eaLnBrk="1" hangingPunct="1">
              <a:buFont typeface="Wingdings" panose="05000000000000000000" pitchFamily="2" charset="2"/>
              <a:buChar char=""/>
            </a:pPr>
            <a:endParaRPr lang="en-US" altLang="en-US" sz="3200">
              <a:solidFill>
                <a:srgbClr val="000000"/>
              </a:solidFill>
            </a:endParaRPr>
          </a:p>
          <a:p>
            <a:pPr algn="just" eaLnBrk="1" hangingPunct="1">
              <a:buFont typeface="Wingdings" panose="05000000000000000000" pitchFamily="2" charset="2"/>
              <a:buChar char=""/>
            </a:pPr>
            <a:endParaRPr lang="en-US" altLang="en-US" sz="3200">
              <a:solidFill>
                <a:srgbClr val="000000"/>
              </a:solidFill>
            </a:endParaRPr>
          </a:p>
          <a:p>
            <a:pPr algn="just" eaLnBrk="1" hangingPunct="1">
              <a:buFont typeface="Wingdings" panose="05000000000000000000" pitchFamily="2" charset="2"/>
              <a:buChar char=""/>
            </a:pPr>
            <a:endParaRPr lang="en-US" altLang="en-US" sz="3200">
              <a:solidFill>
                <a:srgbClr val="000000"/>
              </a:solidFill>
            </a:endParaRPr>
          </a:p>
          <a:p>
            <a:pPr algn="just" eaLnBrk="1" hangingPunct="1">
              <a:buFont typeface="Wingdings" panose="05000000000000000000" pitchFamily="2" charset="2"/>
              <a:buChar char=""/>
            </a:pPr>
            <a:endParaRPr lang="en-US" altLang="en-US" sz="3200">
              <a:solidFill>
                <a:srgbClr val="000000"/>
              </a:solidFill>
            </a:endParaRPr>
          </a:p>
          <a:p>
            <a:pPr algn="just" eaLnBrk="1" hangingPunct="1">
              <a:buFont typeface="Wingdings" panose="05000000000000000000" pitchFamily="2" charset="2"/>
              <a:buChar char=""/>
            </a:pPr>
            <a:endParaRPr lang="en-US" altLang="en-US" sz="3200">
              <a:solidFill>
                <a:srgbClr val="000000"/>
              </a:solidFill>
            </a:endParaRPr>
          </a:p>
          <a:p>
            <a:pPr algn="just" eaLnBrk="1" hangingPunct="1">
              <a:buFont typeface="Wingdings" panose="05000000000000000000" pitchFamily="2" charset="2"/>
              <a:buChar char=""/>
            </a:pPr>
            <a:endParaRPr lang="en-US" altLang="en-US" sz="3200">
              <a:solidFill>
                <a:srgbClr val="000000"/>
              </a:solidFill>
            </a:endParaRPr>
          </a:p>
          <a:p>
            <a:pPr algn="just" eaLnBrk="1" hangingPunct="1">
              <a:buFont typeface="Wingdings" panose="05000000000000000000" pitchFamily="2" charset="2"/>
              <a:buChar char=""/>
            </a:pPr>
            <a:r>
              <a:rPr lang="en-US" altLang="en-US" sz="3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Two basic constraints can apply to a     specialization/generalization:</a:t>
            </a:r>
          </a:p>
          <a:p>
            <a:pPr algn="l" eaLnBrk="1" hangingPunct="1">
              <a:buSzPct val="50000"/>
            </a:pPr>
            <a:r>
              <a:rPr lang="en-US" altLang="en-US" sz="3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	Disjointness </a:t>
            </a:r>
            <a:r>
              <a:rPr lang="en-US" altLang="en-US" sz="28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Constraint: </a:t>
            </a:r>
            <a:endParaRPr lang="en-US" altLang="en-US" sz="180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 eaLnBrk="1" hangingPunct="1">
              <a:buSzPct val="50000"/>
            </a:pPr>
            <a:r>
              <a:rPr lang="en-US" altLang="en-US" sz="18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		</a:t>
            </a:r>
            <a:r>
              <a:rPr lang="en-US" altLang="en-US" sz="28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Completeness Constraint: </a:t>
            </a:r>
            <a:endParaRPr lang="en-US" altLang="en-US" sz="180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3" indent="-285750" algn="l" eaLnBrk="1" hangingPunct="1">
              <a:buSzPct val="50000"/>
              <a:buFont typeface="Wingdings" panose="05000000000000000000" pitchFamily="2" charset="2"/>
              <a:buChar char="q"/>
            </a:pPr>
            <a:endParaRPr lang="en-US" altLang="en-US" sz="180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2" indent="-285750" algn="l" eaLnBrk="1" hangingPunct="1">
              <a:buSzPct val="50000"/>
              <a:buFont typeface="Wingdings" panose="05000000000000000000" pitchFamily="2" charset="2"/>
              <a:buChar char="q"/>
            </a:pPr>
            <a:endParaRPr lang="en-US" altLang="en-US" sz="180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>
            <a:extLst>
              <a:ext uri="{FF2B5EF4-FFF2-40B4-BE49-F238E27FC236}">
                <a16:creationId xmlns:a16="http://schemas.microsoft.com/office/drawing/2014/main" id="{5E3CE97B-C0E7-5E48-E946-65D29ED84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238" y="301625"/>
            <a:ext cx="9072562" cy="1262063"/>
          </a:xfrm>
        </p:spPr>
        <p:txBody>
          <a:bodyPr/>
          <a:lstStyle/>
          <a:p>
            <a:pPr eaLnBrk="1" hangingPunct="1"/>
            <a:r>
              <a:rPr lang="en-US" altLang="en-US" sz="3200" b="1">
                <a:solidFill>
                  <a:srgbClr val="000000"/>
                </a:solidFill>
              </a:rPr>
              <a:t>Constraints on Specialization and Generalization (4)</a:t>
            </a:r>
            <a:br>
              <a:rPr lang="en-US" altLang="en-US" sz="1800">
                <a:solidFill>
                  <a:srgbClr val="000000"/>
                </a:solidFill>
              </a:rPr>
            </a:br>
            <a:endParaRPr lang="en-US" altLang="en-US" sz="1800">
              <a:solidFill>
                <a:srgbClr val="000000"/>
              </a:solidFill>
            </a:endParaRPr>
          </a:p>
        </p:txBody>
      </p:sp>
      <p:sp>
        <p:nvSpPr>
          <p:cNvPr id="41987" name="Subtitle 2">
            <a:extLst>
              <a:ext uri="{FF2B5EF4-FFF2-40B4-BE49-F238E27FC236}">
                <a16:creationId xmlns:a16="http://schemas.microsoft.com/office/drawing/2014/main" id="{A5987913-1B6C-1387-F59E-0333D6BE3929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503238" y="301625"/>
            <a:ext cx="9072562" cy="1262063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3200">
              <a:solidFill>
                <a:srgbClr val="00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3200">
              <a:solidFill>
                <a:srgbClr val="00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3200">
              <a:solidFill>
                <a:srgbClr val="00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3200">
              <a:solidFill>
                <a:srgbClr val="00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3200">
              <a:solidFill>
                <a:srgbClr val="00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3200">
              <a:solidFill>
                <a:srgbClr val="00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3200">
              <a:solidFill>
                <a:srgbClr val="00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3200">
              <a:solidFill>
                <a:srgbClr val="00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3200">
              <a:solidFill>
                <a:srgbClr val="00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3200">
              <a:solidFill>
                <a:srgbClr val="00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3200">
              <a:solidFill>
                <a:srgbClr val="00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3200">
              <a:solidFill>
                <a:srgbClr val="00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3200">
              <a:solidFill>
                <a:srgbClr val="000000"/>
              </a:solidFill>
            </a:endParaRPr>
          </a:p>
          <a:p>
            <a:pPr algn="just" eaLnBrk="1" hangingPunct="1">
              <a:buFont typeface="Wingdings" panose="05000000000000000000" pitchFamily="2" charset="2"/>
              <a:buChar char=""/>
            </a:pPr>
            <a:r>
              <a:rPr lang="en-US" altLang="en-US" sz="3200" b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Disjointness Constraint: </a:t>
            </a:r>
            <a:endParaRPr lang="en-US" altLang="en-US" sz="1800" b="1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algn="just" eaLnBrk="1" hangingPunct="1">
              <a:buSzPct val="80000"/>
            </a:pPr>
            <a:r>
              <a:rPr lang="en-US" altLang="en-US" sz="28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Specifies that the subclasses of the specialization</a:t>
            </a:r>
          </a:p>
          <a:p>
            <a:pPr lvl="1" algn="just" eaLnBrk="1" hangingPunct="1">
              <a:buSzPct val="80000"/>
            </a:pPr>
            <a:r>
              <a:rPr lang="en-US" altLang="en-US" sz="28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must be </a:t>
            </a:r>
            <a:r>
              <a:rPr lang="en-US" altLang="en-US" sz="2800" i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disjoint</a:t>
            </a:r>
            <a:r>
              <a:rPr lang="en-US" altLang="en-US" sz="28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en-US" altLang="en-US" sz="180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2" algn="just" eaLnBrk="1" hangingPunct="1"/>
            <a:r>
              <a:rPr lang="en-US" altLang="en-US" sz="2400" b="1" i="1">
                <a:solidFill>
                  <a:srgbClr val="0000CC"/>
                </a:solidFill>
              </a:rPr>
              <a:t>   An entity can be a member of at most one of the subclasses</a:t>
            </a:r>
          </a:p>
          <a:p>
            <a:pPr lvl="2" algn="just" eaLnBrk="1" hangingPunct="1"/>
            <a:r>
              <a:rPr lang="en-US" altLang="en-US" sz="2400" b="1" i="1">
                <a:solidFill>
                  <a:srgbClr val="0000CC"/>
                </a:solidFill>
              </a:rPr>
              <a:t>   of the specialization</a:t>
            </a:r>
            <a:endParaRPr lang="en-US" altLang="en-US" sz="1800" b="1" i="1">
              <a:solidFill>
                <a:srgbClr val="0000CC"/>
              </a:solidFill>
            </a:endParaRPr>
          </a:p>
          <a:p>
            <a:pPr lvl="1" algn="just" eaLnBrk="1" hangingPunct="1">
              <a:buSzPct val="80000"/>
            </a:pPr>
            <a:r>
              <a:rPr lang="en-US" altLang="en-US" sz="2800">
                <a:solidFill>
                  <a:srgbClr val="000000"/>
                </a:solidFill>
              </a:rPr>
              <a:t>  Specified by </a:t>
            </a:r>
            <a:r>
              <a:rPr lang="en-US" altLang="en-US" sz="2800" b="1" i="1" u="sng">
                <a:solidFill>
                  <a:srgbClr val="000000"/>
                </a:solidFill>
              </a:rPr>
              <a:t>d</a:t>
            </a:r>
            <a:r>
              <a:rPr lang="en-US" altLang="en-US" sz="2800">
                <a:solidFill>
                  <a:srgbClr val="000000"/>
                </a:solidFill>
              </a:rPr>
              <a:t> in EER diagram </a:t>
            </a:r>
            <a:endParaRPr lang="en-US" altLang="en-US" sz="1800">
              <a:solidFill>
                <a:srgbClr val="000000"/>
              </a:solidFill>
            </a:endParaRPr>
          </a:p>
          <a:p>
            <a:pPr lvl="1" algn="just" eaLnBrk="1" hangingPunct="1">
              <a:buSzPct val="80000"/>
              <a:buFont typeface="Wingdings" panose="05000000000000000000" pitchFamily="2" charset="2"/>
              <a:buChar char=""/>
            </a:pPr>
            <a:endParaRPr lang="en-US" altLang="en-US" sz="2800">
              <a:solidFill>
                <a:srgbClr val="000000"/>
              </a:solidFill>
            </a:endParaRPr>
          </a:p>
          <a:p>
            <a:pPr lvl="1" algn="just" eaLnBrk="1" hangingPunct="1">
              <a:buSzPct val="80000"/>
              <a:buFont typeface="Wingdings" panose="05000000000000000000" pitchFamily="2" charset="2"/>
              <a:buChar char=""/>
            </a:pPr>
            <a:r>
              <a:rPr lang="en-US" altLang="en-US" sz="2800">
                <a:solidFill>
                  <a:srgbClr val="000000"/>
                </a:solidFill>
              </a:rPr>
              <a:t>If not disjoint, specialization is </a:t>
            </a:r>
            <a:r>
              <a:rPr lang="en-US" altLang="en-US" sz="2800" i="1">
                <a:solidFill>
                  <a:srgbClr val="000000"/>
                </a:solidFill>
              </a:rPr>
              <a:t>overlapping</a:t>
            </a:r>
            <a:r>
              <a:rPr lang="en-US" altLang="en-US" sz="2800">
                <a:solidFill>
                  <a:srgbClr val="000000"/>
                </a:solidFill>
              </a:rPr>
              <a:t>:</a:t>
            </a:r>
            <a:endParaRPr lang="en-US" altLang="en-US" sz="1800">
              <a:solidFill>
                <a:srgbClr val="000000"/>
              </a:solidFill>
            </a:endParaRPr>
          </a:p>
          <a:p>
            <a:pPr lvl="2" algn="just" eaLnBrk="1" hangingPunct="1"/>
            <a:r>
              <a:rPr lang="en-US" altLang="en-US" sz="2400" b="1" i="1">
                <a:solidFill>
                  <a:srgbClr val="0000CC"/>
                </a:solidFill>
              </a:rPr>
              <a:t>  that is the same entity may be a member of more than one</a:t>
            </a:r>
          </a:p>
          <a:p>
            <a:pPr lvl="2" algn="just" eaLnBrk="1" hangingPunct="1"/>
            <a:r>
              <a:rPr lang="en-US" altLang="en-US" sz="2400" b="1" i="1">
                <a:solidFill>
                  <a:srgbClr val="0000CC"/>
                </a:solidFill>
              </a:rPr>
              <a:t>  subclass of the specialization</a:t>
            </a:r>
            <a:endParaRPr lang="en-US" altLang="en-US" sz="1800" b="1" i="1">
              <a:solidFill>
                <a:srgbClr val="0000CC"/>
              </a:solidFill>
            </a:endParaRPr>
          </a:p>
          <a:p>
            <a:pPr lvl="1" algn="just" eaLnBrk="1" hangingPunct="1">
              <a:buSzPct val="80000"/>
            </a:pPr>
            <a:r>
              <a:rPr lang="en-US" altLang="en-US" sz="2800">
                <a:solidFill>
                  <a:srgbClr val="000000"/>
                </a:solidFill>
              </a:rPr>
              <a:t> Specified by </a:t>
            </a:r>
            <a:r>
              <a:rPr lang="en-US" altLang="en-US" sz="2800" b="1" i="1" u="sng">
                <a:solidFill>
                  <a:srgbClr val="000000"/>
                </a:solidFill>
              </a:rPr>
              <a:t>o</a:t>
            </a:r>
            <a:r>
              <a:rPr lang="en-US" altLang="en-US" sz="2800">
                <a:solidFill>
                  <a:srgbClr val="000000"/>
                </a:solidFill>
              </a:rPr>
              <a:t> in EER diagram </a:t>
            </a:r>
            <a:endParaRPr lang="en-US" altLang="en-US" sz="1800">
              <a:solidFill>
                <a:srgbClr val="000000"/>
              </a:solidFill>
            </a:endParaRPr>
          </a:p>
          <a:p>
            <a:pPr algn="just" eaLnBrk="1" hangingPunct="1"/>
            <a:endParaRPr lang="en-US" altLang="en-US" sz="18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>
            <a:extLst>
              <a:ext uri="{FF2B5EF4-FFF2-40B4-BE49-F238E27FC236}">
                <a16:creationId xmlns:a16="http://schemas.microsoft.com/office/drawing/2014/main" id="{D0333E2D-5ACB-0751-B49A-270230A4D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238" y="301625"/>
            <a:ext cx="9072562" cy="1262063"/>
          </a:xfrm>
        </p:spPr>
        <p:txBody>
          <a:bodyPr/>
          <a:lstStyle/>
          <a:p>
            <a:pPr eaLnBrk="1" hangingPunct="1"/>
            <a:r>
              <a:rPr lang="en-US" altLang="en-US" sz="3200" b="1">
                <a:solidFill>
                  <a:srgbClr val="000000"/>
                </a:solidFill>
              </a:rPr>
              <a:t>Constraints on Specialization and Generalization (5)</a:t>
            </a:r>
          </a:p>
        </p:txBody>
      </p:sp>
      <p:sp>
        <p:nvSpPr>
          <p:cNvPr id="43011" name="Subtitle 2">
            <a:extLst>
              <a:ext uri="{FF2B5EF4-FFF2-40B4-BE49-F238E27FC236}">
                <a16:creationId xmlns:a16="http://schemas.microsoft.com/office/drawing/2014/main" id="{502EE630-9B92-1573-F2D2-64A9C75BEC7F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503238" y="301625"/>
            <a:ext cx="9072562" cy="1262063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3200">
              <a:solidFill>
                <a:srgbClr val="00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3200">
              <a:solidFill>
                <a:srgbClr val="00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3200">
              <a:solidFill>
                <a:srgbClr val="00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3200">
              <a:solidFill>
                <a:srgbClr val="00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3200">
              <a:solidFill>
                <a:srgbClr val="00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3200">
              <a:solidFill>
                <a:srgbClr val="00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3200">
              <a:solidFill>
                <a:srgbClr val="00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3200">
              <a:solidFill>
                <a:srgbClr val="00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3200">
              <a:solidFill>
                <a:srgbClr val="00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3200">
              <a:solidFill>
                <a:srgbClr val="00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3200">
              <a:solidFill>
                <a:srgbClr val="00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3200">
              <a:solidFill>
                <a:srgbClr val="00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3200">
              <a:solidFill>
                <a:srgbClr val="000000"/>
              </a:solidFill>
            </a:endParaRPr>
          </a:p>
          <a:p>
            <a:pPr algn="just" eaLnBrk="1" hangingPunct="1">
              <a:buFont typeface="Wingdings" panose="05000000000000000000" pitchFamily="2" charset="2"/>
              <a:buChar char=""/>
            </a:pPr>
            <a:r>
              <a:rPr lang="en-US" altLang="en-US" sz="3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Completeness Constraint</a:t>
            </a:r>
            <a:r>
              <a:rPr lang="en-US" altLang="en-US" sz="3200">
                <a:solidFill>
                  <a:srgbClr val="000000"/>
                </a:solidFill>
              </a:rPr>
              <a:t>: </a:t>
            </a:r>
            <a:endParaRPr lang="en-US" altLang="en-US" sz="1800">
              <a:solidFill>
                <a:srgbClr val="000000"/>
              </a:solidFill>
            </a:endParaRPr>
          </a:p>
          <a:p>
            <a:pPr lvl="1" algn="just" eaLnBrk="1" hangingPunct="1">
              <a:buSzPct val="80000"/>
            </a:pPr>
            <a:r>
              <a:rPr lang="en-US" altLang="en-US" sz="2800" i="1">
                <a:solidFill>
                  <a:srgbClr val="000000"/>
                </a:solidFill>
              </a:rPr>
              <a:t>  </a:t>
            </a:r>
            <a:r>
              <a:rPr lang="en-US" altLang="en-US" sz="2800" i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Total</a:t>
            </a:r>
            <a:r>
              <a:rPr lang="en-US" altLang="en-US" sz="28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specifies that every entity in the superclass must be a</a:t>
            </a:r>
          </a:p>
          <a:p>
            <a:pPr lvl="1" algn="just" eaLnBrk="1" hangingPunct="1">
              <a:buSzPct val="80000"/>
            </a:pPr>
            <a:r>
              <a:rPr lang="en-US" altLang="en-US" sz="28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member of some subclass in the specialization/generalization</a:t>
            </a:r>
          </a:p>
          <a:p>
            <a:pPr lvl="1" algn="just" eaLnBrk="1" hangingPunct="1">
              <a:buSzPct val="80000"/>
            </a:pPr>
            <a:r>
              <a:rPr lang="en-US" altLang="en-US" sz="28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altLang="en-US" sz="180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algn="just" eaLnBrk="1" hangingPunct="1">
              <a:buSzPct val="80000"/>
              <a:buFont typeface="Wingdings" panose="05000000000000000000" pitchFamily="2" charset="2"/>
              <a:buChar char=""/>
            </a:pPr>
            <a:r>
              <a:rPr lang="en-US" altLang="en-US" sz="28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Shown in EER diagrams by a </a:t>
            </a:r>
            <a:r>
              <a:rPr lang="en-US" altLang="en-US" sz="2800" b="1" i="1" u="sng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double line</a:t>
            </a:r>
            <a:r>
              <a:rPr lang="en-US" altLang="en-US" sz="28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lvl="1" algn="just" eaLnBrk="1" hangingPunct="1">
              <a:buSzPct val="80000"/>
              <a:buFont typeface="Wingdings" panose="05000000000000000000" pitchFamily="2" charset="2"/>
              <a:buChar char=""/>
            </a:pPr>
            <a:endParaRPr lang="en-US" altLang="en-US" sz="180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algn="just" eaLnBrk="1" hangingPunct="1">
              <a:buSzPct val="80000"/>
              <a:buFont typeface="Wingdings" panose="05000000000000000000" pitchFamily="2" charset="2"/>
              <a:buChar char=""/>
            </a:pPr>
            <a:r>
              <a:rPr lang="en-US" altLang="en-US" sz="2800" i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Partial</a:t>
            </a:r>
            <a:r>
              <a:rPr lang="en-US" altLang="en-US" sz="28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allows an entity not to belong to any of the subclasses </a:t>
            </a:r>
          </a:p>
          <a:p>
            <a:pPr lvl="1" algn="just" eaLnBrk="1" hangingPunct="1">
              <a:buSzPct val="80000"/>
              <a:buFont typeface="Wingdings" panose="05000000000000000000" pitchFamily="2" charset="2"/>
              <a:buChar char=""/>
            </a:pPr>
            <a:endParaRPr lang="en-US" altLang="en-US" sz="180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algn="just" eaLnBrk="1" hangingPunct="1">
              <a:buSzPct val="80000"/>
              <a:buFont typeface="Wingdings" panose="05000000000000000000" pitchFamily="2" charset="2"/>
              <a:buChar char=""/>
            </a:pPr>
            <a:r>
              <a:rPr lang="en-US" altLang="en-US" sz="28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Shown in EER diagrams by a single line</a:t>
            </a:r>
            <a:endParaRPr lang="en-US" altLang="en-US" sz="180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 eaLnBrk="1" hangingPunct="1"/>
            <a:endParaRPr lang="en-US" altLang="en-US" sz="180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>
            <a:extLst>
              <a:ext uri="{FF2B5EF4-FFF2-40B4-BE49-F238E27FC236}">
                <a16:creationId xmlns:a16="http://schemas.microsoft.com/office/drawing/2014/main" id="{FC4CF4B5-5F0D-CB6A-B535-4C424AB36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238" y="301625"/>
            <a:ext cx="9072562" cy="1262063"/>
          </a:xfrm>
        </p:spPr>
        <p:txBody>
          <a:bodyPr/>
          <a:lstStyle/>
          <a:p>
            <a:pPr eaLnBrk="1" hangingPunct="1"/>
            <a:r>
              <a:rPr lang="en-US" altLang="en-US" sz="3200" b="1">
                <a:solidFill>
                  <a:srgbClr val="000000"/>
                </a:solidFill>
              </a:rPr>
              <a:t>Constraints on Specialization and Generalization (6)</a:t>
            </a:r>
            <a:br>
              <a:rPr lang="en-US" altLang="en-US" sz="1800">
                <a:solidFill>
                  <a:srgbClr val="000000"/>
                </a:solidFill>
              </a:rPr>
            </a:br>
            <a:endParaRPr lang="en-US" altLang="en-US" sz="1800">
              <a:solidFill>
                <a:srgbClr val="000000"/>
              </a:solidFill>
            </a:endParaRPr>
          </a:p>
        </p:txBody>
      </p:sp>
      <p:sp>
        <p:nvSpPr>
          <p:cNvPr id="44035" name="Text Placeholder 2">
            <a:extLst>
              <a:ext uri="{FF2B5EF4-FFF2-40B4-BE49-F238E27FC236}">
                <a16:creationId xmlns:a16="http://schemas.microsoft.com/office/drawing/2014/main" id="{F5A73304-E8B9-4F51-DEA3-939FC4829CB9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503238" y="301625"/>
            <a:ext cx="9072562" cy="1262063"/>
          </a:xfrm>
        </p:spPr>
        <p:txBody>
          <a:bodyPr/>
          <a:lstStyle/>
          <a:p>
            <a:pPr algn="l" eaLnBrk="1" hangingPunct="1">
              <a:buFont typeface="Wingdings" panose="05000000000000000000" pitchFamily="2" charset="2"/>
              <a:buChar char=""/>
            </a:pPr>
            <a:endParaRPr lang="en-US" altLang="en-US" sz="3200">
              <a:solidFill>
                <a:srgbClr val="000000"/>
              </a:solidFill>
            </a:endParaRPr>
          </a:p>
          <a:p>
            <a:pPr algn="l" eaLnBrk="1" hangingPunct="1">
              <a:buFont typeface="Wingdings" panose="05000000000000000000" pitchFamily="2" charset="2"/>
              <a:buChar char=""/>
            </a:pPr>
            <a:endParaRPr lang="en-US" altLang="en-US" sz="3200">
              <a:solidFill>
                <a:srgbClr val="000000"/>
              </a:solidFill>
            </a:endParaRPr>
          </a:p>
          <a:p>
            <a:pPr algn="l" eaLnBrk="1" hangingPunct="1">
              <a:buFont typeface="Wingdings" panose="05000000000000000000" pitchFamily="2" charset="2"/>
              <a:buChar char=""/>
            </a:pPr>
            <a:endParaRPr lang="en-US" altLang="en-US" sz="3200">
              <a:solidFill>
                <a:srgbClr val="000000"/>
              </a:solidFill>
            </a:endParaRPr>
          </a:p>
          <a:p>
            <a:pPr algn="l" eaLnBrk="1" hangingPunct="1">
              <a:buFont typeface="Wingdings" panose="05000000000000000000" pitchFamily="2" charset="2"/>
              <a:buChar char=""/>
            </a:pPr>
            <a:endParaRPr lang="en-US" altLang="en-US" sz="3200">
              <a:solidFill>
                <a:srgbClr val="000000"/>
              </a:solidFill>
            </a:endParaRPr>
          </a:p>
          <a:p>
            <a:pPr algn="l" eaLnBrk="1" hangingPunct="1">
              <a:buFont typeface="Wingdings" panose="05000000000000000000" pitchFamily="2" charset="2"/>
              <a:buChar char=""/>
            </a:pPr>
            <a:endParaRPr lang="en-US" altLang="en-US" sz="3200">
              <a:solidFill>
                <a:srgbClr val="000000"/>
              </a:solidFill>
            </a:endParaRPr>
          </a:p>
          <a:p>
            <a:pPr algn="l" eaLnBrk="1" hangingPunct="1">
              <a:buFont typeface="Wingdings" panose="05000000000000000000" pitchFamily="2" charset="2"/>
              <a:buChar char=""/>
            </a:pPr>
            <a:endParaRPr lang="en-US" altLang="en-US" sz="3200">
              <a:solidFill>
                <a:srgbClr val="000000"/>
              </a:solidFill>
            </a:endParaRPr>
          </a:p>
          <a:p>
            <a:pPr algn="l" eaLnBrk="1" hangingPunct="1">
              <a:buFont typeface="Wingdings" panose="05000000000000000000" pitchFamily="2" charset="2"/>
              <a:buChar char=""/>
            </a:pPr>
            <a:endParaRPr lang="en-US" altLang="en-US" sz="3200">
              <a:solidFill>
                <a:srgbClr val="000000"/>
              </a:solidFill>
            </a:endParaRPr>
          </a:p>
          <a:p>
            <a:pPr algn="l" eaLnBrk="1" hangingPunct="1">
              <a:buFont typeface="Wingdings" panose="05000000000000000000" pitchFamily="2" charset="2"/>
              <a:buChar char=""/>
            </a:pPr>
            <a:endParaRPr lang="en-US" altLang="en-US" sz="3200">
              <a:solidFill>
                <a:srgbClr val="000000"/>
              </a:solidFill>
            </a:endParaRPr>
          </a:p>
          <a:p>
            <a:pPr algn="l" eaLnBrk="1" hangingPunct="1">
              <a:buFont typeface="Wingdings" panose="05000000000000000000" pitchFamily="2" charset="2"/>
              <a:buChar char=""/>
            </a:pPr>
            <a:endParaRPr lang="en-US" altLang="en-US" sz="3200">
              <a:solidFill>
                <a:srgbClr val="000000"/>
              </a:solidFill>
            </a:endParaRPr>
          </a:p>
          <a:p>
            <a:pPr algn="l" eaLnBrk="1" hangingPunct="1">
              <a:buFont typeface="Wingdings" panose="05000000000000000000" pitchFamily="2" charset="2"/>
              <a:buChar char=""/>
            </a:pPr>
            <a:endParaRPr lang="en-US" altLang="en-US" sz="3200">
              <a:solidFill>
                <a:srgbClr val="000000"/>
              </a:solidFill>
            </a:endParaRPr>
          </a:p>
          <a:p>
            <a:pPr algn="l" eaLnBrk="1" hangingPunct="1">
              <a:buFont typeface="Wingdings" panose="05000000000000000000" pitchFamily="2" charset="2"/>
              <a:buChar char=""/>
            </a:pPr>
            <a:endParaRPr lang="en-US" altLang="en-US" sz="3200">
              <a:solidFill>
                <a:srgbClr val="000000"/>
              </a:solidFill>
            </a:endParaRPr>
          </a:p>
          <a:p>
            <a:pPr algn="l" eaLnBrk="1" hangingPunct="1">
              <a:buFont typeface="Wingdings" panose="05000000000000000000" pitchFamily="2" charset="2"/>
              <a:buChar char=""/>
            </a:pPr>
            <a:endParaRPr lang="en-US" altLang="en-US" sz="3200">
              <a:solidFill>
                <a:srgbClr val="000000"/>
              </a:solidFill>
            </a:endParaRPr>
          </a:p>
          <a:p>
            <a:pPr algn="l" eaLnBrk="1" hangingPunct="1">
              <a:buFont typeface="Wingdings" panose="05000000000000000000" pitchFamily="2" charset="2"/>
              <a:buChar char=""/>
            </a:pPr>
            <a:endParaRPr lang="en-US" altLang="en-US" sz="3200">
              <a:solidFill>
                <a:srgbClr val="000000"/>
              </a:solidFill>
            </a:endParaRPr>
          </a:p>
          <a:p>
            <a:pPr algn="l" eaLnBrk="1" hangingPunct="1">
              <a:buFont typeface="Wingdings" panose="05000000000000000000" pitchFamily="2" charset="2"/>
              <a:buChar char=""/>
            </a:pPr>
            <a:endParaRPr lang="en-US" altLang="en-US" sz="3200">
              <a:solidFill>
                <a:srgbClr val="000000"/>
              </a:solidFill>
            </a:endParaRPr>
          </a:p>
          <a:p>
            <a:pPr algn="l" eaLnBrk="1" hangingPunct="1">
              <a:buFont typeface="Wingdings" panose="05000000000000000000" pitchFamily="2" charset="2"/>
              <a:buChar char=""/>
            </a:pPr>
            <a:r>
              <a:rPr lang="en-US" altLang="en-US" sz="3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Hence, we have four types of specialization/generalization</a:t>
            </a:r>
            <a:r>
              <a:rPr lang="en-US" altLang="en-US" sz="3200">
                <a:solidFill>
                  <a:srgbClr val="000000"/>
                </a:solidFill>
              </a:rPr>
              <a:t>:</a:t>
            </a:r>
            <a:endParaRPr lang="en-US" altLang="en-US" sz="1800">
              <a:solidFill>
                <a:srgbClr val="000000"/>
              </a:solidFill>
            </a:endParaRPr>
          </a:p>
          <a:p>
            <a:pPr lvl="3" algn="l" eaLnBrk="1" hangingPunct="1">
              <a:buSzPct val="60000"/>
            </a:pPr>
            <a:r>
              <a:rPr lang="en-US" altLang="en-US" sz="2800">
                <a:solidFill>
                  <a:srgbClr val="000000"/>
                </a:solidFill>
              </a:rPr>
              <a:t>	Disjoint, total </a:t>
            </a:r>
            <a:endParaRPr lang="en-US" altLang="en-US" sz="1800">
              <a:solidFill>
                <a:srgbClr val="000000"/>
              </a:solidFill>
            </a:endParaRPr>
          </a:p>
          <a:p>
            <a:pPr lvl="3" algn="l" eaLnBrk="1" hangingPunct="1">
              <a:buSzPct val="60000"/>
            </a:pPr>
            <a:r>
              <a:rPr lang="en-US" altLang="en-US" sz="2800">
                <a:solidFill>
                  <a:srgbClr val="000000"/>
                </a:solidFill>
              </a:rPr>
              <a:t>	Disjoint, partial </a:t>
            </a:r>
            <a:endParaRPr lang="en-US" altLang="en-US" sz="1800">
              <a:solidFill>
                <a:srgbClr val="000000"/>
              </a:solidFill>
            </a:endParaRPr>
          </a:p>
          <a:p>
            <a:pPr lvl="3" algn="l" eaLnBrk="1" hangingPunct="1">
              <a:buSzPct val="60000"/>
            </a:pPr>
            <a:r>
              <a:rPr lang="en-US" altLang="en-US" sz="2800">
                <a:solidFill>
                  <a:srgbClr val="000000"/>
                </a:solidFill>
              </a:rPr>
              <a:t>	Overlapping, total </a:t>
            </a:r>
            <a:endParaRPr lang="en-US" altLang="en-US" sz="1800">
              <a:solidFill>
                <a:srgbClr val="000000"/>
              </a:solidFill>
            </a:endParaRPr>
          </a:p>
          <a:p>
            <a:pPr lvl="3" algn="l" eaLnBrk="1" hangingPunct="1">
              <a:buSzPct val="60000"/>
            </a:pPr>
            <a:r>
              <a:rPr lang="en-US" altLang="en-US" sz="2800">
                <a:solidFill>
                  <a:srgbClr val="000000"/>
                </a:solidFill>
              </a:rPr>
              <a:t>	Overlapping, partial</a:t>
            </a:r>
            <a:endParaRPr lang="en-US" altLang="en-US" sz="1800">
              <a:solidFill>
                <a:srgbClr val="000000"/>
              </a:solidFill>
            </a:endParaRPr>
          </a:p>
          <a:p>
            <a:pPr algn="l" eaLnBrk="1" hangingPunct="1">
              <a:buFont typeface="Wingdings" panose="05000000000000000000" pitchFamily="2" charset="2"/>
              <a:buChar char=""/>
            </a:pPr>
            <a:r>
              <a:rPr lang="en-US" altLang="en-US" sz="3200">
                <a:solidFill>
                  <a:srgbClr val="000000"/>
                </a:solidFill>
              </a:rPr>
              <a:t>Note: </a:t>
            </a:r>
            <a:r>
              <a:rPr lang="en-US" altLang="en-US" sz="3200" b="1" i="1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Generalization usually is total because the</a:t>
            </a:r>
          </a:p>
          <a:p>
            <a:pPr algn="l" eaLnBrk="1" hangingPunct="1"/>
            <a:r>
              <a:rPr lang="en-US" altLang="en-US" sz="3200" b="1" i="1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 superclass is derived from the subclasses.</a:t>
            </a:r>
            <a:endParaRPr lang="en-US" altLang="en-US" sz="1800" b="1" i="1">
              <a:solidFill>
                <a:srgbClr val="0000CC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 eaLnBrk="1" hangingPunct="1"/>
            <a:endParaRPr lang="en-US" altLang="en-US" sz="1800" b="1" i="1">
              <a:solidFill>
                <a:srgbClr val="0000CC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>
            <a:extLst>
              <a:ext uri="{FF2B5EF4-FFF2-40B4-BE49-F238E27FC236}">
                <a16:creationId xmlns:a16="http://schemas.microsoft.com/office/drawing/2014/main" id="{B30A277D-9AA8-7E8B-C632-538FCDD16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238" y="301625"/>
            <a:ext cx="9072562" cy="1262063"/>
          </a:xfrm>
        </p:spPr>
        <p:txBody>
          <a:bodyPr/>
          <a:lstStyle/>
          <a:p>
            <a:pPr eaLnBrk="1" hangingPunct="1"/>
            <a:r>
              <a:rPr lang="en-US" altLang="en-US" sz="3200" b="1">
                <a:solidFill>
                  <a:srgbClr val="000000"/>
                </a:solidFill>
              </a:rPr>
              <a:t>Example of disjoint partial Specialization</a:t>
            </a:r>
            <a:br>
              <a:rPr lang="en-US" altLang="en-US" sz="1800">
                <a:solidFill>
                  <a:srgbClr val="000000"/>
                </a:solidFill>
              </a:rPr>
            </a:br>
            <a:endParaRPr lang="en-US" altLang="en-US" sz="1800">
              <a:solidFill>
                <a:srgbClr val="000000"/>
              </a:solidFill>
            </a:endParaRPr>
          </a:p>
        </p:txBody>
      </p:sp>
      <p:pic>
        <p:nvPicPr>
          <p:cNvPr id="45059" name="Picture 5" descr="fig04_04">
            <a:extLst>
              <a:ext uri="{FF2B5EF4-FFF2-40B4-BE49-F238E27FC236}">
                <a16:creationId xmlns:a16="http://schemas.microsoft.com/office/drawing/2014/main" id="{72C599CF-502D-5BAE-2846-FC54A730AB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847850"/>
            <a:ext cx="9536113" cy="5437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>
            <a:extLst>
              <a:ext uri="{FF2B5EF4-FFF2-40B4-BE49-F238E27FC236}">
                <a16:creationId xmlns:a16="http://schemas.microsoft.com/office/drawing/2014/main" id="{543A4C38-C2E4-9B35-52FC-E7417F815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238" y="301625"/>
            <a:ext cx="9072562" cy="1262063"/>
          </a:xfrm>
        </p:spPr>
        <p:txBody>
          <a:bodyPr/>
          <a:lstStyle/>
          <a:p>
            <a:pPr eaLnBrk="1" hangingPunct="1"/>
            <a:r>
              <a:rPr lang="en-US" altLang="en-US" sz="3200" b="1">
                <a:solidFill>
                  <a:srgbClr val="800000"/>
                </a:solidFill>
              </a:rPr>
              <a:t>Example of overlapping total Specialization</a:t>
            </a:r>
            <a:br>
              <a:rPr lang="en-US" altLang="en-US" sz="1800">
                <a:solidFill>
                  <a:srgbClr val="000000"/>
                </a:solidFill>
              </a:rPr>
            </a:br>
            <a:endParaRPr lang="en-US" altLang="en-US" sz="1800">
              <a:solidFill>
                <a:srgbClr val="000000"/>
              </a:solidFill>
            </a:endParaRPr>
          </a:p>
        </p:txBody>
      </p:sp>
      <p:pic>
        <p:nvPicPr>
          <p:cNvPr id="46083" name="Picture 3" descr="fig04_05">
            <a:extLst>
              <a:ext uri="{FF2B5EF4-FFF2-40B4-BE49-F238E27FC236}">
                <a16:creationId xmlns:a16="http://schemas.microsoft.com/office/drawing/2014/main" id="{69F4BA8D-3DF3-4EDD-3180-45BF996D95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38" y="2432050"/>
            <a:ext cx="9540875" cy="4776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>
            <a:extLst>
              <a:ext uri="{FF2B5EF4-FFF2-40B4-BE49-F238E27FC236}">
                <a16:creationId xmlns:a16="http://schemas.microsoft.com/office/drawing/2014/main" id="{FD0AB14B-D3E0-4F1B-8A3E-D92C44834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238" y="301625"/>
            <a:ext cx="9072562" cy="1262063"/>
          </a:xfrm>
        </p:spPr>
        <p:txBody>
          <a:bodyPr/>
          <a:lstStyle/>
          <a:p>
            <a:pPr eaLnBrk="1" hangingPunct="1"/>
            <a:r>
              <a:rPr lang="en-US" altLang="en-US" sz="3600" b="1">
                <a:solidFill>
                  <a:srgbClr val="000000"/>
                </a:solidFill>
              </a:rPr>
              <a:t>Specialization/Generalization Hierarchies, Lattices &amp; Shared Subclasses (1)</a:t>
            </a:r>
            <a:br>
              <a:rPr lang="en-US" altLang="en-US" sz="3600" b="1">
                <a:solidFill>
                  <a:srgbClr val="000000"/>
                </a:solidFill>
              </a:rPr>
            </a:br>
            <a:endParaRPr lang="en-US" altLang="en-US" sz="3600" b="1">
              <a:solidFill>
                <a:srgbClr val="000000"/>
              </a:solidFill>
            </a:endParaRPr>
          </a:p>
        </p:txBody>
      </p:sp>
      <p:sp>
        <p:nvSpPr>
          <p:cNvPr id="47107" name="Subtitle 2">
            <a:extLst>
              <a:ext uri="{FF2B5EF4-FFF2-40B4-BE49-F238E27FC236}">
                <a16:creationId xmlns:a16="http://schemas.microsoft.com/office/drawing/2014/main" id="{AD059149-1F7E-1C3F-082A-0613305D49CE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503238" y="301625"/>
            <a:ext cx="9072562" cy="1262063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3200">
              <a:solidFill>
                <a:srgbClr val="00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3200">
              <a:solidFill>
                <a:srgbClr val="00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3200">
              <a:solidFill>
                <a:srgbClr val="00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3200">
              <a:solidFill>
                <a:srgbClr val="00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3200">
              <a:solidFill>
                <a:srgbClr val="00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3200">
              <a:solidFill>
                <a:srgbClr val="00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3200">
              <a:solidFill>
                <a:srgbClr val="00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3200">
              <a:solidFill>
                <a:srgbClr val="00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3200">
              <a:solidFill>
                <a:srgbClr val="00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3200">
              <a:solidFill>
                <a:srgbClr val="00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3200">
              <a:solidFill>
                <a:srgbClr val="00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3200">
              <a:solidFill>
                <a:srgbClr val="000000"/>
              </a:solidFill>
            </a:endParaRPr>
          </a:p>
          <a:p>
            <a:pPr algn="l" eaLnBrk="1" hangingPunct="1">
              <a:buFont typeface="Wingdings" panose="05000000000000000000" pitchFamily="2" charset="2"/>
              <a:buChar char=""/>
            </a:pPr>
            <a:r>
              <a:rPr lang="en-US" altLang="en-US" sz="3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subclass may itself have further subclasses </a:t>
            </a:r>
          </a:p>
          <a:p>
            <a:pPr algn="l" eaLnBrk="1" hangingPunct="1"/>
            <a:r>
              <a:rPr lang="en-US" altLang="en-US" sz="3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specified on it forms a hierarchy or a lattice</a:t>
            </a:r>
          </a:p>
          <a:p>
            <a:pPr lvl="1" algn="l" eaLnBrk="1" hangingPunct="1">
              <a:buSzPct val="80000"/>
            </a:pPr>
            <a:endParaRPr lang="en-US" altLang="en-US" sz="320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 eaLnBrk="1" hangingPunct="1">
              <a:buFont typeface="Wingdings" panose="05000000000000000000" pitchFamily="2" charset="2"/>
              <a:buChar char=""/>
            </a:pPr>
            <a:r>
              <a:rPr lang="en-US" altLang="en-US" sz="2800" b="1" i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Hierarchy</a:t>
            </a:r>
            <a:r>
              <a:rPr lang="en-US" altLang="en-US" sz="28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has a constraint that every subclass has only one</a:t>
            </a:r>
          </a:p>
          <a:p>
            <a:pPr algn="just" eaLnBrk="1" hangingPunct="1"/>
            <a:r>
              <a:rPr lang="en-US" altLang="en-US" sz="28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superclass (called </a:t>
            </a:r>
            <a:r>
              <a:rPr lang="en-US" altLang="en-US" sz="2800" b="1" i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single inheritance</a:t>
            </a:r>
            <a:r>
              <a:rPr lang="en-US" altLang="en-US" sz="28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); this is basically a </a:t>
            </a:r>
            <a:r>
              <a:rPr lang="en-US" altLang="en-US" sz="2800" b="1" i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tree</a:t>
            </a:r>
          </a:p>
          <a:p>
            <a:pPr algn="just" eaLnBrk="1" hangingPunct="1"/>
            <a:r>
              <a:rPr lang="en-US" altLang="en-US" sz="2800" b="1" i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structure</a:t>
            </a:r>
          </a:p>
          <a:p>
            <a:pPr algn="just" eaLnBrk="1" hangingPunct="1">
              <a:buFont typeface="Wingdings" panose="05000000000000000000" pitchFamily="2" charset="2"/>
              <a:buChar char=""/>
            </a:pPr>
            <a:endParaRPr lang="en-US" altLang="en-US" sz="180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 eaLnBrk="1" hangingPunct="1">
              <a:buFont typeface="Wingdings" panose="05000000000000000000" pitchFamily="2" charset="2"/>
              <a:buChar char=""/>
            </a:pPr>
            <a:r>
              <a:rPr lang="en-US" altLang="en-US" sz="28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 a </a:t>
            </a:r>
            <a:r>
              <a:rPr lang="en-US" altLang="en-US" sz="2800" b="1" i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lattice</a:t>
            </a:r>
            <a:r>
              <a:rPr lang="en-US" altLang="en-US" sz="28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a subclass can be subclass of more than one</a:t>
            </a:r>
          </a:p>
          <a:p>
            <a:pPr algn="just" eaLnBrk="1" hangingPunct="1"/>
            <a:r>
              <a:rPr lang="en-US" altLang="en-US" sz="28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superclass (called </a:t>
            </a:r>
            <a:r>
              <a:rPr lang="en-US" altLang="en-US" sz="2800" b="1" i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multiple inheritance</a:t>
            </a:r>
            <a:r>
              <a:rPr lang="en-US" altLang="en-US" sz="28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US" altLang="en-US" sz="180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 eaLnBrk="1" hangingPunct="1"/>
            <a:endParaRPr lang="en-US" altLang="en-US" sz="180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>
            <a:extLst>
              <a:ext uri="{FF2B5EF4-FFF2-40B4-BE49-F238E27FC236}">
                <a16:creationId xmlns:a16="http://schemas.microsoft.com/office/drawing/2014/main" id="{980FC45B-BF29-53F7-14A7-C657713E5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238" y="301625"/>
            <a:ext cx="9072562" cy="1262063"/>
          </a:xfrm>
        </p:spPr>
        <p:txBody>
          <a:bodyPr/>
          <a:lstStyle/>
          <a:p>
            <a:pPr eaLnBrk="1" hangingPunct="1"/>
            <a:r>
              <a:rPr lang="en-US" altLang="en-US" sz="3600">
                <a:solidFill>
                  <a:srgbClr val="800000"/>
                </a:solidFill>
              </a:rPr>
              <a:t>Shared Subclass “Engineering_Manager”</a:t>
            </a:r>
            <a:br>
              <a:rPr lang="en-US" altLang="en-US" sz="1800">
                <a:solidFill>
                  <a:srgbClr val="000000"/>
                </a:solidFill>
              </a:rPr>
            </a:br>
            <a:endParaRPr lang="en-US" altLang="en-US" sz="1800">
              <a:solidFill>
                <a:srgbClr val="000000"/>
              </a:solidFill>
            </a:endParaRPr>
          </a:p>
        </p:txBody>
      </p:sp>
      <p:pic>
        <p:nvPicPr>
          <p:cNvPr id="48131" name="Picture 3" descr="fig04_06">
            <a:extLst>
              <a:ext uri="{FF2B5EF4-FFF2-40B4-BE49-F238E27FC236}">
                <a16:creationId xmlns:a16="http://schemas.microsoft.com/office/drawing/2014/main" id="{785E9909-16B4-ADCC-413C-5E6F49AEDD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192338"/>
            <a:ext cx="9459913" cy="501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>
            <a:extLst>
              <a:ext uri="{FF2B5EF4-FFF2-40B4-BE49-F238E27FC236}">
                <a16:creationId xmlns:a16="http://schemas.microsoft.com/office/drawing/2014/main" id="{4B85ACE9-EAAB-648E-5A70-FE0178D53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238" y="301625"/>
            <a:ext cx="9072562" cy="1262063"/>
          </a:xfrm>
        </p:spPr>
        <p:txBody>
          <a:bodyPr/>
          <a:lstStyle/>
          <a:p>
            <a:pPr eaLnBrk="1" hangingPunct="1"/>
            <a:r>
              <a:rPr lang="en-US" altLang="en-US" sz="3600" b="1">
                <a:solidFill>
                  <a:srgbClr val="000000"/>
                </a:solidFill>
              </a:rPr>
              <a:t>Specialization/Generalization Hierarchies, Lattices &amp; Shared Subclasses (2)</a:t>
            </a:r>
            <a:br>
              <a:rPr lang="en-US" altLang="en-US" sz="3600" b="1">
                <a:solidFill>
                  <a:srgbClr val="000000"/>
                </a:solidFill>
              </a:rPr>
            </a:br>
            <a:endParaRPr lang="en-US" altLang="en-US" sz="3600" b="1">
              <a:solidFill>
                <a:srgbClr val="000000"/>
              </a:solidFill>
            </a:endParaRPr>
          </a:p>
        </p:txBody>
      </p:sp>
      <p:sp>
        <p:nvSpPr>
          <p:cNvPr id="49155" name="Subtitle 2">
            <a:extLst>
              <a:ext uri="{FF2B5EF4-FFF2-40B4-BE49-F238E27FC236}">
                <a16:creationId xmlns:a16="http://schemas.microsoft.com/office/drawing/2014/main" id="{7696F394-87E5-A0B0-3FA9-0D7D5015C008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503238" y="301625"/>
            <a:ext cx="9072562" cy="1262063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2800">
              <a:solidFill>
                <a:srgbClr val="00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2800">
              <a:solidFill>
                <a:srgbClr val="00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2800">
              <a:solidFill>
                <a:srgbClr val="00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2800">
              <a:solidFill>
                <a:srgbClr val="00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2800">
              <a:solidFill>
                <a:srgbClr val="00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2800">
              <a:solidFill>
                <a:srgbClr val="00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2800">
              <a:solidFill>
                <a:srgbClr val="00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2800">
              <a:solidFill>
                <a:srgbClr val="00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2800">
              <a:solidFill>
                <a:srgbClr val="00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2800">
              <a:solidFill>
                <a:srgbClr val="00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2800">
              <a:solidFill>
                <a:srgbClr val="00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2800">
              <a:solidFill>
                <a:srgbClr val="00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2800">
              <a:solidFill>
                <a:srgbClr val="00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2800">
              <a:solidFill>
                <a:srgbClr val="00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2800">
              <a:solidFill>
                <a:srgbClr val="000000"/>
              </a:solidFill>
            </a:endParaRPr>
          </a:p>
          <a:p>
            <a:pPr algn="just" eaLnBrk="1" hangingPunct="1">
              <a:buFont typeface="Wingdings" panose="05000000000000000000" pitchFamily="2" charset="2"/>
              <a:buChar char=""/>
            </a:pPr>
            <a:r>
              <a:rPr lang="en-US" altLang="en-US" sz="2800">
                <a:solidFill>
                  <a:srgbClr val="000000"/>
                </a:solidFill>
              </a:rPr>
              <a:t>In a lattice or hierarchy, a subclass inherits attributes not</a:t>
            </a:r>
          </a:p>
          <a:p>
            <a:pPr algn="just" eaLnBrk="1" hangingPunct="1"/>
            <a:r>
              <a:rPr lang="en-US" altLang="en-US" sz="2800">
                <a:solidFill>
                  <a:srgbClr val="000000"/>
                </a:solidFill>
              </a:rPr>
              <a:t>  only of its direct superclass, but also of all its</a:t>
            </a:r>
          </a:p>
          <a:p>
            <a:pPr algn="just" eaLnBrk="1" hangingPunct="1"/>
            <a:r>
              <a:rPr lang="en-US" altLang="en-US" sz="2800">
                <a:solidFill>
                  <a:srgbClr val="000000"/>
                </a:solidFill>
              </a:rPr>
              <a:t>  predecessor superclasses</a:t>
            </a:r>
          </a:p>
          <a:p>
            <a:pPr algn="just" eaLnBrk="1" hangingPunct="1"/>
            <a:endParaRPr lang="en-US" altLang="en-US" sz="2800">
              <a:solidFill>
                <a:srgbClr val="000000"/>
              </a:solidFill>
            </a:endParaRPr>
          </a:p>
          <a:p>
            <a:pPr algn="just" eaLnBrk="1" hangingPunct="1">
              <a:buFont typeface="Wingdings" panose="05000000000000000000" pitchFamily="2" charset="2"/>
              <a:buChar char=""/>
            </a:pPr>
            <a:r>
              <a:rPr lang="en-US" altLang="en-US" sz="2400">
                <a:solidFill>
                  <a:srgbClr val="000000"/>
                </a:solidFill>
              </a:rPr>
              <a:t>A subclass with more than one superclass is called a </a:t>
            </a:r>
            <a:r>
              <a:rPr lang="en-US" altLang="en-US" sz="2400" b="1" i="1">
                <a:solidFill>
                  <a:srgbClr val="FF0000"/>
                </a:solidFill>
              </a:rPr>
              <a:t>shared</a:t>
            </a:r>
          </a:p>
          <a:p>
            <a:pPr algn="just" eaLnBrk="1" hangingPunct="1"/>
            <a:r>
              <a:rPr lang="en-US" altLang="en-US" sz="2400" b="1" i="1">
                <a:solidFill>
                  <a:srgbClr val="FF0000"/>
                </a:solidFill>
              </a:rPr>
              <a:t> subclass (multiple inheritance)</a:t>
            </a:r>
          </a:p>
          <a:p>
            <a:pPr algn="just" eaLnBrk="1" hangingPunct="1"/>
            <a:endParaRPr lang="en-US" altLang="en-US" sz="2400" b="1" i="1">
              <a:solidFill>
                <a:srgbClr val="FF0000"/>
              </a:solidFill>
            </a:endParaRPr>
          </a:p>
          <a:p>
            <a:pPr algn="just" eaLnBrk="1" hangingPunct="1">
              <a:buFont typeface="Wingdings" panose="05000000000000000000" pitchFamily="2" charset="2"/>
              <a:buChar char=""/>
            </a:pPr>
            <a:r>
              <a:rPr lang="en-US" altLang="en-US" sz="2800">
                <a:solidFill>
                  <a:srgbClr val="000000"/>
                </a:solidFill>
              </a:rPr>
              <a:t>Can have:</a:t>
            </a:r>
          </a:p>
          <a:p>
            <a:pPr lvl="3" algn="just" eaLnBrk="1" hangingPunct="1">
              <a:buSzPct val="80000"/>
            </a:pPr>
            <a:r>
              <a:rPr lang="en-US" altLang="en-US" sz="2800" i="1">
                <a:solidFill>
                  <a:srgbClr val="000000"/>
                </a:solidFill>
              </a:rPr>
              <a:t>    specialization</a:t>
            </a:r>
            <a:r>
              <a:rPr lang="en-US" altLang="en-US" sz="2800">
                <a:solidFill>
                  <a:srgbClr val="000000"/>
                </a:solidFill>
              </a:rPr>
              <a:t> hierarchies or lattices, or </a:t>
            </a:r>
          </a:p>
          <a:p>
            <a:pPr lvl="1" algn="just" eaLnBrk="1" hangingPunct="1">
              <a:buSzPct val="80000"/>
            </a:pPr>
            <a:r>
              <a:rPr lang="en-US" altLang="en-US" sz="2800" i="1">
                <a:solidFill>
                  <a:srgbClr val="000000"/>
                </a:solidFill>
              </a:rPr>
              <a:t>    generalization</a:t>
            </a:r>
            <a:r>
              <a:rPr lang="en-US" altLang="en-US" sz="2800">
                <a:solidFill>
                  <a:srgbClr val="000000"/>
                </a:solidFill>
              </a:rPr>
              <a:t> hierarchies or lattices,depending on</a:t>
            </a:r>
          </a:p>
          <a:p>
            <a:pPr lvl="1" algn="just" eaLnBrk="1" hangingPunct="1">
              <a:buSzPct val="80000"/>
            </a:pPr>
            <a:r>
              <a:rPr lang="en-US" altLang="en-US" sz="2800">
                <a:solidFill>
                  <a:srgbClr val="000000"/>
                </a:solidFill>
              </a:rPr>
              <a:t>    how they were </a:t>
            </a:r>
            <a:r>
              <a:rPr lang="en-US" altLang="en-US" sz="2800" i="1">
                <a:solidFill>
                  <a:srgbClr val="000000"/>
                </a:solidFill>
              </a:rPr>
              <a:t>derived</a:t>
            </a:r>
          </a:p>
          <a:p>
            <a:pPr lvl="1" algn="just" eaLnBrk="1" hangingPunct="1">
              <a:buSzPct val="80000"/>
            </a:pPr>
            <a:endParaRPr lang="en-US" altLang="en-US" sz="2800">
              <a:solidFill>
                <a:srgbClr val="000000"/>
              </a:solidFill>
            </a:endParaRPr>
          </a:p>
          <a:p>
            <a:pPr algn="just" eaLnBrk="1" hangingPunct="1">
              <a:buFont typeface="Wingdings" panose="05000000000000000000" pitchFamily="2" charset="2"/>
              <a:buChar char=""/>
            </a:pPr>
            <a:r>
              <a:rPr lang="en-US" altLang="en-US" sz="2800">
                <a:solidFill>
                  <a:srgbClr val="000000"/>
                </a:solidFill>
              </a:rPr>
              <a:t>We just use </a:t>
            </a:r>
            <a:r>
              <a:rPr lang="en-US" altLang="en-US" sz="2800" i="1">
                <a:solidFill>
                  <a:srgbClr val="000000"/>
                </a:solidFill>
              </a:rPr>
              <a:t>specialization</a:t>
            </a:r>
            <a:endParaRPr lang="en-US" altLang="en-US" sz="28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>
            <a:extLst>
              <a:ext uri="{FF2B5EF4-FFF2-40B4-BE49-F238E27FC236}">
                <a16:creationId xmlns:a16="http://schemas.microsoft.com/office/drawing/2014/main" id="{B2906F7C-3989-01DD-AFCD-3E172672C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238" y="301625"/>
            <a:ext cx="9072562" cy="1262063"/>
          </a:xfrm>
        </p:spPr>
        <p:txBody>
          <a:bodyPr/>
          <a:lstStyle/>
          <a:p>
            <a:pPr eaLnBrk="1" hangingPunct="1"/>
            <a:r>
              <a:rPr lang="en-US" altLang="en-US" sz="3600" b="1">
                <a:solidFill>
                  <a:srgbClr val="000000"/>
                </a:solidFill>
              </a:rPr>
              <a:t>Specialization/Generalization Hierarchies, Lattices &amp; Shared Subclasses (3)</a:t>
            </a:r>
            <a:br>
              <a:rPr lang="en-US" altLang="en-US" sz="3600" b="1">
                <a:solidFill>
                  <a:srgbClr val="000000"/>
                </a:solidFill>
              </a:rPr>
            </a:br>
            <a:endParaRPr lang="en-US" altLang="en-US" sz="3600" b="1">
              <a:solidFill>
                <a:srgbClr val="000000"/>
              </a:solidFill>
            </a:endParaRPr>
          </a:p>
        </p:txBody>
      </p:sp>
      <p:sp>
        <p:nvSpPr>
          <p:cNvPr id="50179" name="Subtitle 2">
            <a:extLst>
              <a:ext uri="{FF2B5EF4-FFF2-40B4-BE49-F238E27FC236}">
                <a16:creationId xmlns:a16="http://schemas.microsoft.com/office/drawing/2014/main" id="{A9D4E2BD-B2D2-FFEB-1A71-838628BAB991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503238" y="301625"/>
            <a:ext cx="9072562" cy="1262063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3200">
              <a:solidFill>
                <a:srgbClr val="00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3200">
              <a:solidFill>
                <a:srgbClr val="00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3200">
              <a:solidFill>
                <a:srgbClr val="00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3200">
              <a:solidFill>
                <a:srgbClr val="00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3200">
              <a:solidFill>
                <a:srgbClr val="00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3200">
              <a:solidFill>
                <a:srgbClr val="00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3200">
              <a:solidFill>
                <a:srgbClr val="00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3200">
              <a:solidFill>
                <a:srgbClr val="00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3200">
              <a:solidFill>
                <a:srgbClr val="00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3200">
              <a:solidFill>
                <a:srgbClr val="00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3200">
              <a:solidFill>
                <a:srgbClr val="00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3200">
              <a:solidFill>
                <a:srgbClr val="00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3200">
              <a:solidFill>
                <a:srgbClr val="000000"/>
              </a:solidFill>
            </a:endParaRPr>
          </a:p>
          <a:p>
            <a:pPr eaLnBrk="1" hangingPunct="1">
              <a:buFont typeface="Wingdings" panose="05000000000000000000" pitchFamily="2" charset="2"/>
              <a:buChar char=""/>
            </a:pPr>
            <a:endParaRPr lang="en-US" altLang="en-US" sz="3200">
              <a:solidFill>
                <a:srgbClr val="000000"/>
              </a:solidFill>
            </a:endParaRPr>
          </a:p>
          <a:p>
            <a:pPr algn="just" eaLnBrk="1" hangingPunct="1">
              <a:buFont typeface="Wingdings" panose="05000000000000000000" pitchFamily="2" charset="2"/>
              <a:buChar char=""/>
            </a:pPr>
            <a:r>
              <a:rPr lang="en-US" altLang="en-US" sz="3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 </a:t>
            </a:r>
            <a:r>
              <a:rPr lang="en-US" altLang="en-US" sz="3200" i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specialization</a:t>
            </a:r>
            <a:r>
              <a:rPr lang="en-US" altLang="en-US" sz="3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start with an entity type and then</a:t>
            </a:r>
          </a:p>
          <a:p>
            <a:pPr algn="just" eaLnBrk="1" hangingPunct="1"/>
            <a:r>
              <a:rPr lang="en-US" altLang="en-US" sz="3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define subclasses of the entity type by successive</a:t>
            </a:r>
          </a:p>
          <a:p>
            <a:pPr algn="just" eaLnBrk="1" hangingPunct="1"/>
            <a:r>
              <a:rPr lang="en-US" altLang="en-US" sz="3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specialization called a </a:t>
            </a:r>
            <a:r>
              <a:rPr lang="en-US" altLang="en-US" sz="3200" i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top down</a:t>
            </a:r>
            <a:r>
              <a:rPr lang="en-US" altLang="en-US" sz="3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conceptual  </a:t>
            </a:r>
          </a:p>
          <a:p>
            <a:pPr algn="just" eaLnBrk="1" hangingPunct="1"/>
            <a:r>
              <a:rPr lang="en-US" altLang="en-US" sz="3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refinement process</a:t>
            </a:r>
          </a:p>
          <a:p>
            <a:pPr algn="just" eaLnBrk="1" hangingPunct="1">
              <a:buFont typeface="Wingdings" panose="05000000000000000000" pitchFamily="2" charset="2"/>
              <a:buChar char=""/>
            </a:pPr>
            <a:r>
              <a:rPr lang="en-US" altLang="en-US" sz="3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 </a:t>
            </a:r>
            <a:r>
              <a:rPr lang="en-US" altLang="en-US" sz="3200" i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generalization</a:t>
            </a:r>
            <a:r>
              <a:rPr lang="en-US" altLang="en-US" sz="3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start with many entity types and</a:t>
            </a:r>
          </a:p>
          <a:p>
            <a:pPr algn="just" eaLnBrk="1" hangingPunct="1"/>
            <a:r>
              <a:rPr lang="en-US" altLang="en-US" sz="3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generalize those that have common properties</a:t>
            </a:r>
          </a:p>
          <a:p>
            <a:pPr lvl="1" algn="just" eaLnBrk="1" hangingPunct="1">
              <a:buSzPct val="80000"/>
            </a:pPr>
            <a:r>
              <a:rPr lang="en-US" altLang="en-US" sz="3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Called a </a:t>
            </a:r>
            <a:r>
              <a:rPr lang="en-US" altLang="en-US" sz="3200" i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bottom up</a:t>
            </a:r>
            <a:r>
              <a:rPr lang="en-US" altLang="en-US" sz="3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conceptual synthesis process</a:t>
            </a:r>
          </a:p>
          <a:p>
            <a:pPr algn="just" eaLnBrk="1" hangingPunct="1">
              <a:buFont typeface="Wingdings" panose="05000000000000000000" pitchFamily="2" charset="2"/>
              <a:buChar char=""/>
            </a:pPr>
            <a:r>
              <a:rPr lang="en-US" altLang="en-US" sz="3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 practice, a </a:t>
            </a:r>
            <a:r>
              <a:rPr lang="en-US" altLang="en-US" sz="3200" i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combination of both processes</a:t>
            </a:r>
            <a:r>
              <a:rPr lang="en-US" altLang="en-US" sz="3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is usually</a:t>
            </a:r>
          </a:p>
          <a:p>
            <a:pPr algn="just" eaLnBrk="1" hangingPunct="1"/>
            <a:r>
              <a:rPr lang="en-US" altLang="en-US" sz="3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employed </a:t>
            </a:r>
          </a:p>
          <a:p>
            <a:pPr algn="just" eaLnBrk="1" hangingPunct="1"/>
            <a:endParaRPr lang="en-US" altLang="en-US" sz="32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>
            <a:extLst>
              <a:ext uri="{FF2B5EF4-FFF2-40B4-BE49-F238E27FC236}">
                <a16:creationId xmlns:a16="http://schemas.microsoft.com/office/drawing/2014/main" id="{EFE38673-A8AC-460A-8451-BA325C5D9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238" y="301625"/>
            <a:ext cx="9072562" cy="1262063"/>
          </a:xfrm>
        </p:spPr>
        <p:txBody>
          <a:bodyPr/>
          <a:lstStyle/>
          <a:p>
            <a:pPr eaLnBrk="1" hangingPunct="1"/>
            <a:r>
              <a:rPr lang="en-US" altLang="en-US" sz="3600" b="1">
                <a:solidFill>
                  <a:srgbClr val="000000"/>
                </a:solidFill>
              </a:rPr>
              <a:t>Specialization / Generalization Lattice Example (UNIVERSITY)</a:t>
            </a:r>
            <a:br>
              <a:rPr lang="en-US" altLang="en-US" sz="3600" b="1">
                <a:solidFill>
                  <a:srgbClr val="000000"/>
                </a:solidFill>
              </a:rPr>
            </a:br>
            <a:endParaRPr lang="en-US" altLang="en-US" sz="3600" b="1">
              <a:solidFill>
                <a:srgbClr val="000000"/>
              </a:solidFill>
            </a:endParaRPr>
          </a:p>
        </p:txBody>
      </p:sp>
      <p:pic>
        <p:nvPicPr>
          <p:cNvPr id="51203" name="Picture 5" descr="fig04_07">
            <a:extLst>
              <a:ext uri="{FF2B5EF4-FFF2-40B4-BE49-F238E27FC236}">
                <a16:creationId xmlns:a16="http://schemas.microsoft.com/office/drawing/2014/main" id="{FD529AF3-B43F-2CA2-D23E-9E599D3A49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113" y="1600200"/>
            <a:ext cx="9220200" cy="5837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8A60D0A-FB64-9901-0EBC-8CC7D6B10FEA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503238" y="1265238"/>
            <a:ext cx="9072562" cy="6096000"/>
          </a:xfrm>
          <a:noFill/>
        </p:spPr>
        <p:txBody>
          <a:bodyPr/>
          <a:lstStyle/>
          <a:p>
            <a:pPr marL="457200" indent="-457200" algn="l">
              <a:buFont typeface="Wingdings" panose="05000000000000000000" pitchFamily="2" charset="2"/>
              <a:buChar char="§"/>
              <a:defRPr/>
            </a:pPr>
            <a:r>
              <a:rPr lang="en-US" altLang="en-US" sz="3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All of the </a:t>
            </a:r>
            <a:r>
              <a:rPr lang="en-US" altLang="en-US" sz="3200" i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superclass/subclass relationships</a:t>
            </a:r>
            <a:r>
              <a:rPr lang="en-US" altLang="en-US" sz="3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seen thus far have a single superclass </a:t>
            </a:r>
          </a:p>
          <a:p>
            <a:pPr marL="457200" indent="-457200" algn="l">
              <a:buFont typeface="Wingdings" panose="05000000000000000000" pitchFamily="2" charset="2"/>
              <a:buChar char="§"/>
              <a:defRPr/>
            </a:pPr>
            <a:r>
              <a:rPr lang="en-US" altLang="en-US" sz="3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shared subclass is a subclass in </a:t>
            </a:r>
            <a:r>
              <a:rPr lang="en-US" altLang="en-US" sz="3200" i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more than one</a:t>
            </a:r>
            <a:r>
              <a:rPr lang="en-US" altLang="en-US" sz="3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distinct superclass/subclass relationships each relationships has a single superclass </a:t>
            </a:r>
          </a:p>
          <a:p>
            <a:pPr marL="457200" indent="-457200" algn="l">
              <a:buFont typeface="Wingdings" panose="05000000000000000000" pitchFamily="2" charset="2"/>
              <a:buChar char="§"/>
              <a:defRPr/>
            </a:pPr>
            <a:r>
              <a:rPr lang="en-US" altLang="en-US" sz="3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shared subclass leads to multiple inheritance</a:t>
            </a:r>
          </a:p>
          <a:p>
            <a:pPr marL="457200" indent="-457200" algn="l">
              <a:buFont typeface="Wingdings" panose="05000000000000000000" pitchFamily="2" charset="2"/>
              <a:buChar char="§"/>
              <a:defRPr/>
            </a:pPr>
            <a:r>
              <a:rPr lang="en-US" altLang="en-US" sz="3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 some cases, we need to model a </a:t>
            </a:r>
            <a:r>
              <a:rPr lang="en-US" altLang="en-US" sz="3200" i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single superclass/subclass relationship</a:t>
            </a:r>
            <a:r>
              <a:rPr lang="en-US" altLang="en-US" sz="3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with </a:t>
            </a:r>
            <a:r>
              <a:rPr lang="en-US" altLang="en-US" sz="3200" i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more than one</a:t>
            </a:r>
            <a:r>
              <a:rPr lang="en-US" altLang="en-US" sz="3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superclass </a:t>
            </a:r>
          </a:p>
          <a:p>
            <a:pPr marL="457200" indent="-457200" algn="l">
              <a:buFont typeface="Wingdings" panose="05000000000000000000" pitchFamily="2" charset="2"/>
              <a:buChar char="§"/>
              <a:defRPr/>
            </a:pPr>
            <a:r>
              <a:rPr lang="en-US" altLang="en-US" sz="3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Superclasses can represent different entity types </a:t>
            </a:r>
          </a:p>
          <a:p>
            <a:pPr>
              <a:defRPr/>
            </a:pPr>
            <a:r>
              <a:rPr lang="en-US" altLang="en-US" sz="3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Such a subclass is called a category or UNION TYPE </a:t>
            </a:r>
          </a:p>
          <a:p>
            <a:pPr>
              <a:defRPr/>
            </a:pPr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52227" name="TextBox 1">
            <a:extLst>
              <a:ext uri="{FF2B5EF4-FFF2-40B4-BE49-F238E27FC236}">
                <a16:creationId xmlns:a16="http://schemas.microsoft.com/office/drawing/2014/main" id="{74699D36-2DB8-46C8-3D32-7F8ED776FB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6913" y="503238"/>
            <a:ext cx="8458200" cy="769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4400" b="1">
                <a:latin typeface="Calibri" panose="020F0502020204030204" pitchFamily="34" charset="0"/>
                <a:cs typeface="Calibri" panose="020F0502020204030204" pitchFamily="34" charset="0"/>
              </a:rPr>
              <a:t>Categories (UNION TYPES)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Shape 1">
            <a:extLst>
              <a:ext uri="{FF2B5EF4-FFF2-40B4-BE49-F238E27FC236}">
                <a16:creationId xmlns:a16="http://schemas.microsoft.com/office/drawing/2014/main" id="{063A3D07-7202-77C0-291D-679536694F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238" y="301625"/>
            <a:ext cx="9072562" cy="1262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SzPct val="45000"/>
              <a:buFontTx/>
              <a:buNone/>
            </a:pPr>
            <a:r>
              <a:rPr lang="en-US" altLang="en-US" sz="4000">
                <a:cs typeface="Calibri" panose="020F0502020204030204" pitchFamily="34" charset="0"/>
              </a:rPr>
              <a:t>Categories /Union Type</a:t>
            </a:r>
            <a:endParaRPr lang="en-US" altLang="en-US" sz="4000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TextShape 2">
            <a:extLst>
              <a:ext uri="{FF2B5EF4-FFF2-40B4-BE49-F238E27FC236}">
                <a16:creationId xmlns:a16="http://schemas.microsoft.com/office/drawing/2014/main" id="{A2EE82AA-039D-E114-A93A-411911C8B8B8}"/>
              </a:ext>
            </a:extLst>
          </p:cNvPr>
          <p:cNvSpPr txBox="1"/>
          <p:nvPr/>
        </p:nvSpPr>
        <p:spPr>
          <a:xfrm>
            <a:off x="503238" y="1768475"/>
            <a:ext cx="9261475" cy="4384675"/>
          </a:xfrm>
          <a:prstGeom prst="rect">
            <a:avLst/>
          </a:prstGeom>
        </p:spPr>
        <p:txBody>
          <a:bodyPr lIns="0" tIns="0" rIns="0" bIns="0" anchor="ctr"/>
          <a:lstStyle/>
          <a:p>
            <a:pPr marL="342900" indent="-342900" eaLnBrk="1" hangingPunct="1">
              <a:buFont typeface="Wingdings" panose="05000000000000000000" pitchFamily="2" charset="2"/>
              <a:buChar char="§"/>
              <a:defRPr/>
            </a:pPr>
            <a:r>
              <a:rPr lang="en-US" altLang="en-US" sz="2400" dirty="0"/>
              <a:t>Example: In a database for vehicle registration, a vehicle owner can be a PERSON, a BANK (holding a lien on a vehicle) or a COMPANY.</a:t>
            </a:r>
          </a:p>
          <a:p>
            <a:pPr marL="342900" indent="-342900" eaLnBrk="1" hangingPunct="1">
              <a:buFont typeface="Wingdings" panose="05000000000000000000" pitchFamily="2" charset="2"/>
              <a:buChar char="§"/>
              <a:defRPr/>
            </a:pPr>
            <a:endParaRPr lang="en-US" altLang="en-US" sz="2400" dirty="0"/>
          </a:p>
          <a:p>
            <a:pPr marL="800100" lvl="1" indent="-342900" eaLnBrk="1" hangingPunct="1">
              <a:buFont typeface="Wingdings" panose="05000000000000000000" pitchFamily="2" charset="2"/>
              <a:buChar char="§"/>
              <a:defRPr/>
            </a:pPr>
            <a:r>
              <a:rPr lang="en-US" altLang="en-US" sz="2200" dirty="0"/>
              <a:t>A </a:t>
            </a:r>
            <a:r>
              <a:rPr lang="en-US" altLang="en-US" sz="2200" i="1" dirty="0"/>
              <a:t>category</a:t>
            </a:r>
            <a:r>
              <a:rPr lang="en-US" altLang="en-US" sz="2200" dirty="0"/>
              <a:t> (UNION type) called OWNER is created to represent a subset of the </a:t>
            </a:r>
            <a:r>
              <a:rPr lang="en-US" altLang="en-US" sz="2200" i="1" dirty="0"/>
              <a:t>union</a:t>
            </a:r>
            <a:r>
              <a:rPr lang="en-US" altLang="en-US" sz="2200" dirty="0"/>
              <a:t> of the three </a:t>
            </a:r>
            <a:r>
              <a:rPr lang="en-US" altLang="en-US" sz="2200" dirty="0" err="1"/>
              <a:t>superclasses</a:t>
            </a:r>
            <a:r>
              <a:rPr lang="en-US" altLang="en-US" sz="2200" dirty="0"/>
              <a:t> COMPANY, BANK, and PERSON </a:t>
            </a:r>
          </a:p>
          <a:p>
            <a:pPr marL="800100" lvl="1" indent="-342900" eaLnBrk="1" hangingPunct="1">
              <a:buFont typeface="Wingdings" panose="05000000000000000000" pitchFamily="2" charset="2"/>
              <a:buChar char="§"/>
              <a:defRPr/>
            </a:pPr>
            <a:r>
              <a:rPr lang="en-US" altLang="en-US" sz="2200" dirty="0"/>
              <a:t>A category member must exist in </a:t>
            </a:r>
            <a:r>
              <a:rPr lang="en-US" altLang="en-US" sz="2200" b="1" i="1" dirty="0"/>
              <a:t>at least one</a:t>
            </a:r>
            <a:r>
              <a:rPr lang="en-US" altLang="en-US" sz="2200" dirty="0"/>
              <a:t> of its </a:t>
            </a:r>
            <a:r>
              <a:rPr lang="en-US" altLang="en-US" sz="2200" dirty="0" err="1"/>
              <a:t>superclasses</a:t>
            </a:r>
            <a:endParaRPr lang="en-US" altLang="en-US" sz="2200" dirty="0"/>
          </a:p>
          <a:p>
            <a:pPr marL="342900" indent="-342900" eaLnBrk="1" hangingPunct="1">
              <a:buFont typeface="Wingdings" panose="05000000000000000000" pitchFamily="2" charset="2"/>
              <a:buChar char="§"/>
              <a:defRPr/>
            </a:pPr>
            <a:r>
              <a:rPr lang="en-US" altLang="en-US" sz="2400" dirty="0"/>
              <a:t>Difference from </a:t>
            </a:r>
            <a:r>
              <a:rPr lang="en-US" altLang="en-US" sz="2400" i="1" dirty="0"/>
              <a:t>shared subclass</a:t>
            </a:r>
            <a:r>
              <a:rPr lang="en-US" altLang="en-US" sz="2400" dirty="0"/>
              <a:t>, which is a:</a:t>
            </a:r>
            <a:endParaRPr lang="en-US" altLang="en-US" sz="2400" i="1" dirty="0"/>
          </a:p>
          <a:p>
            <a:pPr lvl="1" eaLnBrk="1" hangingPunct="1">
              <a:defRPr/>
            </a:pPr>
            <a:r>
              <a:rPr lang="en-US" altLang="en-US" sz="2200" dirty="0"/>
              <a:t>subset of the </a:t>
            </a:r>
            <a:r>
              <a:rPr lang="en-US" altLang="en-US" sz="2200" i="1" dirty="0"/>
              <a:t>intersection</a:t>
            </a:r>
            <a:r>
              <a:rPr lang="en-US" altLang="en-US" sz="2200" dirty="0"/>
              <a:t> of its </a:t>
            </a:r>
            <a:r>
              <a:rPr lang="en-US" altLang="en-US" sz="2200" dirty="0" err="1"/>
              <a:t>superclasses</a:t>
            </a:r>
            <a:endParaRPr lang="en-US" altLang="en-US" sz="2200" dirty="0"/>
          </a:p>
          <a:p>
            <a:pPr lvl="1" eaLnBrk="1" hangingPunct="1">
              <a:defRPr/>
            </a:pPr>
            <a:r>
              <a:rPr lang="en-US" altLang="en-US" sz="2200" dirty="0"/>
              <a:t>shared subclass member must exist in </a:t>
            </a:r>
            <a:r>
              <a:rPr lang="en-US" altLang="en-US" sz="2200" b="1" i="1" dirty="0"/>
              <a:t>all</a:t>
            </a:r>
            <a:r>
              <a:rPr lang="en-US" altLang="en-US" sz="2200" dirty="0"/>
              <a:t> of its </a:t>
            </a:r>
            <a:r>
              <a:rPr lang="en-US" altLang="en-US" sz="2200" dirty="0" err="1"/>
              <a:t>superclasses</a:t>
            </a:r>
            <a:endParaRPr lang="en-US" alt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74" name="Picture 7" descr="fig04_08">
            <a:extLst>
              <a:ext uri="{FF2B5EF4-FFF2-40B4-BE49-F238E27FC236}">
                <a16:creationId xmlns:a16="http://schemas.microsoft.com/office/drawing/2014/main" id="{7CC44FA8-8470-2066-C078-A0B03CF546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1713" y="427038"/>
            <a:ext cx="8382000" cy="670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21860917339A24CBF48CA72FD87A938" ma:contentTypeVersion="4" ma:contentTypeDescription="Create a new document." ma:contentTypeScope="" ma:versionID="980b02646fa074ec6df36e14e32d67b1">
  <xsd:schema xmlns:xsd="http://www.w3.org/2001/XMLSchema" xmlns:xs="http://www.w3.org/2001/XMLSchema" xmlns:p="http://schemas.microsoft.com/office/2006/metadata/properties" xmlns:ns2="add626ea-3744-4bc4-9968-be3225425790" xmlns:ns3="be0a9719-4ac4-4ca6-8b98-e7dd01bc4f66" targetNamespace="http://schemas.microsoft.com/office/2006/metadata/properties" ma:root="true" ma:fieldsID="8108df76a192e00ecce4cadae88a104d" ns2:_="" ns3:_="">
    <xsd:import namespace="add626ea-3744-4bc4-9968-be3225425790"/>
    <xsd:import namespace="be0a9719-4ac4-4ca6-8b98-e7dd01bc4f6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dd626ea-3744-4bc4-9968-be322542579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0a9719-4ac4-4ca6-8b98-e7dd01bc4f66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864CAB0-6ECC-43EC-A7CF-761C9247921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E4B350E-AB61-432C-B215-92C2DE713F2D}"/>
</file>

<file path=customXml/itemProps3.xml><?xml version="1.0" encoding="utf-8"?>
<ds:datastoreItem xmlns:ds="http://schemas.openxmlformats.org/officeDocument/2006/customXml" ds:itemID="{F1BEA7A1-0226-452D-88C8-7DEFF628BC29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1741</Words>
  <Application>Microsoft Office PowerPoint</Application>
  <PresentationFormat>Custom</PresentationFormat>
  <Paragraphs>505</Paragraphs>
  <Slides>40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Representing Specialization in EER Diagrams </vt:lpstr>
      <vt:lpstr>Attribute Inheritance in Superclass / Subclass Relationships  </vt:lpstr>
      <vt:lpstr>Specialization (1) </vt:lpstr>
      <vt:lpstr>Specialization (2) </vt:lpstr>
      <vt:lpstr>Specialization and Generalization </vt:lpstr>
      <vt:lpstr>PowerPoint Presentation</vt:lpstr>
      <vt:lpstr>Specialization and Generalization (cont’d.) </vt:lpstr>
      <vt:lpstr>Generalization </vt:lpstr>
      <vt:lpstr>Generalization</vt:lpstr>
      <vt:lpstr>Generalization</vt:lpstr>
      <vt:lpstr>Constraints on Specialization and Generalization (1)</vt:lpstr>
      <vt:lpstr>Constraints on Specialization and Generalization (2) </vt:lpstr>
      <vt:lpstr>Constraints on Specialization and Generalization (2) </vt:lpstr>
      <vt:lpstr>Displaying an attribute-defined specialization in EER diagrams </vt:lpstr>
      <vt:lpstr>Constraints on Specialization and Generalization (3) </vt:lpstr>
      <vt:lpstr>Constraints on Specialization and Generalization (4) </vt:lpstr>
      <vt:lpstr>Constraints on Specialization and Generalization (5)</vt:lpstr>
      <vt:lpstr>Constraints on Specialization and Generalization (6) </vt:lpstr>
      <vt:lpstr>Example of disjoint partial Specialization </vt:lpstr>
      <vt:lpstr>Example of overlapping total Specialization </vt:lpstr>
      <vt:lpstr>Specialization/Generalization Hierarchies, Lattices &amp; Shared Subclasses (1) </vt:lpstr>
      <vt:lpstr>Shared Subclass “Engineering_Manager” </vt:lpstr>
      <vt:lpstr>Specialization/Generalization Hierarchies, Lattices &amp; Shared Subclasses (2) </vt:lpstr>
      <vt:lpstr>Specialization/Generalization Hierarchies, Lattices &amp; Shared Subclasses (3) </vt:lpstr>
      <vt:lpstr>Specialization / Generalization Lattice Example (UNIVERSITY) 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Reshma</dc:creator>
  <cp:lastModifiedBy>Lenovo</cp:lastModifiedBy>
  <cp:revision>38</cp:revision>
  <dcterms:modified xsi:type="dcterms:W3CDTF">2022-11-24T15:38:19Z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0x010100821860917339A24CBF48CA72FD87A938</vt:lpwstr>
  </property>
</Properties>
</file>