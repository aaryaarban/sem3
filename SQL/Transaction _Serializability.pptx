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302" r:id="rId5"/>
    <p:sldId id="319" r:id="rId6"/>
    <p:sldId id="306" r:id="rId7"/>
    <p:sldId id="321" r:id="rId8"/>
    <p:sldId id="307" r:id="rId9"/>
    <p:sldId id="308" r:id="rId10"/>
    <p:sldId id="309" r:id="rId11"/>
    <p:sldId id="310" r:id="rId12"/>
    <p:sldId id="311" r:id="rId13"/>
    <p:sldId id="312" r:id="rId14"/>
    <p:sldId id="313" r:id="rId15"/>
    <p:sldId id="314" r:id="rId16"/>
    <p:sldId id="322" r:id="rId17"/>
    <p:sldId id="315" r:id="rId18"/>
    <p:sldId id="316" r:id="rId19"/>
    <p:sldId id="317" r:id="rId20"/>
    <p:sldId id="318" r:id="rId21"/>
    <p:sldId id="256" r:id="rId22"/>
    <p:sldId id="257" r:id="rId23"/>
    <p:sldId id="258" r:id="rId24"/>
    <p:sldId id="260" r:id="rId25"/>
    <p:sldId id="259" r:id="rId26"/>
    <p:sldId id="261" r:id="rId27"/>
    <p:sldId id="262" r:id="rId28"/>
    <p:sldId id="263" r:id="rId29"/>
    <p:sldId id="264" r:id="rId30"/>
    <p:sldId id="265" r:id="rId31"/>
    <p:sldId id="266" r:id="rId32"/>
    <p:sldId id="267" r:id="rId33"/>
    <p:sldId id="268" r:id="rId34"/>
    <p:sldId id="269" r:id="rId35"/>
    <p:sldId id="270" r:id="rId36"/>
    <p:sldId id="271" r:id="rId37"/>
    <p:sldId id="272" r:id="rId38"/>
    <p:sldId id="273" r:id="rId39"/>
    <p:sldId id="274" r:id="rId40"/>
    <p:sldId id="275" r:id="rId41"/>
    <p:sldId id="276" r:id="rId42"/>
    <p:sldId id="277" r:id="rId43"/>
    <p:sldId id="278" r:id="rId44"/>
    <p:sldId id="279" r:id="rId45"/>
    <p:sldId id="280" r:id="rId46"/>
    <p:sldId id="281" r:id="rId47"/>
    <p:sldId id="282" r:id="rId48"/>
    <p:sldId id="283" r:id="rId49"/>
    <p:sldId id="284" r:id="rId50"/>
    <p:sldId id="285" r:id="rId51"/>
    <p:sldId id="287" r:id="rId52"/>
    <p:sldId id="324" r:id="rId53"/>
    <p:sldId id="323" r:id="rId54"/>
    <p:sldId id="288" r:id="rId55"/>
    <p:sldId id="289" r:id="rId56"/>
    <p:sldId id="290" r:id="rId57"/>
    <p:sldId id="291" r:id="rId58"/>
    <p:sldId id="325" r:id="rId59"/>
    <p:sldId id="292" r:id="rId60"/>
    <p:sldId id="293" r:id="rId61"/>
    <p:sldId id="326" r:id="rId62"/>
    <p:sldId id="294" r:id="rId63"/>
    <p:sldId id="295" r:id="rId64"/>
    <p:sldId id="296" r:id="rId65"/>
    <p:sldId id="297" r:id="rId66"/>
    <p:sldId id="298" r:id="rId67"/>
    <p:sldId id="299" r:id="rId68"/>
    <p:sldId id="327" r:id="rId69"/>
    <p:sldId id="300" r:id="rId70"/>
    <p:sldId id="301" r:id="rId7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1F6A41-B217-412F-A543-8529732A8203}" v="2" dt="2022-10-20T14:45:46.473"/>
    <p1510:client id="{CEABF008-D148-4DCC-972C-39B5E60025BF}" v="1" dt="2022-10-15T23:01:56.362"/>
    <p1510:client id="{D3ECDFC0-1F17-48DC-8797-AFFA3A36F4E2}" v="2" dt="2022-11-25T03:32:32.25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6" d="100"/>
          <a:sy n="76" d="100"/>
        </p:scale>
        <p:origin x="-1188" y="1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slide" Target="slides/slide62.xml"/><Relationship Id="rId74" Type="http://schemas.openxmlformats.org/officeDocument/2006/relationships/theme" Target="theme/theme1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77" Type="http://schemas.microsoft.com/office/2015/10/relationships/revisionInfo" Target="revisionInfo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presProps" Target="pres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microsoft.com/office/2016/11/relationships/changesInfo" Target="changesInfos/changesInfo1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RISH CHAURASIYA" userId="S::krish.chaurasiya215017@tsecedu.org::39fe52ce-0cb2-4bae-bc18-2eecbed8560e" providerId="AD" clId="Web-{CEABF008-D148-4DCC-972C-39B5E60025BF}"/>
    <pc:docChg chg="sldOrd">
      <pc:chgData name="KRISH CHAURASIYA" userId="S::krish.chaurasiya215017@tsecedu.org::39fe52ce-0cb2-4bae-bc18-2eecbed8560e" providerId="AD" clId="Web-{CEABF008-D148-4DCC-972C-39B5E60025BF}" dt="2022-10-15T23:01:56.362" v="0"/>
      <pc:docMkLst>
        <pc:docMk/>
      </pc:docMkLst>
      <pc:sldChg chg="ord">
        <pc:chgData name="KRISH CHAURASIYA" userId="S::krish.chaurasiya215017@tsecedu.org::39fe52ce-0cb2-4bae-bc18-2eecbed8560e" providerId="AD" clId="Web-{CEABF008-D148-4DCC-972C-39B5E60025BF}" dt="2022-10-15T23:01:56.362" v="0"/>
        <pc:sldMkLst>
          <pc:docMk/>
          <pc:sldMk cId="690593999" sldId="260"/>
        </pc:sldMkLst>
      </pc:sldChg>
    </pc:docChg>
  </pc:docChgLst>
  <pc:docChgLst>
    <pc:chgData name="DHUMAL AVADHOOT" userId="S::avadhoot.dhumal215014@tsecedu.org::f783a612-be11-430c-89be-a343fb7bfd19" providerId="AD" clId="Web-{D3ECDFC0-1F17-48DC-8797-AFFA3A36F4E2}"/>
    <pc:docChg chg="modSld">
      <pc:chgData name="DHUMAL AVADHOOT" userId="S::avadhoot.dhumal215014@tsecedu.org::f783a612-be11-430c-89be-a343fb7bfd19" providerId="AD" clId="Web-{D3ECDFC0-1F17-48DC-8797-AFFA3A36F4E2}" dt="2022-11-25T03:32:32.253" v="1" actId="1076"/>
      <pc:docMkLst>
        <pc:docMk/>
      </pc:docMkLst>
      <pc:sldChg chg="modSp">
        <pc:chgData name="DHUMAL AVADHOOT" userId="S::avadhoot.dhumal215014@tsecedu.org::f783a612-be11-430c-89be-a343fb7bfd19" providerId="AD" clId="Web-{D3ECDFC0-1F17-48DC-8797-AFFA3A36F4E2}" dt="2022-11-25T03:31:49.126" v="0" actId="1076"/>
        <pc:sldMkLst>
          <pc:docMk/>
          <pc:sldMk cId="166434170" sldId="312"/>
        </pc:sldMkLst>
        <pc:spChg chg="mod">
          <ac:chgData name="DHUMAL AVADHOOT" userId="S::avadhoot.dhumal215014@tsecedu.org::f783a612-be11-430c-89be-a343fb7bfd19" providerId="AD" clId="Web-{D3ECDFC0-1F17-48DC-8797-AFFA3A36F4E2}" dt="2022-11-25T03:31:49.126" v="0" actId="1076"/>
          <ac:spMkLst>
            <pc:docMk/>
            <pc:sldMk cId="166434170" sldId="312"/>
            <ac:spMk id="3" creationId="{00000000-0000-0000-0000-000000000000}"/>
          </ac:spMkLst>
        </pc:spChg>
      </pc:sldChg>
      <pc:sldChg chg="modSp">
        <pc:chgData name="DHUMAL AVADHOOT" userId="S::avadhoot.dhumal215014@tsecedu.org::f783a612-be11-430c-89be-a343fb7bfd19" providerId="AD" clId="Web-{D3ECDFC0-1F17-48DC-8797-AFFA3A36F4E2}" dt="2022-11-25T03:32:32.253" v="1" actId="1076"/>
        <pc:sldMkLst>
          <pc:docMk/>
          <pc:sldMk cId="1751003009" sldId="315"/>
        </pc:sldMkLst>
        <pc:spChg chg="mod">
          <ac:chgData name="DHUMAL AVADHOOT" userId="S::avadhoot.dhumal215014@tsecedu.org::f783a612-be11-430c-89be-a343fb7bfd19" providerId="AD" clId="Web-{D3ECDFC0-1F17-48DC-8797-AFFA3A36F4E2}" dt="2022-11-25T03:32:32.253" v="1" actId="1076"/>
          <ac:spMkLst>
            <pc:docMk/>
            <pc:sldMk cId="1751003009" sldId="315"/>
            <ac:spMk id="2" creationId="{00000000-0000-0000-0000-000000000000}"/>
          </ac:spMkLst>
        </pc:spChg>
      </pc:sldChg>
    </pc:docChg>
  </pc:docChgLst>
  <pc:docChgLst>
    <pc:chgData name="ADITYA APANDKAR" userId="S::aditya.apandkar215009@tsecedu.org::b1c2652e-676f-4de9-87b3-a2ed7f130e43" providerId="AD" clId="Web-{081F6A41-B217-412F-A543-8529732A8203}"/>
    <pc:docChg chg="addSld delSld">
      <pc:chgData name="ADITYA APANDKAR" userId="S::aditya.apandkar215009@tsecedu.org::b1c2652e-676f-4de9-87b3-a2ed7f130e43" providerId="AD" clId="Web-{081F6A41-B217-412F-A543-8529732A8203}" dt="2022-10-20T14:45:46.473" v="1"/>
      <pc:docMkLst>
        <pc:docMk/>
      </pc:docMkLst>
      <pc:sldChg chg="new del">
        <pc:chgData name="ADITYA APANDKAR" userId="S::aditya.apandkar215009@tsecedu.org::b1c2652e-676f-4de9-87b3-a2ed7f130e43" providerId="AD" clId="Web-{081F6A41-B217-412F-A543-8529732A8203}" dt="2022-10-20T14:45:46.473" v="1"/>
        <pc:sldMkLst>
          <pc:docMk/>
          <pc:sldMk cId="246193211" sldId="328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60C97-DF91-40EB-8D3A-D585F9536F4A}" type="datetimeFigureOut">
              <a:rPr lang="en-US" smtClean="0"/>
              <a:t>11/24/2022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2419D-252A-4AF0-B5C9-E2C34647F6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2337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60C97-DF91-40EB-8D3A-D585F9536F4A}" type="datetimeFigureOut">
              <a:rPr lang="en-US" smtClean="0"/>
              <a:t>11/24/2022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2419D-252A-4AF0-B5C9-E2C34647F6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785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60C97-DF91-40EB-8D3A-D585F9536F4A}" type="datetimeFigureOut">
              <a:rPr lang="en-US" smtClean="0"/>
              <a:t>11/24/2022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2419D-252A-4AF0-B5C9-E2C34647F6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065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60C97-DF91-40EB-8D3A-D585F9536F4A}" type="datetimeFigureOut">
              <a:rPr lang="en-US" smtClean="0"/>
              <a:t>11/24/2022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2419D-252A-4AF0-B5C9-E2C34647F6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7955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60C97-DF91-40EB-8D3A-D585F9536F4A}" type="datetimeFigureOut">
              <a:rPr lang="en-US" smtClean="0"/>
              <a:t>11/24/2022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2419D-252A-4AF0-B5C9-E2C34647F6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6055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60C97-DF91-40EB-8D3A-D585F9536F4A}" type="datetimeFigureOut">
              <a:rPr lang="en-US" smtClean="0"/>
              <a:t>11/24/2022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2419D-252A-4AF0-B5C9-E2C34647F6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6182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60C97-DF91-40EB-8D3A-D585F9536F4A}" type="datetimeFigureOut">
              <a:rPr lang="en-US" smtClean="0"/>
              <a:t>11/24/2022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2419D-252A-4AF0-B5C9-E2C34647F6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1925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60C97-DF91-40EB-8D3A-D585F9536F4A}" type="datetimeFigureOut">
              <a:rPr lang="en-US" smtClean="0"/>
              <a:t>11/24/2022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2419D-252A-4AF0-B5C9-E2C34647F6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7447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60C97-DF91-40EB-8D3A-D585F9536F4A}" type="datetimeFigureOut">
              <a:rPr lang="en-US" smtClean="0"/>
              <a:t>11/24/2022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2419D-252A-4AF0-B5C9-E2C34647F6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9004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60C97-DF91-40EB-8D3A-D585F9536F4A}" type="datetimeFigureOut">
              <a:rPr lang="en-US" smtClean="0"/>
              <a:t>11/24/2022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2419D-252A-4AF0-B5C9-E2C34647F6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8824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60C97-DF91-40EB-8D3A-D585F9536F4A}" type="datetimeFigureOut">
              <a:rPr lang="en-US" smtClean="0"/>
              <a:t>11/24/2022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2419D-252A-4AF0-B5C9-E2C34647F6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7286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860C97-DF91-40EB-8D3A-D585F9536F4A}" type="datetimeFigureOut">
              <a:rPr lang="en-US" smtClean="0"/>
              <a:t>11/24/2022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B2419D-252A-4AF0-B5C9-E2C34647F6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59236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fontAlgn="base"/>
            <a:br>
              <a:rPr lang="en-US" b="1" dirty="0"/>
            </a:br>
            <a:br>
              <a:rPr lang="en-US" b="1" dirty="0"/>
            </a:br>
            <a:r>
              <a:rPr lang="en-US" b="1" dirty="0"/>
              <a:t>Concurrency Problems in DBMS</a:t>
            </a:r>
            <a:br>
              <a:rPr lang="en-US" b="1" dirty="0"/>
            </a:br>
            <a:r>
              <a:rPr lang="en-US" dirty="0"/>
              <a:t> 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 fontAlgn="base">
              <a:buFont typeface="Wingdings" panose="05000000000000000000" pitchFamily="2" charset="2"/>
              <a:buChar char="§"/>
            </a:pPr>
            <a:r>
              <a:rPr lang="en-US" dirty="0"/>
              <a:t>When multiple transactions execute concurrently in an uncontrolled or unrestricted manner, then it might lead to several problems. Such problems are called as </a:t>
            </a:r>
            <a:r>
              <a:rPr lang="en-US" b="1" dirty="0"/>
              <a:t>concurrency problems</a:t>
            </a:r>
            <a:r>
              <a:rPr lang="en-US" dirty="0"/>
              <a:t>.</a:t>
            </a:r>
          </a:p>
          <a:p>
            <a:pPr marL="0" indent="0" algn="just" fontAlgn="base">
              <a:buNone/>
            </a:pPr>
            <a:endParaRPr lang="en-US" dirty="0"/>
          </a:p>
          <a:p>
            <a:pPr marL="0" indent="0" fontAlgn="base">
              <a:buNone/>
            </a:pPr>
            <a:r>
              <a:rPr lang="en-US" dirty="0"/>
              <a:t>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05957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fontAlgn="base"/>
            <a:br>
              <a:rPr lang="en-US" b="1" dirty="0"/>
            </a:br>
            <a:br>
              <a:rPr lang="en-US" b="1" dirty="0"/>
            </a:br>
            <a:r>
              <a:rPr lang="en-US" b="1" dirty="0"/>
              <a:t>Concurrency Problems in DBMS</a:t>
            </a:r>
            <a:br>
              <a:rPr lang="en-US" b="1" dirty="0"/>
            </a:br>
            <a:r>
              <a:rPr lang="en-US" dirty="0"/>
              <a:t> 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>
              <a:buFont typeface="Wingdings" panose="05000000000000000000" pitchFamily="2" charset="2"/>
              <a:buChar char="§"/>
            </a:pPr>
            <a:r>
              <a:rPr lang="en-US" dirty="0"/>
              <a:t>The concurrency problems are </a:t>
            </a:r>
          </a:p>
          <a:p>
            <a:pPr fontAlgn="base">
              <a:buFont typeface="Wingdings" panose="05000000000000000000" pitchFamily="2" charset="2"/>
              <a:buChar char="§"/>
            </a:pPr>
            <a:endParaRPr lang="en-US" dirty="0"/>
          </a:p>
          <a:p>
            <a:pPr fontAlgn="base">
              <a:buFont typeface="Wingdings" panose="05000000000000000000" pitchFamily="2" charset="2"/>
              <a:buChar char="§"/>
            </a:pPr>
            <a:endParaRPr lang="en-US" dirty="0"/>
          </a:p>
          <a:p>
            <a:pPr marL="0" indent="0" fontAlgn="base">
              <a:buNone/>
            </a:pPr>
            <a:endParaRPr lang="en-US" dirty="0"/>
          </a:p>
          <a:p>
            <a:pPr marL="0" indent="0" fontAlgn="base">
              <a:buNone/>
            </a:pPr>
            <a:r>
              <a:rPr lang="en-US" dirty="0"/>
              <a:t> </a:t>
            </a:r>
          </a:p>
          <a:p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362200"/>
            <a:ext cx="7772399" cy="358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200469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fontAlgn="base"/>
            <a:br>
              <a:rPr lang="en-US" b="1" dirty="0"/>
            </a:br>
            <a:br>
              <a:rPr lang="en-US" b="1" dirty="0"/>
            </a:br>
            <a:r>
              <a:rPr lang="en-US" b="1" dirty="0"/>
              <a:t>Dirty Read Problem</a:t>
            </a:r>
            <a:br>
              <a:rPr lang="en-US" b="1" dirty="0"/>
            </a:br>
            <a:r>
              <a:rPr lang="en-US" dirty="0"/>
              <a:t>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Reading the data written by an uncommitted transaction is called as </a:t>
            </a:r>
            <a:r>
              <a:rPr lang="en-US" b="1" dirty="0">
                <a:solidFill>
                  <a:srgbClr val="FF0000"/>
                </a:solidFill>
              </a:rPr>
              <a:t>dirty read.</a:t>
            </a:r>
          </a:p>
          <a:p>
            <a:pPr marL="0" indent="0" fontAlgn="base">
              <a:buNone/>
            </a:pPr>
            <a:r>
              <a:rPr lang="en-US" b="1" i="1" dirty="0"/>
              <a:t>This read is called as dirty read because</a:t>
            </a:r>
          </a:p>
          <a:p>
            <a:pPr fontAlgn="base">
              <a:buFont typeface="Wingdings" panose="05000000000000000000" pitchFamily="2" charset="2"/>
              <a:buChar char="§"/>
            </a:pPr>
            <a:r>
              <a:rPr lang="en-US" dirty="0"/>
              <a:t>There is always a chance that the uncommitted transaction might roll back later.</a:t>
            </a:r>
          </a:p>
          <a:p>
            <a:pPr fontAlgn="base">
              <a:buFont typeface="Wingdings" panose="05000000000000000000" pitchFamily="2" charset="2"/>
              <a:buChar char="§"/>
            </a:pPr>
            <a:r>
              <a:rPr lang="en-US" dirty="0"/>
              <a:t>Thus, uncommitted transaction might make other transactions read a value that does not even exist.</a:t>
            </a:r>
          </a:p>
          <a:p>
            <a:pPr fontAlgn="base">
              <a:buFont typeface="Wingdings" panose="05000000000000000000" pitchFamily="2" charset="2"/>
              <a:buChar char="§"/>
            </a:pPr>
            <a:r>
              <a:rPr lang="en-US" dirty="0"/>
              <a:t>This leads to inconsistency of the database.</a:t>
            </a:r>
          </a:p>
          <a:p>
            <a:pPr marL="0" indent="0" fontAlgn="base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88599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fontAlgn="base"/>
            <a:br>
              <a:rPr lang="en-US" b="1" dirty="0"/>
            </a:br>
            <a:br>
              <a:rPr lang="en-US" b="1" dirty="0"/>
            </a:br>
            <a:r>
              <a:rPr lang="en-US" b="1" dirty="0"/>
              <a:t>Dirty Read Problem</a:t>
            </a:r>
            <a:br>
              <a:rPr lang="en-US" b="1" dirty="0"/>
            </a:br>
            <a:r>
              <a:rPr lang="en-US" dirty="0"/>
              <a:t>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en-US" b="1" u="sng" dirty="0"/>
              <a:t>NOTE</a:t>
            </a:r>
            <a:endParaRPr lang="en-US" b="1" dirty="0"/>
          </a:p>
          <a:p>
            <a:pPr marL="0" indent="0" fontAlgn="base">
              <a:buNone/>
            </a:pPr>
            <a:endParaRPr lang="en-US" dirty="0"/>
          </a:p>
          <a:p>
            <a:pPr fontAlgn="base">
              <a:buFont typeface="Wingdings" panose="05000000000000000000" pitchFamily="2" charset="2"/>
              <a:buChar char="§"/>
            </a:pPr>
            <a:r>
              <a:rPr lang="en-US" dirty="0"/>
              <a:t>Dirty read does not always lead to inconsistency .</a:t>
            </a:r>
          </a:p>
          <a:p>
            <a:pPr fontAlgn="base">
              <a:buFont typeface="Wingdings" panose="05000000000000000000" pitchFamily="2" charset="2"/>
              <a:buChar char="§"/>
            </a:pPr>
            <a:r>
              <a:rPr lang="en-US" dirty="0"/>
              <a:t>It becomes problematic only when the uncommitted transaction fails and roll backs later due to some reason.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90989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838201"/>
            <a:ext cx="6324600" cy="43433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225041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b="1" dirty="0"/>
              <a:t>Dirty Read Problem</a:t>
            </a:r>
            <a:br>
              <a:rPr lang="en-US" b="1" dirty="0"/>
            </a:br>
            <a:r>
              <a:rPr lang="en-US" dirty="0"/>
              <a:t>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5486400"/>
          </a:xfrm>
        </p:spPr>
        <p:txBody>
          <a:bodyPr>
            <a:normAutofit fontScale="70000" lnSpcReduction="20000"/>
          </a:bodyPr>
          <a:lstStyle/>
          <a:p>
            <a:pPr marL="0" indent="0" fontAlgn="base">
              <a:buNone/>
            </a:pPr>
            <a:r>
              <a:rPr lang="en-US" dirty="0"/>
              <a:t>Here, T1 reads the value of A.  </a:t>
            </a:r>
          </a:p>
          <a:p>
            <a:pPr marL="0" indent="0" fontAlgn="base">
              <a:buNone/>
            </a:pPr>
            <a:r>
              <a:rPr lang="en-US" dirty="0"/>
              <a:t>           T1 updates the value of A in the buffer.</a:t>
            </a:r>
          </a:p>
          <a:p>
            <a:pPr marL="0" indent="0" fontAlgn="base">
              <a:buNone/>
            </a:pPr>
            <a:r>
              <a:rPr lang="en-US" dirty="0"/>
              <a:t>           T2 reads the value of A from the buffer. </a:t>
            </a:r>
          </a:p>
          <a:p>
            <a:pPr marL="0" indent="0" fontAlgn="base">
              <a:buNone/>
            </a:pPr>
            <a:r>
              <a:rPr lang="en-US" dirty="0"/>
              <a:t>           T2 writes the updated the value of A. </a:t>
            </a:r>
          </a:p>
          <a:p>
            <a:pPr marL="0" indent="0" fontAlgn="base">
              <a:buNone/>
            </a:pPr>
            <a:r>
              <a:rPr lang="en-US" dirty="0"/>
              <a:t>           T2 commits.</a:t>
            </a:r>
          </a:p>
          <a:p>
            <a:pPr marL="0" indent="0" fontAlgn="base">
              <a:buNone/>
            </a:pPr>
            <a:r>
              <a:rPr lang="en-US" dirty="0"/>
              <a:t>           T1 fails in later stages and rolls back.</a:t>
            </a:r>
          </a:p>
          <a:p>
            <a:pPr marL="0" indent="0" fontAlgn="base">
              <a:buNone/>
            </a:pPr>
            <a:endParaRPr lang="en-US" dirty="0"/>
          </a:p>
          <a:p>
            <a:pPr marL="0" indent="0" fontAlgn="base">
              <a:buNone/>
            </a:pPr>
            <a:r>
              <a:rPr lang="en-US" dirty="0"/>
              <a:t>In this example,</a:t>
            </a:r>
          </a:p>
          <a:p>
            <a:pPr marL="0" indent="0" fontAlgn="base">
              <a:buNone/>
            </a:pPr>
            <a:r>
              <a:rPr lang="en-US" dirty="0"/>
              <a:t>           T2 reads the dirty value of A written by the uncommitted transaction </a:t>
            </a:r>
          </a:p>
          <a:p>
            <a:pPr marL="0" indent="0" fontAlgn="base">
              <a:buNone/>
            </a:pPr>
            <a:r>
              <a:rPr lang="en-US" dirty="0"/>
              <a:t>           T1.</a:t>
            </a:r>
          </a:p>
          <a:p>
            <a:pPr marL="0" indent="0" fontAlgn="base">
              <a:buNone/>
            </a:pPr>
            <a:r>
              <a:rPr lang="en-US" dirty="0"/>
              <a:t>           T1 fails in later stages and roll backs.</a:t>
            </a:r>
          </a:p>
          <a:p>
            <a:pPr marL="0" indent="0" fontAlgn="base">
              <a:buNone/>
            </a:pPr>
            <a:r>
              <a:rPr lang="en-US" dirty="0"/>
              <a:t>          Thus, the value that T2 read now stands to be incorrect.</a:t>
            </a:r>
          </a:p>
          <a:p>
            <a:pPr marL="0" indent="0" fontAlgn="base">
              <a:buNone/>
            </a:pPr>
            <a:r>
              <a:rPr lang="en-US" dirty="0"/>
              <a:t>           Therefore, database becomes inconsistent.</a:t>
            </a:r>
          </a:p>
          <a:p>
            <a:pPr marL="0" indent="0" fontAlgn="base">
              <a:buNone/>
            </a:pPr>
            <a:r>
              <a:rPr lang="en-US" dirty="0"/>
              <a:t> 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81489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fontAlgn="base"/>
            <a:br>
              <a:rPr lang="en-US" b="1" dirty="0"/>
            </a:br>
            <a:br>
              <a:rPr lang="en-US" b="1" dirty="0"/>
            </a:br>
            <a:br>
              <a:rPr lang="en-US" b="1" dirty="0"/>
            </a:br>
            <a:r>
              <a:rPr lang="en-US" b="1" dirty="0"/>
              <a:t>Unrepeatable Read Problem</a:t>
            </a:r>
            <a:br>
              <a:rPr lang="en-US" b="1" dirty="0"/>
            </a:br>
            <a:r>
              <a:rPr lang="en-US" dirty="0"/>
              <a:t> 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>
              <a:buFont typeface="Wingdings" panose="05000000000000000000" pitchFamily="2" charset="2"/>
              <a:buChar char="§"/>
            </a:pPr>
            <a:r>
              <a:rPr lang="en-US" dirty="0"/>
              <a:t>This problem occurs when a transaction gets to read unrepeated i.e. different values of the same variable in its different read operations even when it has not updated its value.</a:t>
            </a:r>
          </a:p>
          <a:p>
            <a:pPr marL="0" indent="0" fontAlgn="base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08920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/>
            </a:br>
            <a:br>
              <a:rPr lang="en-US" b="1" dirty="0"/>
            </a:br>
            <a:r>
              <a:rPr lang="en-US" b="1" dirty="0"/>
              <a:t>Unrepeatable Read Problem</a:t>
            </a:r>
            <a:br>
              <a:rPr lang="en-US" b="1" dirty="0"/>
            </a:br>
            <a:r>
              <a:rPr lang="en-US" dirty="0"/>
              <a:t>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b="1" u="sng" dirty="0"/>
              <a:t>Example</a:t>
            </a:r>
            <a:endParaRPr lang="en-US" b="1" dirty="0"/>
          </a:p>
          <a:p>
            <a:endParaRPr lang="en-US" dirty="0"/>
          </a:p>
        </p:txBody>
      </p:sp>
      <p:pic>
        <p:nvPicPr>
          <p:cNvPr id="18434" name="Picture 2" descr="https://www.gatevidyalay.com/wp-content/uploads/2018/05/Unrepeatable-Read-Problem-Concurrency-Problems-in-DBMS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2286000"/>
            <a:ext cx="6096000" cy="335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37222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/>
            </a:br>
            <a:br>
              <a:rPr lang="en-US" b="1" dirty="0"/>
            </a:br>
            <a:r>
              <a:rPr lang="en-US" b="1" dirty="0"/>
              <a:t>Unrepeatable Read Problem</a:t>
            </a:r>
            <a:br>
              <a:rPr lang="en-US" b="1" dirty="0"/>
            </a:br>
            <a:r>
              <a:rPr lang="en-US" dirty="0"/>
              <a:t>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T1 reads the value of X (= 10 say).</a:t>
            </a:r>
          </a:p>
          <a:p>
            <a:pPr fontAlgn="base">
              <a:buFont typeface="Wingdings" panose="05000000000000000000" pitchFamily="2" charset="2"/>
              <a:buChar char="§"/>
            </a:pPr>
            <a:r>
              <a:rPr lang="en-US" dirty="0"/>
              <a:t>T2 reads the value of X (= 10).</a:t>
            </a:r>
          </a:p>
          <a:p>
            <a:pPr fontAlgn="base">
              <a:buFont typeface="Wingdings" panose="05000000000000000000" pitchFamily="2" charset="2"/>
              <a:buChar char="§"/>
            </a:pPr>
            <a:r>
              <a:rPr lang="en-US" dirty="0"/>
              <a:t>T1 updates the value of X (from 10 to 15 say) in the buffer.</a:t>
            </a:r>
          </a:p>
          <a:p>
            <a:pPr fontAlgn="base">
              <a:buFont typeface="Wingdings" panose="05000000000000000000" pitchFamily="2" charset="2"/>
              <a:buChar char="§"/>
            </a:pPr>
            <a:r>
              <a:rPr lang="en-US" dirty="0"/>
              <a:t>T2 again reads the value of X (but = 15).</a:t>
            </a:r>
          </a:p>
          <a:p>
            <a:pPr marL="0" indent="0" fontAlgn="base">
              <a:buNone/>
            </a:pPr>
            <a:endParaRPr lang="en-US" dirty="0"/>
          </a:p>
          <a:p>
            <a:pPr marL="0" indent="0" fontAlgn="base">
              <a:buNone/>
            </a:pPr>
            <a:r>
              <a:rPr lang="en-US" dirty="0"/>
              <a:t>In this example,</a:t>
            </a:r>
          </a:p>
          <a:p>
            <a:pPr fontAlgn="base">
              <a:buFont typeface="Wingdings" panose="05000000000000000000" pitchFamily="2" charset="2"/>
              <a:buChar char="§"/>
            </a:pPr>
            <a:r>
              <a:rPr lang="en-US" dirty="0"/>
              <a:t>T2 gets to read a different value of X in its second reading.</a:t>
            </a:r>
          </a:p>
          <a:p>
            <a:pPr fontAlgn="base">
              <a:buFont typeface="Wingdings" panose="05000000000000000000" pitchFamily="2" charset="2"/>
              <a:buChar char="§"/>
            </a:pPr>
            <a:r>
              <a:rPr lang="en-US" dirty="0"/>
              <a:t>T2 wonders how the value of X got changed because according to it, it is running in isolation.</a:t>
            </a:r>
          </a:p>
          <a:p>
            <a:pPr marL="0" indent="0" fontAlgn="base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79134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/>
            </a:br>
            <a:br>
              <a:rPr lang="en-US" b="1" dirty="0"/>
            </a:br>
            <a:r>
              <a:rPr lang="en-US" b="1" dirty="0"/>
              <a:t>Lost Update Problem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4793" y="1600200"/>
            <a:ext cx="8229600" cy="4525963"/>
          </a:xfrm>
        </p:spPr>
        <p:txBody>
          <a:bodyPr/>
          <a:lstStyle/>
          <a:p>
            <a:pPr marL="0" indent="0" fontAlgn="base">
              <a:buNone/>
            </a:pPr>
            <a:r>
              <a:rPr lang="en-US" dirty="0"/>
              <a:t> </a:t>
            </a:r>
          </a:p>
          <a:p>
            <a:pPr fontAlgn="base">
              <a:buFont typeface="Wingdings" panose="05000000000000000000" pitchFamily="2" charset="2"/>
              <a:buChar char="§"/>
            </a:pPr>
            <a:r>
              <a:rPr lang="en-US" dirty="0"/>
              <a:t>This problem occurs when multiple transactions execute concurrently and updates from one or more transactions get lost.</a:t>
            </a:r>
          </a:p>
          <a:p>
            <a:pPr marL="0" indent="0" fontAlgn="base">
              <a:buNone/>
            </a:pPr>
            <a:r>
              <a:rPr lang="en-US" dirty="0"/>
              <a:t> 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4341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b="1" dirty="0"/>
              <a:t>Lost Update Problem</a:t>
            </a:r>
            <a:br>
              <a:rPr lang="en-US" b="1" dirty="0"/>
            </a:br>
            <a:endParaRPr lang="en-US" dirty="0"/>
          </a:p>
        </p:txBody>
      </p:sp>
      <p:pic>
        <p:nvPicPr>
          <p:cNvPr id="1945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1676400"/>
            <a:ext cx="47244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01968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/>
            </a:br>
            <a:br>
              <a:rPr lang="en-US" b="1" dirty="0"/>
            </a:br>
            <a:r>
              <a:rPr lang="en-US" b="1" dirty="0"/>
              <a:t>Lost Update Problem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 fontAlgn="base">
              <a:buNone/>
            </a:pPr>
            <a:r>
              <a:rPr lang="en-US" dirty="0"/>
              <a:t>Here,</a:t>
            </a:r>
          </a:p>
          <a:p>
            <a:pPr fontAlgn="base">
              <a:buFont typeface="Wingdings" panose="05000000000000000000" pitchFamily="2" charset="2"/>
              <a:buChar char="§"/>
            </a:pPr>
            <a:r>
              <a:rPr lang="en-US" dirty="0"/>
              <a:t>T1 reads the value of A (= 10 say).</a:t>
            </a:r>
          </a:p>
          <a:p>
            <a:pPr fontAlgn="base">
              <a:buFont typeface="Wingdings" panose="05000000000000000000" pitchFamily="2" charset="2"/>
              <a:buChar char="§"/>
            </a:pPr>
            <a:r>
              <a:rPr lang="en-US" dirty="0"/>
              <a:t>T2 updates the value to A (= 15 say) in the buffer.</a:t>
            </a:r>
          </a:p>
          <a:p>
            <a:pPr fontAlgn="base">
              <a:buFont typeface="Wingdings" panose="05000000000000000000" pitchFamily="2" charset="2"/>
              <a:buChar char="§"/>
            </a:pPr>
            <a:r>
              <a:rPr lang="en-US" dirty="0"/>
              <a:t>T2 does blind write A = 25 (write without read) in the buffer.</a:t>
            </a:r>
          </a:p>
          <a:p>
            <a:pPr fontAlgn="base">
              <a:buFont typeface="Wingdings" panose="05000000000000000000" pitchFamily="2" charset="2"/>
              <a:buChar char="§"/>
            </a:pPr>
            <a:r>
              <a:rPr lang="en-US" dirty="0"/>
              <a:t>T2 commits.</a:t>
            </a:r>
          </a:p>
          <a:p>
            <a:pPr fontAlgn="base">
              <a:buFont typeface="Wingdings" panose="05000000000000000000" pitchFamily="2" charset="2"/>
              <a:buChar char="§"/>
            </a:pPr>
            <a:r>
              <a:rPr lang="en-US" dirty="0"/>
              <a:t>When T1 commits, it writes A = 25 in the database. </a:t>
            </a:r>
          </a:p>
          <a:p>
            <a:pPr marL="0" indent="0" fontAlgn="base">
              <a:buNone/>
            </a:pPr>
            <a:r>
              <a:rPr lang="en-US" dirty="0"/>
              <a:t>In this example,</a:t>
            </a:r>
          </a:p>
          <a:p>
            <a:pPr fontAlgn="base">
              <a:buFont typeface="Wingdings" panose="05000000000000000000" pitchFamily="2" charset="2"/>
              <a:buChar char="§"/>
            </a:pPr>
            <a:r>
              <a:rPr lang="en-US" dirty="0"/>
              <a:t>T1 writes the over written value of X in the database.</a:t>
            </a:r>
          </a:p>
          <a:p>
            <a:pPr fontAlgn="base">
              <a:buFont typeface="Wingdings" panose="05000000000000000000" pitchFamily="2" charset="2"/>
              <a:buChar char="§"/>
            </a:pPr>
            <a:r>
              <a:rPr lang="en-US" dirty="0"/>
              <a:t>Thus, update from T1 gets lost.</a:t>
            </a:r>
          </a:p>
        </p:txBody>
      </p:sp>
    </p:spTree>
    <p:extLst>
      <p:ext uri="{BB962C8B-B14F-4D97-AF65-F5344CB8AC3E}">
        <p14:creationId xmlns:p14="http://schemas.microsoft.com/office/powerpoint/2010/main" val="11930748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/>
            </a:br>
            <a:br>
              <a:rPr lang="en-US" b="1" dirty="0"/>
            </a:br>
            <a:r>
              <a:rPr lang="en-US" b="1" dirty="0"/>
              <a:t>Lost Update Problem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en-US" b="1" u="sng" dirty="0"/>
              <a:t>NOTE-</a:t>
            </a:r>
            <a:endParaRPr lang="en-US" b="1" dirty="0"/>
          </a:p>
          <a:p>
            <a:pPr fontAlgn="base">
              <a:buFont typeface="Wingdings" panose="05000000000000000000" pitchFamily="2" charset="2"/>
              <a:buChar char="§"/>
            </a:pPr>
            <a:endParaRPr lang="en-US" dirty="0"/>
          </a:p>
          <a:p>
            <a:pPr fontAlgn="base">
              <a:buFont typeface="Wingdings" panose="05000000000000000000" pitchFamily="2" charset="2"/>
              <a:buChar char="§"/>
            </a:pPr>
            <a:r>
              <a:rPr lang="en-US" dirty="0"/>
              <a:t>This problem occurs whenever there is a write-write conflict.</a:t>
            </a:r>
          </a:p>
          <a:p>
            <a:pPr fontAlgn="base">
              <a:buFont typeface="Wingdings" panose="05000000000000000000" pitchFamily="2" charset="2"/>
              <a:buChar char="§"/>
            </a:pPr>
            <a:r>
              <a:rPr lang="en-US" dirty="0"/>
              <a:t>In write-write conflict, there are two writes one by each transaction on the same data item without any read in the middle.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17969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137" y="336701"/>
            <a:ext cx="8229600" cy="1143000"/>
          </a:xfrm>
        </p:spPr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b="1" dirty="0"/>
              <a:t>Phantom Read Problem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fontAlgn="base">
              <a:buNone/>
            </a:pPr>
            <a:endParaRPr lang="en-US" dirty="0"/>
          </a:p>
          <a:p>
            <a:pPr fontAlgn="base">
              <a:buFont typeface="Wingdings" panose="05000000000000000000" pitchFamily="2" charset="2"/>
              <a:buChar char="§"/>
            </a:pPr>
            <a:r>
              <a:rPr lang="en-US" dirty="0"/>
              <a:t>This problem occurs when a transaction reads some variable from the buffer and when it reads the same variable later, it finds that the variable does not exist.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10030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/>
            </a:br>
            <a:br>
              <a:rPr lang="en-US" b="1" dirty="0"/>
            </a:br>
            <a:r>
              <a:rPr lang="en-US" b="1" dirty="0"/>
              <a:t>Phantom Read Problem</a:t>
            </a:r>
            <a:br>
              <a:rPr lang="en-US" b="1" dirty="0"/>
            </a:br>
            <a:endParaRPr lang="en-US" dirty="0"/>
          </a:p>
        </p:txBody>
      </p:sp>
      <p:pic>
        <p:nvPicPr>
          <p:cNvPr id="2048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1905000"/>
            <a:ext cx="4572000" cy="419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446516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/>
            </a:br>
            <a:br>
              <a:rPr lang="en-US" b="1" dirty="0"/>
            </a:br>
            <a:r>
              <a:rPr lang="en-US" b="1" dirty="0"/>
              <a:t>Phantom Read Problem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 fontAlgn="base">
              <a:buNone/>
            </a:pPr>
            <a:r>
              <a:rPr lang="en-US" dirty="0"/>
              <a:t>Here,</a:t>
            </a:r>
          </a:p>
          <a:p>
            <a:pPr fontAlgn="base">
              <a:buFont typeface="Wingdings" panose="05000000000000000000" pitchFamily="2" charset="2"/>
              <a:buChar char="§"/>
            </a:pPr>
            <a:r>
              <a:rPr lang="en-US" dirty="0"/>
              <a:t>T1 reads X.</a:t>
            </a:r>
          </a:p>
          <a:p>
            <a:pPr fontAlgn="base">
              <a:buFont typeface="Wingdings" panose="05000000000000000000" pitchFamily="2" charset="2"/>
              <a:buChar char="§"/>
            </a:pPr>
            <a:r>
              <a:rPr lang="en-US" dirty="0"/>
              <a:t>T2 reads X.</a:t>
            </a:r>
          </a:p>
          <a:p>
            <a:pPr fontAlgn="base">
              <a:buFont typeface="Wingdings" panose="05000000000000000000" pitchFamily="2" charset="2"/>
              <a:buChar char="§"/>
            </a:pPr>
            <a:r>
              <a:rPr lang="en-US" dirty="0"/>
              <a:t>T1 deletes X.</a:t>
            </a:r>
          </a:p>
          <a:p>
            <a:pPr fontAlgn="base">
              <a:buFont typeface="Wingdings" panose="05000000000000000000" pitchFamily="2" charset="2"/>
              <a:buChar char="§"/>
            </a:pPr>
            <a:r>
              <a:rPr lang="en-US" dirty="0"/>
              <a:t>T2 tries reading X but does not find it. </a:t>
            </a:r>
          </a:p>
          <a:p>
            <a:pPr marL="0" indent="0" fontAlgn="base">
              <a:buNone/>
            </a:pPr>
            <a:r>
              <a:rPr lang="en-US" dirty="0"/>
              <a:t>In this example,</a:t>
            </a:r>
          </a:p>
          <a:p>
            <a:pPr fontAlgn="base">
              <a:buFont typeface="Wingdings" panose="05000000000000000000" pitchFamily="2" charset="2"/>
              <a:buChar char="§"/>
            </a:pPr>
            <a:r>
              <a:rPr lang="en-US" dirty="0"/>
              <a:t>T2 finds that there does not exist any variable X when it tries reading X again.</a:t>
            </a:r>
          </a:p>
          <a:p>
            <a:pPr fontAlgn="base">
              <a:buFont typeface="Wingdings" panose="05000000000000000000" pitchFamily="2" charset="2"/>
              <a:buChar char="§"/>
            </a:pPr>
            <a:r>
              <a:rPr lang="en-US" dirty="0"/>
              <a:t>T2 wonders who deleted the variable X because according to it, it is running in isolation.</a:t>
            </a:r>
          </a:p>
          <a:p>
            <a:pPr marL="0" indent="0" fontAlgn="base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68844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b="1" dirty="0"/>
              <a:t>Avoiding Concurrency Problems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fontAlgn="base">
              <a:buNone/>
            </a:pPr>
            <a:endParaRPr lang="en-US" dirty="0"/>
          </a:p>
          <a:p>
            <a:pPr fontAlgn="base">
              <a:buFont typeface="Wingdings" panose="05000000000000000000" pitchFamily="2" charset="2"/>
              <a:buChar char="§"/>
            </a:pPr>
            <a:r>
              <a:rPr lang="en-US" dirty="0"/>
              <a:t>To ensure consistency of the database, it is very important to prevent the occurrence of above problems.</a:t>
            </a:r>
          </a:p>
          <a:p>
            <a:pPr fontAlgn="base">
              <a:buFont typeface="Wingdings" panose="05000000000000000000" pitchFamily="2" charset="2"/>
              <a:buChar char="§"/>
            </a:pPr>
            <a:endParaRPr lang="en-US" dirty="0"/>
          </a:p>
          <a:p>
            <a:pPr fontAlgn="base">
              <a:buFont typeface="Wingdings" panose="05000000000000000000" pitchFamily="2" charset="2"/>
              <a:buChar char="§"/>
            </a:pPr>
            <a:r>
              <a:rPr lang="en-US" b="1" dirty="0"/>
              <a:t>Concurrency Control Protocols </a:t>
            </a:r>
            <a:r>
              <a:rPr lang="en-US" dirty="0"/>
              <a:t>help to prevent the occurrence of above problems and maintain the consistency of the database.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42696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Serializability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Transaction Management System</a:t>
            </a:r>
          </a:p>
        </p:txBody>
      </p:sp>
    </p:spTree>
    <p:extLst>
      <p:ext uri="{BB962C8B-B14F-4D97-AF65-F5344CB8AC3E}">
        <p14:creationId xmlns:p14="http://schemas.microsoft.com/office/powerpoint/2010/main" val="37529100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www.gatevidyalay.com/wp-content/uploads/2018/05/Types-of-Schedules-in-DBMS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52400"/>
            <a:ext cx="8382000" cy="640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54945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b="1" dirty="0"/>
              <a:t>Serializability in DBMS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>
              <a:buFont typeface="Wingdings" panose="05000000000000000000" pitchFamily="2" charset="2"/>
              <a:buChar char="§"/>
            </a:pPr>
            <a:r>
              <a:rPr lang="en-US" dirty="0"/>
              <a:t> Some non-serial schedules may lead to inconsistency of the database.</a:t>
            </a:r>
          </a:p>
          <a:p>
            <a:pPr fontAlgn="base">
              <a:buFont typeface="Wingdings" panose="05000000000000000000" pitchFamily="2" charset="2"/>
              <a:buChar char="§"/>
            </a:pPr>
            <a:r>
              <a:rPr lang="en-US" dirty="0"/>
              <a:t>Serializability is a concept that helps to identify which non-serial schedules are correct and will maintain the consistency of the database.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47918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sz="4000" b="1" dirty="0"/>
            </a:br>
            <a:r>
              <a:rPr lang="en-US" sz="4000" b="1" dirty="0"/>
              <a:t>Characteristics of Serializable Schedules 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fontAlgn="base">
              <a:buNone/>
            </a:pPr>
            <a:endParaRPr lang="en-US" dirty="0"/>
          </a:p>
          <a:p>
            <a:pPr fontAlgn="base">
              <a:buFont typeface="Wingdings" panose="05000000000000000000" pitchFamily="2" charset="2"/>
              <a:buChar char="§"/>
            </a:pPr>
            <a:r>
              <a:rPr lang="en-US" dirty="0"/>
              <a:t>Serializable schedules behave exactly same as serial schedules.</a:t>
            </a:r>
          </a:p>
          <a:p>
            <a:pPr marL="0" indent="0" fontAlgn="base">
              <a:buNone/>
            </a:pPr>
            <a:r>
              <a:rPr lang="en-US" dirty="0"/>
              <a:t>   Thus, serializable schedules are always</a:t>
            </a:r>
          </a:p>
          <a:p>
            <a:pPr lvl="1" fontAlgn="base">
              <a:buFont typeface="Wingdings" panose="05000000000000000000" pitchFamily="2" charset="2"/>
              <a:buChar char="§"/>
            </a:pPr>
            <a:r>
              <a:rPr lang="en-US" b="1" dirty="0"/>
              <a:t>Consistent</a:t>
            </a:r>
          </a:p>
          <a:p>
            <a:pPr lvl="1" fontAlgn="base">
              <a:buFont typeface="Wingdings" panose="05000000000000000000" pitchFamily="2" charset="2"/>
              <a:buChar char="§"/>
            </a:pPr>
            <a:r>
              <a:rPr lang="en-US" b="1" dirty="0"/>
              <a:t>Recoverable</a:t>
            </a:r>
          </a:p>
          <a:p>
            <a:pPr lvl="1" fontAlgn="base">
              <a:buFont typeface="Wingdings" panose="05000000000000000000" pitchFamily="2" charset="2"/>
              <a:buChar char="§"/>
            </a:pPr>
            <a:r>
              <a:rPr lang="en-US" b="1" dirty="0" err="1"/>
              <a:t>Cascadeless</a:t>
            </a:r>
            <a:endParaRPr lang="en-US" b="1" dirty="0"/>
          </a:p>
          <a:p>
            <a:pPr lvl="1" fontAlgn="base">
              <a:buFont typeface="Wingdings" panose="05000000000000000000" pitchFamily="2" charset="2"/>
              <a:buChar char="§"/>
            </a:pPr>
            <a:r>
              <a:rPr lang="en-US" b="1" dirty="0"/>
              <a:t>Strict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05939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fontAlgn="base"/>
            <a:br>
              <a:rPr lang="en-US" b="1" dirty="0"/>
            </a:br>
            <a:br>
              <a:rPr lang="en-US" b="1" dirty="0"/>
            </a:br>
            <a:r>
              <a:rPr lang="en-US" b="1" dirty="0"/>
              <a:t>Serializable Schedules</a:t>
            </a:r>
            <a:br>
              <a:rPr lang="en-US" b="1" dirty="0"/>
            </a:br>
            <a:r>
              <a:rPr lang="en-US" dirty="0"/>
              <a:t> 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>
              <a:buFont typeface="Wingdings" panose="05000000000000000000" pitchFamily="2" charset="2"/>
              <a:buChar char="§"/>
            </a:pPr>
            <a:r>
              <a:rPr lang="en-US" dirty="0"/>
              <a:t>If a given non-serial schedule of ‘n’ transactions is equivalent to some serial schedule of ‘n’ transactions, then it is called as a </a:t>
            </a:r>
            <a:r>
              <a:rPr lang="en-US" b="1" dirty="0"/>
              <a:t>serializable schedule</a:t>
            </a:r>
            <a:r>
              <a:rPr lang="en-US" dirty="0"/>
              <a:t>.</a:t>
            </a:r>
          </a:p>
          <a:p>
            <a:pPr marL="0" indent="0" fontAlgn="base">
              <a:buNone/>
            </a:pPr>
            <a:r>
              <a:rPr lang="en-US" dirty="0"/>
              <a:t>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06532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fontAlgn="base"/>
            <a:br>
              <a:rPr lang="en-US" sz="3600" b="1" dirty="0"/>
            </a:br>
            <a:br>
              <a:rPr lang="en-US" sz="3600" b="1" dirty="0"/>
            </a:br>
            <a:r>
              <a:rPr lang="en-US" sz="3600" b="1" dirty="0"/>
              <a:t>Serial Schedules Vs Serializable Schedules</a:t>
            </a:r>
            <a:br>
              <a:rPr lang="en-US" sz="3600" b="1" dirty="0"/>
            </a:br>
            <a:r>
              <a:rPr lang="en-US" sz="3600" dirty="0"/>
              <a:t> </a:t>
            </a:r>
            <a:br>
              <a:rPr lang="en-US" sz="3600" dirty="0"/>
            </a:br>
            <a:endParaRPr lang="en-US" sz="3600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84917501"/>
              </p:ext>
            </p:extLst>
          </p:nvPr>
        </p:nvGraphicFramePr>
        <p:xfrm>
          <a:off x="609600" y="1295401"/>
          <a:ext cx="8229600" cy="52323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1958"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effectLst/>
                        </a:rPr>
                        <a:t>Serial Schedules</a:t>
                      </a:r>
                      <a:endParaRPr lang="en-US" sz="3200" dirty="0">
                        <a:effectLst/>
                      </a:endParaRP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effectLst/>
                        </a:rPr>
                        <a:t>Serializable Schedules</a:t>
                      </a:r>
                      <a:endParaRPr lang="en-US" sz="3200" dirty="0">
                        <a:effectLst/>
                      </a:endParaRPr>
                    </a:p>
                  </a:txBody>
                  <a:tcPr marL="95250" marR="95250" marT="76200" marB="762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88438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2000" dirty="0">
                          <a:effectLst/>
                        </a:rPr>
                        <a:t>No concurrency is allowed.</a:t>
                      </a:r>
                    </a:p>
                    <a:p>
                      <a:pPr algn="ctr" fontAlgn="base"/>
                      <a:r>
                        <a:rPr lang="en-US" sz="2000" dirty="0">
                          <a:effectLst/>
                        </a:rPr>
                        <a:t>Thus, all the transactions necessarily execute serially one after the other.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2000">
                          <a:effectLst/>
                        </a:rPr>
                        <a:t>Concurrency is allowed.</a:t>
                      </a:r>
                    </a:p>
                    <a:p>
                      <a:pPr algn="ctr" fontAlgn="base"/>
                      <a:r>
                        <a:rPr lang="en-US" sz="2000">
                          <a:effectLst/>
                        </a:rPr>
                        <a:t>Thus, multiple transactions can execute concurrently.</a:t>
                      </a:r>
                    </a:p>
                  </a:txBody>
                  <a:tcPr marL="95250" marR="95250" marT="76200" marB="762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3565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effectLst/>
                        </a:rPr>
                        <a:t>Serial schedules lead to less resource utilization and CPU throughput.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effectLst/>
                        </a:rPr>
                        <a:t>Serializable schedules improve both resource utilization and CPU throughput.</a:t>
                      </a:r>
                    </a:p>
                  </a:txBody>
                  <a:tcPr marL="95250" marR="95250" marT="76200" marB="762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88438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2000">
                          <a:effectLst/>
                        </a:rPr>
                        <a:t>Serial Schedules are less efficient as compared to serializable schedules.</a:t>
                      </a:r>
                    </a:p>
                    <a:p>
                      <a:pPr algn="ctr" fontAlgn="base"/>
                      <a:r>
                        <a:rPr lang="en-US" sz="2000">
                          <a:effectLst/>
                        </a:rPr>
                        <a:t>(due to above reason)</a:t>
                      </a:r>
                    </a:p>
                  </a:txBody>
                  <a:tcPr marL="95250" marR="95250" marT="76200" marB="76200" anchor="ctr"/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2000" dirty="0">
                          <a:effectLst/>
                        </a:rPr>
                        <a:t>Serializable Schedules are always better than serial schedules.</a:t>
                      </a:r>
                    </a:p>
                    <a:p>
                      <a:pPr algn="ctr" fontAlgn="base"/>
                      <a:r>
                        <a:rPr lang="en-US" sz="2000" dirty="0">
                          <a:effectLst/>
                        </a:rPr>
                        <a:t>(due to above reason)</a:t>
                      </a:r>
                    </a:p>
                  </a:txBody>
                  <a:tcPr marL="95250" marR="95250" marT="76200" marB="762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72875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Types of Serializability</a:t>
            </a:r>
            <a:b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fontAlgn="base">
              <a:buNone/>
            </a:pPr>
            <a:r>
              <a:rPr lang="en-US" dirty="0"/>
              <a:t> </a:t>
            </a:r>
          </a:p>
          <a:p>
            <a:pPr fontAlgn="base">
              <a:buFont typeface="Wingdings" panose="05000000000000000000" pitchFamily="2" charset="2"/>
              <a:buChar char="§"/>
            </a:pPr>
            <a:r>
              <a:rPr lang="en-US" dirty="0"/>
              <a:t>Serializability is mainly of two types</a:t>
            </a:r>
          </a:p>
          <a:p>
            <a:pPr fontAlgn="base">
              <a:buFont typeface="Wingdings" panose="05000000000000000000" pitchFamily="2" charset="2"/>
              <a:buChar char="§"/>
            </a:pPr>
            <a:endParaRPr lang="en-US" dirty="0"/>
          </a:p>
          <a:p>
            <a:pPr marL="0" indent="0" fontAlgn="base">
              <a:buNone/>
            </a:pPr>
            <a:endParaRPr lang="en-US" dirty="0"/>
          </a:p>
          <a:p>
            <a:pPr marL="514350" indent="-514350" fontAlgn="base">
              <a:buFont typeface="+mj-lt"/>
              <a:buAutoNum type="arabicPeriod"/>
            </a:pPr>
            <a:endParaRPr lang="en-US" dirty="0"/>
          </a:p>
          <a:p>
            <a:pPr marL="514350" indent="-514350" fontAlgn="base">
              <a:buFont typeface="+mj-lt"/>
              <a:buAutoNum type="arabicPeriod"/>
            </a:pPr>
            <a:endParaRPr lang="en-US" dirty="0"/>
          </a:p>
          <a:p>
            <a:pPr marL="514350" indent="-514350" fontAlgn="base">
              <a:buFont typeface="+mj-lt"/>
              <a:buAutoNum type="arabicPeriod"/>
            </a:pPr>
            <a:r>
              <a:rPr lang="en-US" dirty="0"/>
              <a:t>Conflict Serializability</a:t>
            </a:r>
          </a:p>
          <a:p>
            <a:pPr marL="514350" indent="-514350" fontAlgn="base">
              <a:buFont typeface="+mj-lt"/>
              <a:buAutoNum type="arabicPeriod"/>
            </a:pPr>
            <a:r>
              <a:rPr lang="en-US" dirty="0"/>
              <a:t>View Serializability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795588"/>
            <a:ext cx="7239000" cy="170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817235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/>
            </a:br>
            <a:br>
              <a:rPr lang="en-US" b="1" dirty="0"/>
            </a:br>
            <a:r>
              <a:rPr lang="en-US" b="1" dirty="0"/>
              <a:t>Conflict Serializability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fontAlgn="base">
              <a:buNone/>
            </a:pPr>
            <a:endParaRPr lang="en-US" dirty="0"/>
          </a:p>
          <a:p>
            <a:pPr fontAlgn="base">
              <a:buFont typeface="Wingdings" panose="05000000000000000000" pitchFamily="2" charset="2"/>
              <a:buChar char="§"/>
            </a:pPr>
            <a:r>
              <a:rPr lang="en-US" dirty="0"/>
              <a:t>If a given non-serial schedule can be converted into a serial schedule by swapping its non-conflicting operations, then it is called as a </a:t>
            </a:r>
            <a:r>
              <a:rPr lang="en-US" b="1" dirty="0"/>
              <a:t>conflict serializable schedule</a:t>
            </a:r>
            <a:r>
              <a:rPr lang="en-US" dirty="0"/>
              <a:t>.</a:t>
            </a:r>
          </a:p>
          <a:p>
            <a:pPr fontAlgn="base">
              <a:buFont typeface="Wingdings" panose="05000000000000000000" pitchFamily="2" charset="2"/>
              <a:buChar char="§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57740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/>
            </a:br>
            <a:br>
              <a:rPr lang="en-US" b="1" dirty="0"/>
            </a:br>
            <a:r>
              <a:rPr lang="en-US" b="1" dirty="0"/>
              <a:t>Conflicting Operations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fontAlgn="base">
              <a:buFont typeface="Wingdings" panose="05000000000000000000" pitchFamily="2" charset="2"/>
              <a:buChar char="§"/>
            </a:pPr>
            <a:endParaRPr lang="en-US" dirty="0"/>
          </a:p>
          <a:p>
            <a:pPr fontAlgn="base">
              <a:buFont typeface="Wingdings" panose="05000000000000000000" pitchFamily="2" charset="2"/>
              <a:buChar char="§"/>
            </a:pPr>
            <a:r>
              <a:rPr lang="en-US" dirty="0"/>
              <a:t>Two operations are called as </a:t>
            </a:r>
            <a:r>
              <a:rPr lang="en-US" b="1" dirty="0"/>
              <a:t>conflicting operations</a:t>
            </a:r>
            <a:r>
              <a:rPr lang="en-US" dirty="0"/>
              <a:t> if all the following conditions hold true for them.</a:t>
            </a:r>
          </a:p>
          <a:p>
            <a:pPr marL="1028700" lvl="1" indent="-571500" fontAlgn="base">
              <a:buFont typeface="+mj-lt"/>
              <a:buAutoNum type="romanUcPeriod"/>
            </a:pPr>
            <a:r>
              <a:rPr lang="en-US" dirty="0"/>
              <a:t>Both the operations belong to different transactions</a:t>
            </a:r>
          </a:p>
          <a:p>
            <a:pPr marL="1028700" lvl="1" indent="-571500" fontAlgn="base">
              <a:buFont typeface="+mj-lt"/>
              <a:buAutoNum type="romanUcPeriod"/>
            </a:pPr>
            <a:r>
              <a:rPr lang="en-US" dirty="0"/>
              <a:t>Both the operations are on the same data item</a:t>
            </a:r>
          </a:p>
          <a:p>
            <a:pPr marL="1028700" lvl="1" indent="-571500" fontAlgn="base">
              <a:buFont typeface="+mj-lt"/>
              <a:buAutoNum type="romanUcPeriod"/>
            </a:pPr>
            <a:r>
              <a:rPr lang="en-US" dirty="0"/>
              <a:t>At least one of the two operations is a write operation</a:t>
            </a:r>
          </a:p>
          <a:p>
            <a:pPr marL="0" indent="0" fontAlgn="base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56366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/>
            </a:br>
            <a:br>
              <a:rPr lang="en-US" b="1" dirty="0"/>
            </a:br>
            <a:r>
              <a:rPr lang="en-US" b="1" dirty="0"/>
              <a:t>Conflicting Operations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>
              <a:buFont typeface="Wingdings" panose="05000000000000000000" pitchFamily="2" charset="2"/>
              <a:buChar char="§"/>
            </a:pPr>
            <a:r>
              <a:rPr lang="en-US" dirty="0"/>
              <a:t>Consider the following schedule-</a:t>
            </a:r>
          </a:p>
          <a:p>
            <a:pPr marL="0" indent="0" fontAlgn="base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2590800"/>
            <a:ext cx="4419600" cy="297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500715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/>
            </a:br>
            <a:br>
              <a:rPr lang="en-US" b="1" dirty="0"/>
            </a:br>
            <a:r>
              <a:rPr lang="en-US" b="1" dirty="0"/>
              <a:t>Conflicting Operations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>
              <a:buFont typeface="Wingdings" panose="05000000000000000000" pitchFamily="2" charset="2"/>
              <a:buChar char="§"/>
            </a:pPr>
            <a:r>
              <a:rPr lang="en-US" dirty="0"/>
              <a:t>In this schedule,</a:t>
            </a:r>
          </a:p>
          <a:p>
            <a:pPr marL="0" indent="0" fontAlgn="base">
              <a:buNone/>
            </a:pPr>
            <a:r>
              <a:rPr lang="en-US" dirty="0"/>
              <a:t>  W1 (A) and R2 (A) are called as conflicting </a:t>
            </a:r>
          </a:p>
          <a:p>
            <a:pPr marL="0" indent="0" fontAlgn="base">
              <a:buNone/>
            </a:pPr>
            <a:r>
              <a:rPr lang="en-US" dirty="0"/>
              <a:t>  operations.</a:t>
            </a:r>
          </a:p>
          <a:p>
            <a:pPr fontAlgn="base">
              <a:buFont typeface="Wingdings" panose="05000000000000000000" pitchFamily="2" charset="2"/>
              <a:buChar char="§"/>
            </a:pPr>
            <a:r>
              <a:rPr lang="en-US" dirty="0"/>
              <a:t>This is because all the above conditions hold true for them.</a:t>
            </a:r>
          </a:p>
          <a:p>
            <a:pPr marL="0" indent="0" fontAlgn="base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735549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fontAlgn="base"/>
            <a:br>
              <a:rPr lang="en-US" sz="4000" b="1" dirty="0"/>
            </a:br>
            <a:br>
              <a:rPr lang="en-US" sz="4000" b="1" dirty="0"/>
            </a:br>
            <a:r>
              <a:rPr lang="en-US" sz="4000" b="1" dirty="0"/>
              <a:t>Checking Whether a Schedule is Conflict Serializable Or Not</a:t>
            </a:r>
            <a:br>
              <a:rPr lang="en-US" sz="4000" b="1" dirty="0"/>
            </a:br>
            <a:r>
              <a:rPr lang="en-US" dirty="0"/>
              <a:t> 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 fontAlgn="base">
              <a:buNone/>
            </a:pPr>
            <a:r>
              <a:rPr lang="en-US" dirty="0"/>
              <a:t>Follow the following steps to check whether a given non-serial schedule is conflict serializable or not- </a:t>
            </a:r>
          </a:p>
          <a:p>
            <a:pPr marL="0" indent="0" fontAlgn="base">
              <a:buNone/>
            </a:pPr>
            <a:r>
              <a:rPr lang="en-US" b="1" u="sng" dirty="0"/>
              <a:t>Step-01:</a:t>
            </a:r>
            <a:r>
              <a:rPr lang="en-US" dirty="0"/>
              <a:t> </a:t>
            </a:r>
          </a:p>
          <a:p>
            <a:pPr marL="0" indent="0" fontAlgn="base">
              <a:buNone/>
            </a:pPr>
            <a:r>
              <a:rPr lang="en-US" dirty="0"/>
              <a:t>       	Find and list all the conflicting operations.</a:t>
            </a:r>
          </a:p>
          <a:p>
            <a:pPr marL="0" indent="0" fontAlgn="base">
              <a:buNone/>
            </a:pPr>
            <a:r>
              <a:rPr lang="en-US" dirty="0"/>
              <a:t> </a:t>
            </a:r>
            <a:r>
              <a:rPr lang="en-US" b="1" u="sng" dirty="0"/>
              <a:t>Step-02:</a:t>
            </a:r>
            <a:endParaRPr lang="en-US" b="1" dirty="0"/>
          </a:p>
          <a:p>
            <a:pPr marL="0" indent="0" fontAlgn="base">
              <a:buNone/>
            </a:pPr>
            <a:r>
              <a:rPr lang="en-US" dirty="0"/>
              <a:t> 	Start creating a precedence graph by drawing </a:t>
            </a:r>
          </a:p>
          <a:p>
            <a:pPr marL="0" indent="0" fontAlgn="base">
              <a:buNone/>
            </a:pPr>
            <a:r>
              <a:rPr lang="en-US" dirty="0"/>
              <a:t>          one node for each transaction. </a:t>
            </a:r>
          </a:p>
        </p:txBody>
      </p:sp>
    </p:spTree>
    <p:extLst>
      <p:ext uri="{BB962C8B-B14F-4D97-AF65-F5344CB8AC3E}">
        <p14:creationId xmlns:p14="http://schemas.microsoft.com/office/powerpoint/2010/main" val="75219994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fontAlgn="base"/>
            <a:br>
              <a:rPr lang="en-US" sz="4000" b="1" dirty="0"/>
            </a:br>
            <a:br>
              <a:rPr lang="en-US" sz="4000" b="1" dirty="0"/>
            </a:br>
            <a:r>
              <a:rPr lang="en-US" sz="4000" b="1" dirty="0"/>
              <a:t>Checking Whether a Schedule is Conflict Serializable Or Not</a:t>
            </a:r>
            <a:br>
              <a:rPr lang="en-US" sz="4000" b="1" dirty="0"/>
            </a:br>
            <a:r>
              <a:rPr lang="en-US" dirty="0"/>
              <a:t> 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 fontAlgn="base">
              <a:buNone/>
            </a:pPr>
            <a:r>
              <a:rPr lang="en-US" b="1" u="sng" dirty="0"/>
              <a:t>Step-03:</a:t>
            </a:r>
            <a:r>
              <a:rPr lang="en-US" dirty="0"/>
              <a:t> </a:t>
            </a:r>
          </a:p>
          <a:p>
            <a:pPr marL="0" indent="0" fontAlgn="base">
              <a:buNone/>
            </a:pPr>
            <a:r>
              <a:rPr lang="en-US" dirty="0"/>
              <a:t>	Draw an edge for each conflict pair such that if   </a:t>
            </a:r>
          </a:p>
          <a:p>
            <a:pPr marL="0" indent="0" fontAlgn="base">
              <a:buNone/>
            </a:pPr>
            <a:r>
              <a:rPr lang="en-US" dirty="0"/>
              <a:t>            X</a:t>
            </a:r>
            <a:r>
              <a:rPr lang="en-US" baseline="-25000" dirty="0"/>
              <a:t>i</a:t>
            </a:r>
            <a:r>
              <a:rPr lang="en-US" dirty="0"/>
              <a:t> (V) and </a:t>
            </a:r>
            <a:r>
              <a:rPr lang="en-US" dirty="0" err="1"/>
              <a:t>Y</a:t>
            </a:r>
            <a:r>
              <a:rPr lang="en-US" baseline="-25000" dirty="0" err="1"/>
              <a:t>j</a:t>
            </a:r>
            <a:r>
              <a:rPr lang="en-US" dirty="0"/>
              <a:t> (V) forms a conflict pair then draw an </a:t>
            </a:r>
          </a:p>
          <a:p>
            <a:pPr marL="0" indent="0" fontAlgn="base">
              <a:buNone/>
            </a:pPr>
            <a:r>
              <a:rPr lang="en-US" dirty="0"/>
              <a:t>            edge from </a:t>
            </a:r>
            <a:r>
              <a:rPr lang="en-US" dirty="0" err="1"/>
              <a:t>T</a:t>
            </a:r>
            <a:r>
              <a:rPr lang="en-US" baseline="-25000" dirty="0" err="1"/>
              <a:t>i</a:t>
            </a:r>
            <a:r>
              <a:rPr lang="en-US" dirty="0"/>
              <a:t> to </a:t>
            </a:r>
            <a:r>
              <a:rPr lang="en-US" dirty="0" err="1"/>
              <a:t>T</a:t>
            </a:r>
            <a:r>
              <a:rPr lang="en-US" baseline="-25000" dirty="0" err="1"/>
              <a:t>j</a:t>
            </a:r>
            <a:r>
              <a:rPr lang="en-US" dirty="0"/>
              <a:t>. This ensures that </a:t>
            </a:r>
            <a:r>
              <a:rPr lang="en-US" dirty="0" err="1"/>
              <a:t>T</a:t>
            </a:r>
            <a:r>
              <a:rPr lang="en-US" baseline="-25000" dirty="0" err="1"/>
              <a:t>i</a:t>
            </a:r>
            <a:r>
              <a:rPr lang="en-US" dirty="0"/>
              <a:t> gets </a:t>
            </a:r>
          </a:p>
          <a:p>
            <a:pPr marL="0" indent="0" fontAlgn="base">
              <a:buNone/>
            </a:pPr>
            <a:r>
              <a:rPr lang="en-US" dirty="0"/>
              <a:t>           executed before </a:t>
            </a:r>
            <a:r>
              <a:rPr lang="en-US" dirty="0" err="1"/>
              <a:t>T</a:t>
            </a:r>
            <a:r>
              <a:rPr lang="en-US" baseline="-25000" dirty="0" err="1"/>
              <a:t>j</a:t>
            </a:r>
            <a:r>
              <a:rPr lang="en-US" dirty="0"/>
              <a:t>. </a:t>
            </a:r>
          </a:p>
          <a:p>
            <a:pPr marL="0" indent="0" fontAlgn="base">
              <a:buNone/>
            </a:pPr>
            <a:r>
              <a:rPr lang="en-US" b="1" u="sng" dirty="0"/>
              <a:t>Step-04:</a:t>
            </a:r>
            <a:endParaRPr lang="en-US" b="1" dirty="0"/>
          </a:p>
          <a:p>
            <a:pPr marL="0" indent="0" fontAlgn="base">
              <a:buNone/>
            </a:pPr>
            <a:r>
              <a:rPr lang="en-US" dirty="0"/>
              <a:t>	Check if there is any cycle formed in the graph.</a:t>
            </a:r>
          </a:p>
          <a:p>
            <a:pPr marL="0" indent="0" fontAlgn="base">
              <a:buNone/>
            </a:pPr>
            <a:r>
              <a:rPr lang="en-US" dirty="0"/>
              <a:t>	If there is no cycle found, then the schedule is </a:t>
            </a:r>
          </a:p>
          <a:p>
            <a:pPr marL="0" indent="0" fontAlgn="base">
              <a:buNone/>
            </a:pPr>
            <a:r>
              <a:rPr lang="en-US" dirty="0"/>
              <a:t>            conflict serializable otherwise not.</a:t>
            </a:r>
          </a:p>
          <a:p>
            <a:pPr marL="0" indent="0" fontAlgn="base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054668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fontAlgn="base"/>
            <a:br>
              <a:rPr lang="en-US" b="1" u="sng" dirty="0"/>
            </a:br>
            <a:br>
              <a:rPr lang="en-US" b="1" u="sng" dirty="0"/>
            </a:br>
            <a:r>
              <a:rPr lang="en-US" b="1" dirty="0"/>
              <a:t>View Serializability</a:t>
            </a:r>
            <a:br>
              <a:rPr lang="en-US" b="1" dirty="0"/>
            </a:br>
            <a:r>
              <a:rPr lang="en-US" dirty="0"/>
              <a:t> 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 a given schedule is found to be view equivalent to some serial schedule, then it is called as a view serializable schedule.</a:t>
            </a:r>
          </a:p>
        </p:txBody>
      </p:sp>
    </p:spTree>
    <p:extLst>
      <p:ext uri="{BB962C8B-B14F-4D97-AF65-F5344CB8AC3E}">
        <p14:creationId xmlns:p14="http://schemas.microsoft.com/office/powerpoint/2010/main" val="43919044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fontAlgn="base"/>
            <a:br>
              <a:rPr lang="en-US" b="1" dirty="0"/>
            </a:br>
            <a:br>
              <a:rPr lang="en-US" b="1" dirty="0"/>
            </a:br>
            <a:br>
              <a:rPr lang="en-US" b="1" dirty="0"/>
            </a:br>
            <a:r>
              <a:rPr lang="en-US" b="1" dirty="0"/>
              <a:t>View Equivalent Schedules</a:t>
            </a:r>
            <a:br>
              <a:rPr lang="en-US" b="1" dirty="0"/>
            </a:br>
            <a:r>
              <a:rPr lang="en-US" dirty="0"/>
              <a:t> 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>
              <a:buFont typeface="Wingdings" panose="05000000000000000000" pitchFamily="2" charset="2"/>
              <a:buChar char="§"/>
            </a:pPr>
            <a:r>
              <a:rPr lang="en-US" dirty="0"/>
              <a:t>Consider two schedules S1 and S2 each consisting of two transactions T1 and T2.</a:t>
            </a:r>
          </a:p>
          <a:p>
            <a:pPr fontAlgn="base">
              <a:buFont typeface="Wingdings" panose="05000000000000000000" pitchFamily="2" charset="2"/>
              <a:buChar char="§"/>
            </a:pPr>
            <a:r>
              <a:rPr lang="en-US" dirty="0"/>
              <a:t>Schedules S1 and S2 are called view equivalent if the following three conditions hold true for them</a:t>
            </a:r>
          </a:p>
          <a:p>
            <a:pPr marL="0" indent="0" fontAlgn="base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336454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/>
            </a:br>
            <a:r>
              <a:rPr lang="en-US" b="1" dirty="0"/>
              <a:t>View Equivalent Schedules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fontAlgn="base">
              <a:buNone/>
            </a:pPr>
            <a:r>
              <a:rPr lang="en-US" b="1" u="sng" dirty="0"/>
              <a:t>Condition-01:</a:t>
            </a:r>
            <a:endParaRPr lang="en-US" b="1" dirty="0"/>
          </a:p>
          <a:p>
            <a:pPr marL="0" indent="0" fontAlgn="base">
              <a:buNone/>
            </a:pPr>
            <a:endParaRPr lang="en-US" dirty="0"/>
          </a:p>
          <a:p>
            <a:pPr fontAlgn="base">
              <a:buFont typeface="Wingdings" panose="05000000000000000000" pitchFamily="2" charset="2"/>
              <a:buChar char="§"/>
            </a:pPr>
            <a:r>
              <a:rPr lang="en-US" dirty="0"/>
              <a:t>For each data item X, if transaction </a:t>
            </a:r>
            <a:r>
              <a:rPr lang="en-US" dirty="0" err="1"/>
              <a:t>T</a:t>
            </a:r>
            <a:r>
              <a:rPr lang="en-US" baseline="-25000" dirty="0" err="1"/>
              <a:t>i</a:t>
            </a:r>
            <a:r>
              <a:rPr lang="en-US" dirty="0"/>
              <a:t> reads X from the database initially in schedule S1, then in schedule S2 also, </a:t>
            </a:r>
            <a:r>
              <a:rPr lang="en-US" dirty="0" err="1"/>
              <a:t>T</a:t>
            </a:r>
            <a:r>
              <a:rPr lang="en-US" baseline="-25000" dirty="0" err="1"/>
              <a:t>i</a:t>
            </a:r>
            <a:r>
              <a:rPr lang="en-US" baseline="-25000" dirty="0"/>
              <a:t> </a:t>
            </a:r>
            <a:r>
              <a:rPr lang="en-US" dirty="0"/>
              <a:t>must perform the initial read of X from the database.</a:t>
            </a:r>
          </a:p>
          <a:p>
            <a:pPr marL="0" indent="0" fontAlgn="base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637344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/>
            </a:br>
            <a:br>
              <a:rPr lang="en-US" b="1" dirty="0"/>
            </a:br>
            <a:r>
              <a:rPr lang="en-US" b="1" dirty="0"/>
              <a:t>View Equivalent Schedules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fontAlgn="base">
              <a:buNone/>
            </a:pPr>
            <a:r>
              <a:rPr lang="en-US" b="1" u="sng" dirty="0"/>
              <a:t>Condition-02:</a:t>
            </a:r>
            <a:endParaRPr lang="en-US" b="1" dirty="0"/>
          </a:p>
          <a:p>
            <a:pPr marL="0" indent="0" fontAlgn="base">
              <a:buNone/>
            </a:pPr>
            <a:r>
              <a:rPr lang="en-US" dirty="0"/>
              <a:t> </a:t>
            </a:r>
          </a:p>
          <a:p>
            <a:pPr fontAlgn="base">
              <a:buFont typeface="Wingdings" panose="05000000000000000000" pitchFamily="2" charset="2"/>
              <a:buChar char="§"/>
            </a:pPr>
            <a:r>
              <a:rPr lang="en-US" dirty="0"/>
              <a:t>If transaction </a:t>
            </a:r>
            <a:r>
              <a:rPr lang="en-US" dirty="0" err="1"/>
              <a:t>T</a:t>
            </a:r>
            <a:r>
              <a:rPr lang="en-US" baseline="-25000" dirty="0" err="1"/>
              <a:t>i</a:t>
            </a:r>
            <a:r>
              <a:rPr lang="en-US" dirty="0"/>
              <a:t> reads a data item that has been updated by the transaction </a:t>
            </a:r>
            <a:r>
              <a:rPr lang="en-US" dirty="0" err="1"/>
              <a:t>T</a:t>
            </a:r>
            <a:r>
              <a:rPr lang="en-US" baseline="-25000" dirty="0" err="1"/>
              <a:t>j</a:t>
            </a:r>
            <a:r>
              <a:rPr lang="en-US" dirty="0"/>
              <a:t> in schedule S1, then in schedule S2 also, transaction </a:t>
            </a:r>
            <a:r>
              <a:rPr lang="en-US" dirty="0" err="1"/>
              <a:t>T</a:t>
            </a:r>
            <a:r>
              <a:rPr lang="en-US" baseline="-25000" dirty="0" err="1"/>
              <a:t>i</a:t>
            </a:r>
            <a:r>
              <a:rPr lang="en-US" dirty="0"/>
              <a:t> must read the same data item that has been updated by the transaction </a:t>
            </a:r>
            <a:r>
              <a:rPr lang="en-US" dirty="0" err="1"/>
              <a:t>T</a:t>
            </a:r>
            <a:r>
              <a:rPr lang="en-US" baseline="-25000" dirty="0" err="1"/>
              <a:t>j</a:t>
            </a:r>
            <a:r>
              <a:rPr lang="en-US" baseline="-25000" dirty="0"/>
              <a:t>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149390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b="1" dirty="0"/>
            </a:br>
            <a:br>
              <a:rPr lang="en-US" b="1" dirty="0"/>
            </a:br>
            <a:r>
              <a:rPr lang="en-US" b="1" dirty="0"/>
              <a:t>View Equivalent Schedules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fontAlgn="base">
              <a:buNone/>
            </a:pPr>
            <a:r>
              <a:rPr lang="en-US" b="1" u="sng" dirty="0"/>
              <a:t>Condition-03:</a:t>
            </a:r>
            <a:endParaRPr lang="en-US" b="1" dirty="0"/>
          </a:p>
          <a:p>
            <a:pPr fontAlgn="base"/>
            <a:endParaRPr lang="en-US" dirty="0"/>
          </a:p>
          <a:p>
            <a:pPr fontAlgn="base">
              <a:buFont typeface="Wingdings" panose="05000000000000000000" pitchFamily="2" charset="2"/>
              <a:buChar char="§"/>
            </a:pPr>
            <a:r>
              <a:rPr lang="en-US" dirty="0"/>
              <a:t>For each data item X, if X has been updated at last by transaction </a:t>
            </a:r>
            <a:r>
              <a:rPr lang="en-US" dirty="0" err="1"/>
              <a:t>T</a:t>
            </a:r>
            <a:r>
              <a:rPr lang="en-US" baseline="-25000" dirty="0" err="1"/>
              <a:t>i</a:t>
            </a:r>
            <a:r>
              <a:rPr lang="en-US" dirty="0"/>
              <a:t> in schedule S1, then in schedule S2 also, X must be updated at last by transaction </a:t>
            </a:r>
            <a:r>
              <a:rPr lang="en-US" dirty="0" err="1"/>
              <a:t>T</a:t>
            </a:r>
            <a:r>
              <a:rPr lang="en-US" baseline="-25000" dirty="0" err="1"/>
              <a:t>i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884273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>
            <a:noAutofit/>
          </a:bodyPr>
          <a:lstStyle/>
          <a:p>
            <a:br>
              <a:rPr lang="en-US" sz="3600" b="1" dirty="0"/>
            </a:br>
            <a:r>
              <a:rPr lang="en-US" sz="3600" b="1" dirty="0"/>
              <a:t>Checking Whether a Schedule is View Serializable Or Not</a:t>
            </a:r>
            <a:br>
              <a:rPr lang="en-US" sz="3600" b="1" dirty="0"/>
            </a:b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76400"/>
            <a:ext cx="8229600" cy="4525963"/>
          </a:xfrm>
        </p:spPr>
        <p:txBody>
          <a:bodyPr>
            <a:normAutofit fontScale="85000" lnSpcReduction="10000"/>
          </a:bodyPr>
          <a:lstStyle/>
          <a:p>
            <a:pPr marL="0" indent="0" fontAlgn="base">
              <a:buNone/>
            </a:pPr>
            <a:r>
              <a:rPr lang="en-US" b="1" u="sng" dirty="0"/>
              <a:t>Method-01:</a:t>
            </a:r>
            <a:endParaRPr lang="en-US" b="1" dirty="0"/>
          </a:p>
          <a:p>
            <a:pPr marL="0" indent="0" fontAlgn="base">
              <a:buNone/>
            </a:pPr>
            <a:r>
              <a:rPr lang="en-US" dirty="0"/>
              <a:t> </a:t>
            </a:r>
          </a:p>
          <a:p>
            <a:pPr fontAlgn="base">
              <a:buFont typeface="Wingdings" panose="05000000000000000000" pitchFamily="2" charset="2"/>
              <a:buChar char="§"/>
            </a:pPr>
            <a:r>
              <a:rPr lang="en-US" dirty="0"/>
              <a:t>Check whether the given schedule is conflict serializable or not.</a:t>
            </a:r>
          </a:p>
          <a:p>
            <a:pPr fontAlgn="base">
              <a:buFont typeface="Wingdings" panose="05000000000000000000" pitchFamily="2" charset="2"/>
              <a:buChar char="§"/>
            </a:pPr>
            <a:r>
              <a:rPr lang="en-US" dirty="0"/>
              <a:t>If the given schedule is conflict serializable, then it is surely view serializable. Stop and report your answer.</a:t>
            </a:r>
          </a:p>
          <a:p>
            <a:pPr fontAlgn="base">
              <a:buFont typeface="Wingdings" panose="05000000000000000000" pitchFamily="2" charset="2"/>
              <a:buChar char="§"/>
            </a:pPr>
            <a:r>
              <a:rPr lang="en-US" dirty="0"/>
              <a:t>If the given schedule is not conflict serializable, then it may or may not be view serializable. Go and check using other methods.</a:t>
            </a:r>
          </a:p>
          <a:p>
            <a:pPr marL="0" indent="0" fontAlgn="base">
              <a:buNone/>
            </a:pPr>
            <a:r>
              <a:rPr lang="en-US" dirty="0"/>
              <a:t>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646698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br>
              <a:rPr lang="en-US" sz="3200" b="1" dirty="0"/>
            </a:br>
            <a:r>
              <a:rPr lang="en-US" sz="3200" b="1" dirty="0"/>
              <a:t>Checking Whether a Schedule is View Serializable Or Not</a:t>
            </a:r>
            <a:br>
              <a:rPr lang="en-US" sz="3200" b="1" dirty="0"/>
            </a:b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>
              <a:buFont typeface="Wingdings" panose="05000000000000000000" pitchFamily="2" charset="2"/>
              <a:buChar char="§"/>
            </a:pPr>
            <a:r>
              <a:rPr lang="en-US" dirty="0"/>
              <a:t>All conflict serializable schedules are view serializable.</a:t>
            </a:r>
          </a:p>
          <a:p>
            <a:pPr fontAlgn="base">
              <a:buFont typeface="Wingdings" panose="05000000000000000000" pitchFamily="2" charset="2"/>
              <a:buChar char="§"/>
            </a:pPr>
            <a:r>
              <a:rPr lang="en-US" dirty="0"/>
              <a:t>All view serializable schedules may or may not be conflict serializable.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255738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b="1" dirty="0"/>
              <a:t>Checking Whether a Schedule is View Serializable Or Not</a:t>
            </a:r>
            <a:br>
              <a:rPr lang="en-US" sz="3200" b="1" dirty="0"/>
            </a:b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 fontAlgn="base">
              <a:buNone/>
            </a:pPr>
            <a:r>
              <a:rPr lang="en-US" b="1" u="sng" dirty="0"/>
              <a:t>Method-02:</a:t>
            </a:r>
            <a:endParaRPr lang="en-US" b="1" dirty="0"/>
          </a:p>
          <a:p>
            <a:pPr marL="0" indent="0" fontAlgn="base">
              <a:buNone/>
            </a:pPr>
            <a:r>
              <a:rPr lang="en-US" dirty="0"/>
              <a:t> </a:t>
            </a:r>
          </a:p>
          <a:p>
            <a:pPr fontAlgn="base">
              <a:buFont typeface="Wingdings" panose="05000000000000000000" pitchFamily="2" charset="2"/>
              <a:buChar char="§"/>
            </a:pPr>
            <a:r>
              <a:rPr lang="en-US" dirty="0"/>
              <a:t>Check if there exists any blind write operation.</a:t>
            </a:r>
          </a:p>
          <a:p>
            <a:pPr marL="0" indent="0" fontAlgn="base">
              <a:buNone/>
            </a:pPr>
            <a:r>
              <a:rPr lang="en-US" dirty="0"/>
              <a:t>   (Writing without reading is called as a blind write).</a:t>
            </a:r>
          </a:p>
          <a:p>
            <a:pPr fontAlgn="base">
              <a:buFont typeface="Wingdings" panose="05000000000000000000" pitchFamily="2" charset="2"/>
              <a:buChar char="§"/>
            </a:pPr>
            <a:r>
              <a:rPr lang="en-US" dirty="0"/>
              <a:t>If there does not exist any blind write, then the schedule is surely not view serializable. Stop and report your answer.</a:t>
            </a:r>
          </a:p>
          <a:p>
            <a:pPr fontAlgn="base">
              <a:buFont typeface="Wingdings" panose="05000000000000000000" pitchFamily="2" charset="2"/>
              <a:buChar char="§"/>
            </a:pPr>
            <a:r>
              <a:rPr lang="en-US" dirty="0"/>
              <a:t>If there exists any blind write, then the schedule may or may not be view serializable. Go and check using other methods.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888829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sz="3600" b="1" dirty="0"/>
            </a:br>
            <a:r>
              <a:rPr lang="en-US" sz="3600" b="1" dirty="0"/>
              <a:t>Checking Whether a Schedule is View Seriali</a:t>
            </a:r>
            <a:r>
              <a:rPr lang="en-US" b="1" dirty="0"/>
              <a:t>zable Or Not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 blind write means not a view serializable schedule.</a:t>
            </a:r>
          </a:p>
        </p:txBody>
      </p:sp>
    </p:spTree>
    <p:extLst>
      <p:ext uri="{BB962C8B-B14F-4D97-AF65-F5344CB8AC3E}">
        <p14:creationId xmlns:p14="http://schemas.microsoft.com/office/powerpoint/2010/main" val="339920838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br>
              <a:rPr lang="en-US" sz="3200" b="1" dirty="0"/>
            </a:br>
            <a:r>
              <a:rPr lang="en-US" sz="3200" b="1" dirty="0"/>
              <a:t>Checking Whether a Schedule is View Serializable Or Not</a:t>
            </a:r>
            <a:br>
              <a:rPr lang="en-US" sz="3200" b="1" dirty="0"/>
            </a:b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 fontAlgn="base">
              <a:buNone/>
            </a:pPr>
            <a:r>
              <a:rPr lang="en-US" b="1" u="sng" dirty="0"/>
              <a:t>Method-03:</a:t>
            </a:r>
            <a:endParaRPr lang="en-US" b="1" dirty="0"/>
          </a:p>
          <a:p>
            <a:pPr marL="0" indent="0" fontAlgn="base">
              <a:buNone/>
            </a:pPr>
            <a:r>
              <a:rPr lang="en-US" dirty="0"/>
              <a:t> </a:t>
            </a:r>
          </a:p>
          <a:p>
            <a:pPr fontAlgn="base">
              <a:buFont typeface="Wingdings" panose="05000000000000000000" pitchFamily="2" charset="2"/>
              <a:buChar char="§"/>
            </a:pPr>
            <a:r>
              <a:rPr lang="en-US" dirty="0"/>
              <a:t>In this method, try finding a view equivalent serial schedule.</a:t>
            </a:r>
          </a:p>
          <a:p>
            <a:pPr fontAlgn="base">
              <a:buFont typeface="Wingdings" panose="05000000000000000000" pitchFamily="2" charset="2"/>
              <a:buChar char="§"/>
            </a:pPr>
            <a:r>
              <a:rPr lang="en-US" dirty="0"/>
              <a:t>By using the above three conditions, write all the dependencies.</a:t>
            </a:r>
          </a:p>
          <a:p>
            <a:pPr fontAlgn="base">
              <a:buFont typeface="Wingdings" panose="05000000000000000000" pitchFamily="2" charset="2"/>
              <a:buChar char="§"/>
            </a:pPr>
            <a:r>
              <a:rPr lang="en-US" dirty="0"/>
              <a:t>Then, draw a graph using those dependencies.</a:t>
            </a:r>
          </a:p>
          <a:p>
            <a:pPr fontAlgn="base">
              <a:buFont typeface="Wingdings" panose="05000000000000000000" pitchFamily="2" charset="2"/>
              <a:buChar char="§"/>
            </a:pPr>
            <a:r>
              <a:rPr lang="en-US" dirty="0"/>
              <a:t>If there exists no cycle in the graph, then the schedule is view serializable otherwise not.</a:t>
            </a:r>
          </a:p>
          <a:p>
            <a:pPr marL="0" indent="0" fontAlgn="base">
              <a:buNone/>
            </a:pPr>
            <a:r>
              <a:rPr lang="en-US" dirty="0"/>
              <a:t>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39071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 algn="l"/>
            <a:br>
              <a:rPr kumimoji="0" lang="en-US" altLang="en-US" b="1" i="0" strike="noStrike" cap="none" normalizeH="0" baseline="0" dirty="0">
                <a:ln>
                  <a:noFill/>
                </a:ln>
                <a:solidFill>
                  <a:srgbClr val="303030"/>
                </a:solidFill>
                <a:effectLst/>
                <a:latin typeface="Roboto Condensed"/>
                <a:cs typeface="Arial" pitchFamily="34" charset="0"/>
              </a:rPr>
            </a:br>
            <a:r>
              <a:rPr kumimoji="0" lang="en-US" altLang="en-US" b="1" i="0" strike="noStrike" cap="none" normalizeH="0" baseline="0" dirty="0">
                <a:ln>
                  <a:noFill/>
                </a:ln>
                <a:solidFill>
                  <a:srgbClr val="303030"/>
                </a:solidFill>
                <a:effectLst/>
                <a:latin typeface="Roboto Condensed"/>
                <a:cs typeface="Arial" pitchFamily="34" charset="0"/>
              </a:rPr>
              <a:t>Problem-01</a:t>
            </a:r>
            <a:br>
              <a:rPr kumimoji="0" lang="en-US" altLang="en-US" b="1" i="0" strike="noStrike" cap="none" normalizeH="0" baseline="0" dirty="0">
                <a:ln>
                  <a:noFill/>
                </a:ln>
                <a:solidFill>
                  <a:srgbClr val="303030"/>
                </a:solidFill>
                <a:effectLst/>
                <a:latin typeface="Roboto Condensed"/>
                <a:cs typeface="Arial" pitchFamily="34" charset="0"/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303030"/>
                </a:solidFill>
                <a:effectLst/>
                <a:latin typeface="Arimo"/>
                <a:cs typeface="Arial" pitchFamily="34" charset="0"/>
              </a:rPr>
              <a:t> Check whether the given schedule S is view serializable or not.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endParaRPr lang="en-US" dirty="0"/>
          </a:p>
        </p:txBody>
      </p:sp>
      <p:pic>
        <p:nvPicPr>
          <p:cNvPr id="6146" name="Picture 2" descr="https://www.gatevidyalay.com/wp-content/uploads/2018/06/View-Serializability-Problem-0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2590800"/>
            <a:ext cx="6657975" cy="3733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4589444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br>
              <a:rPr lang="en-US" b="1" u="sng" dirty="0"/>
            </a:br>
            <a:r>
              <a:rPr lang="en-US" b="1" u="sng" dirty="0"/>
              <a:t>Solution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>
              <a:buFont typeface="Wingdings" panose="05000000000000000000" pitchFamily="2" charset="2"/>
              <a:buChar char="§"/>
            </a:pPr>
            <a:r>
              <a:rPr lang="en-US" dirty="0"/>
              <a:t>We know, if a schedule is conflict serializable, then it is surely view serializable.</a:t>
            </a:r>
          </a:p>
          <a:p>
            <a:pPr fontAlgn="base">
              <a:buFont typeface="Wingdings" panose="05000000000000000000" pitchFamily="2" charset="2"/>
              <a:buChar char="§"/>
            </a:pPr>
            <a:r>
              <a:rPr lang="en-US" dirty="0"/>
              <a:t>So, let us check whether the given schedule is conflict serializable or not.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48332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br>
              <a:rPr lang="en-US" b="1" u="sng" dirty="0"/>
            </a:br>
            <a:r>
              <a:rPr lang="en-US" b="1" u="sng" dirty="0"/>
              <a:t>Solution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 fontAlgn="base">
              <a:buNone/>
            </a:pPr>
            <a:r>
              <a:rPr lang="en-US" b="1" u="sng" dirty="0"/>
              <a:t>Checking Whether S is Conflict Serializable Or Not</a:t>
            </a:r>
            <a:r>
              <a:rPr lang="en-US" dirty="0"/>
              <a:t> </a:t>
            </a:r>
          </a:p>
          <a:p>
            <a:pPr marL="0" indent="0" fontAlgn="base">
              <a:buNone/>
            </a:pPr>
            <a:r>
              <a:rPr lang="en-US" b="1" u="sng" dirty="0"/>
              <a:t>Step-01:</a:t>
            </a:r>
            <a:endParaRPr lang="en-US" b="1" dirty="0"/>
          </a:p>
          <a:p>
            <a:pPr marL="0" indent="0" fontAlgn="base">
              <a:buNone/>
            </a:pPr>
            <a:r>
              <a:rPr lang="en-US" dirty="0"/>
              <a:t>List all the conflicting operations and determine the dependency between the transactions-</a:t>
            </a:r>
          </a:p>
          <a:p>
            <a:pPr marL="571500" indent="-571500" fontAlgn="base">
              <a:buFont typeface="+mj-lt"/>
              <a:buAutoNum type="arabicPeriod"/>
            </a:pPr>
            <a:r>
              <a:rPr lang="en-US" dirty="0"/>
              <a:t>W</a:t>
            </a:r>
            <a:r>
              <a:rPr lang="en-US" baseline="-25000" dirty="0"/>
              <a:t>1</a:t>
            </a:r>
            <a:r>
              <a:rPr lang="en-US" dirty="0"/>
              <a:t>(B) , W</a:t>
            </a:r>
            <a:r>
              <a:rPr lang="en-US" baseline="-25000" dirty="0"/>
              <a:t>2</a:t>
            </a:r>
            <a:r>
              <a:rPr lang="en-US" dirty="0"/>
              <a:t>(B)              (T</a:t>
            </a:r>
            <a:r>
              <a:rPr lang="en-US" baseline="-25000" dirty="0"/>
              <a:t>1</a:t>
            </a:r>
            <a:r>
              <a:rPr lang="en-US" dirty="0"/>
              <a:t> → T</a:t>
            </a:r>
            <a:r>
              <a:rPr lang="en-US" baseline="-25000" dirty="0"/>
              <a:t>2</a:t>
            </a:r>
            <a:r>
              <a:rPr lang="en-US" dirty="0"/>
              <a:t>)</a:t>
            </a:r>
          </a:p>
          <a:p>
            <a:pPr marL="571500" indent="-571500" fontAlgn="base">
              <a:buFont typeface="+mj-lt"/>
              <a:buAutoNum type="arabicPeriod"/>
            </a:pPr>
            <a:r>
              <a:rPr lang="en-US" dirty="0"/>
              <a:t>W</a:t>
            </a:r>
            <a:r>
              <a:rPr lang="en-US" baseline="-25000" dirty="0"/>
              <a:t>1</a:t>
            </a:r>
            <a:r>
              <a:rPr lang="en-US" dirty="0"/>
              <a:t>(B) , W</a:t>
            </a:r>
            <a:r>
              <a:rPr lang="en-US" baseline="-25000" dirty="0"/>
              <a:t>3</a:t>
            </a:r>
            <a:r>
              <a:rPr lang="en-US" dirty="0"/>
              <a:t>(B)              (T</a:t>
            </a:r>
            <a:r>
              <a:rPr lang="en-US" baseline="-25000" dirty="0"/>
              <a:t>1</a:t>
            </a:r>
            <a:r>
              <a:rPr lang="en-US" dirty="0"/>
              <a:t> → T</a:t>
            </a:r>
            <a:r>
              <a:rPr lang="en-US" baseline="-25000" dirty="0"/>
              <a:t>3</a:t>
            </a:r>
            <a:r>
              <a:rPr lang="en-US" dirty="0"/>
              <a:t>)</a:t>
            </a:r>
          </a:p>
          <a:p>
            <a:pPr marL="571500" indent="-571500" fontAlgn="base">
              <a:buFont typeface="+mj-lt"/>
              <a:buAutoNum type="arabicPeriod"/>
            </a:pPr>
            <a:r>
              <a:rPr lang="en-US" dirty="0"/>
              <a:t>W</a:t>
            </a:r>
            <a:r>
              <a:rPr lang="en-US" baseline="-25000" dirty="0"/>
              <a:t>1</a:t>
            </a:r>
            <a:r>
              <a:rPr lang="en-US" dirty="0"/>
              <a:t>(B) , W</a:t>
            </a:r>
            <a:r>
              <a:rPr lang="en-US" baseline="-25000" dirty="0"/>
              <a:t>4</a:t>
            </a:r>
            <a:r>
              <a:rPr lang="en-US" dirty="0"/>
              <a:t>(B)              (T</a:t>
            </a:r>
            <a:r>
              <a:rPr lang="en-US" baseline="-25000" dirty="0"/>
              <a:t>1</a:t>
            </a:r>
            <a:r>
              <a:rPr lang="en-US" dirty="0"/>
              <a:t> → T</a:t>
            </a:r>
            <a:r>
              <a:rPr lang="en-US" baseline="-25000" dirty="0"/>
              <a:t>4</a:t>
            </a:r>
            <a:r>
              <a:rPr lang="en-US" dirty="0"/>
              <a:t>)</a:t>
            </a:r>
          </a:p>
          <a:p>
            <a:pPr marL="571500" indent="-571500" fontAlgn="base">
              <a:buFont typeface="+mj-lt"/>
              <a:buAutoNum type="arabicPeriod"/>
            </a:pPr>
            <a:r>
              <a:rPr lang="en-US" dirty="0"/>
              <a:t>W</a:t>
            </a:r>
            <a:r>
              <a:rPr lang="en-US" baseline="-25000" dirty="0"/>
              <a:t>2</a:t>
            </a:r>
            <a:r>
              <a:rPr lang="en-US" dirty="0"/>
              <a:t>(B) , W</a:t>
            </a:r>
            <a:r>
              <a:rPr lang="en-US" baseline="-25000" dirty="0"/>
              <a:t>3</a:t>
            </a:r>
            <a:r>
              <a:rPr lang="en-US" dirty="0"/>
              <a:t>(B)              (T</a:t>
            </a:r>
            <a:r>
              <a:rPr lang="en-US" baseline="-25000" dirty="0"/>
              <a:t>2</a:t>
            </a:r>
            <a:r>
              <a:rPr lang="en-US" dirty="0"/>
              <a:t> → T</a:t>
            </a:r>
            <a:r>
              <a:rPr lang="en-US" baseline="-25000" dirty="0"/>
              <a:t>3</a:t>
            </a:r>
            <a:r>
              <a:rPr lang="en-US" dirty="0"/>
              <a:t>)</a:t>
            </a:r>
          </a:p>
          <a:p>
            <a:pPr marL="571500" indent="-571500" fontAlgn="base">
              <a:buFont typeface="+mj-lt"/>
              <a:buAutoNum type="arabicPeriod"/>
            </a:pPr>
            <a:r>
              <a:rPr lang="en-US" dirty="0"/>
              <a:t>W</a:t>
            </a:r>
            <a:r>
              <a:rPr lang="en-US" baseline="-25000" dirty="0"/>
              <a:t>2</a:t>
            </a:r>
            <a:r>
              <a:rPr lang="en-US" dirty="0"/>
              <a:t>(B) , W</a:t>
            </a:r>
            <a:r>
              <a:rPr lang="en-US" baseline="-25000" dirty="0"/>
              <a:t>4</a:t>
            </a:r>
            <a:r>
              <a:rPr lang="en-US" dirty="0"/>
              <a:t>(B)              (T</a:t>
            </a:r>
            <a:r>
              <a:rPr lang="en-US" baseline="-25000" dirty="0"/>
              <a:t>2</a:t>
            </a:r>
            <a:r>
              <a:rPr lang="en-US" dirty="0"/>
              <a:t> → T</a:t>
            </a:r>
            <a:r>
              <a:rPr lang="en-US" baseline="-25000" dirty="0"/>
              <a:t>4</a:t>
            </a:r>
            <a:r>
              <a:rPr lang="en-US" dirty="0"/>
              <a:t>)</a:t>
            </a:r>
          </a:p>
          <a:p>
            <a:pPr marL="571500" indent="-571500" fontAlgn="base">
              <a:buFont typeface="+mj-lt"/>
              <a:buAutoNum type="arabicPeriod"/>
            </a:pPr>
            <a:r>
              <a:rPr lang="en-US" dirty="0"/>
              <a:t>W</a:t>
            </a:r>
            <a:r>
              <a:rPr lang="en-US" baseline="-25000" dirty="0"/>
              <a:t>3</a:t>
            </a:r>
            <a:r>
              <a:rPr lang="en-US" dirty="0"/>
              <a:t>(B) , W</a:t>
            </a:r>
            <a:r>
              <a:rPr lang="en-US" baseline="-25000" dirty="0"/>
              <a:t>4</a:t>
            </a:r>
            <a:r>
              <a:rPr lang="en-US" dirty="0"/>
              <a:t>(B)              (T</a:t>
            </a:r>
            <a:r>
              <a:rPr lang="en-US" baseline="-25000" dirty="0"/>
              <a:t>3</a:t>
            </a:r>
            <a:r>
              <a:rPr lang="en-US" dirty="0"/>
              <a:t> → T</a:t>
            </a:r>
            <a:r>
              <a:rPr lang="en-US" baseline="-25000" dirty="0"/>
              <a:t>4</a:t>
            </a:r>
            <a:r>
              <a:rPr lang="en-US" dirty="0"/>
              <a:t>)</a:t>
            </a:r>
          </a:p>
          <a:p>
            <a:pPr marL="571500" indent="-57150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668495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br>
              <a:rPr lang="en-US" b="1" u="sng" dirty="0"/>
            </a:br>
            <a:r>
              <a:rPr lang="en-US" b="1" u="sng" dirty="0"/>
              <a:t>Solution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410200"/>
          </a:xfrm>
        </p:spPr>
        <p:txBody>
          <a:bodyPr>
            <a:normAutofit fontScale="62500" lnSpcReduction="20000"/>
          </a:bodyPr>
          <a:lstStyle/>
          <a:p>
            <a:pPr marL="0" indent="0" fontAlgn="base">
              <a:buNone/>
            </a:pPr>
            <a:r>
              <a:rPr lang="en-US" sz="4500" b="1" u="sng" dirty="0"/>
              <a:t>Step-02:</a:t>
            </a:r>
            <a:endParaRPr lang="en-US" sz="4500" b="1" dirty="0"/>
          </a:p>
          <a:p>
            <a:pPr marL="0" indent="0" fontAlgn="base">
              <a:buNone/>
            </a:pPr>
            <a:r>
              <a:rPr lang="en-US" sz="3800" dirty="0"/>
              <a:t>Draw the precedence graph.</a:t>
            </a:r>
          </a:p>
          <a:p>
            <a:pPr fontAlgn="base"/>
            <a:endParaRPr lang="en-US" dirty="0"/>
          </a:p>
          <a:p>
            <a:pPr marL="0" indent="0" fontAlgn="base">
              <a:buNone/>
            </a:pPr>
            <a:r>
              <a:rPr lang="en-US" dirty="0"/>
              <a:t> </a:t>
            </a:r>
          </a:p>
          <a:p>
            <a:pPr marL="0" indent="0" fontAlgn="base">
              <a:buNone/>
            </a:pPr>
            <a:endParaRPr lang="en-US" dirty="0"/>
          </a:p>
          <a:p>
            <a:pPr marL="0" indent="0" fontAlgn="base">
              <a:buNone/>
            </a:pPr>
            <a:endParaRPr lang="en-US" dirty="0"/>
          </a:p>
          <a:p>
            <a:pPr marL="0" indent="0" fontAlgn="base">
              <a:buNone/>
            </a:pPr>
            <a:endParaRPr lang="en-US" dirty="0"/>
          </a:p>
          <a:p>
            <a:pPr marL="0" indent="0" fontAlgn="base">
              <a:buNone/>
            </a:pPr>
            <a:endParaRPr lang="en-US" dirty="0"/>
          </a:p>
          <a:p>
            <a:pPr marL="0" indent="0" fontAlgn="base">
              <a:buNone/>
            </a:pPr>
            <a:endParaRPr lang="en-US" dirty="0"/>
          </a:p>
          <a:p>
            <a:pPr marL="0" indent="0" fontAlgn="base">
              <a:buNone/>
            </a:pPr>
            <a:endParaRPr lang="en-US" sz="4000" dirty="0"/>
          </a:p>
          <a:p>
            <a:pPr marL="0" indent="0" fontAlgn="base">
              <a:buNone/>
            </a:pPr>
            <a:r>
              <a:rPr lang="en-US" sz="4000" dirty="0"/>
              <a:t>Clearly, there exists no cycle in the precedence graph.</a:t>
            </a:r>
          </a:p>
          <a:p>
            <a:pPr fontAlgn="base">
              <a:buFont typeface="Wingdings" panose="05000000000000000000" pitchFamily="2" charset="2"/>
              <a:buChar char="§"/>
            </a:pPr>
            <a:r>
              <a:rPr lang="en-US" sz="4000" dirty="0"/>
              <a:t>Therefore, the given schedule S is conflict serializable.</a:t>
            </a:r>
          </a:p>
          <a:p>
            <a:pPr fontAlgn="base">
              <a:buFont typeface="Wingdings" panose="05000000000000000000" pitchFamily="2" charset="2"/>
              <a:buChar char="§"/>
            </a:pPr>
            <a:r>
              <a:rPr lang="en-US" sz="4000" dirty="0"/>
              <a:t>Thus, we conclude that the given schedule is also view serializable.</a:t>
            </a:r>
          </a:p>
          <a:p>
            <a:pPr marL="0" indent="0" fontAlgn="base">
              <a:buNone/>
            </a:pPr>
            <a:r>
              <a:rPr lang="en-US" sz="4000" dirty="0"/>
              <a:t> </a:t>
            </a:r>
          </a:p>
          <a:p>
            <a:endParaRPr 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3725" y="2481263"/>
            <a:ext cx="2876550" cy="1895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5027027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br>
              <a:rPr lang="en-US" b="1" u="sng" dirty="0"/>
            </a:br>
            <a:r>
              <a:rPr lang="en-US" b="1" u="sng" dirty="0"/>
              <a:t>Problem-02: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fontAlgn="base">
              <a:buFont typeface="Wingdings" panose="05000000000000000000" pitchFamily="2" charset="2"/>
              <a:buChar char="§"/>
            </a:pPr>
            <a:r>
              <a:rPr lang="en-US" dirty="0"/>
              <a:t>Check whether the given schedule S is view serializable or not-</a:t>
            </a:r>
          </a:p>
          <a:p>
            <a:pPr fontAlgn="base">
              <a:buFont typeface="Wingdings" panose="05000000000000000000" pitchFamily="2" charset="2"/>
              <a:buChar char="§"/>
            </a:pPr>
            <a:endParaRPr lang="en-US" dirty="0"/>
          </a:p>
          <a:p>
            <a:pPr fontAlgn="base"/>
            <a:endParaRPr lang="en-US" dirty="0"/>
          </a:p>
          <a:p>
            <a:pPr fontAlgn="base"/>
            <a:endParaRPr lang="en-US" dirty="0"/>
          </a:p>
          <a:p>
            <a:pPr fontAlgn="base"/>
            <a:endParaRPr lang="en-US" dirty="0"/>
          </a:p>
          <a:p>
            <a:pPr marL="0" indent="0" fontAlgn="base">
              <a:buNone/>
            </a:pPr>
            <a:r>
              <a:rPr lang="en-US" dirty="0"/>
              <a:t> </a:t>
            </a:r>
          </a:p>
          <a:p>
            <a:pPr marL="0" indent="0" fontAlgn="base">
              <a:buNone/>
            </a:pPr>
            <a:r>
              <a:rPr lang="en-US" dirty="0"/>
              <a:t> </a:t>
            </a:r>
          </a:p>
          <a:p>
            <a:endParaRPr lang="en-US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2667000"/>
            <a:ext cx="5410200" cy="358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5218076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 fontAlgn="base"/>
            <a:br>
              <a:rPr lang="en-US" dirty="0"/>
            </a:br>
            <a:br>
              <a:rPr lang="en-US" dirty="0"/>
            </a:br>
            <a:r>
              <a:rPr lang="en-US" b="1" u="sng" dirty="0"/>
              <a:t>Solution-</a:t>
            </a:r>
            <a:br>
              <a:rPr lang="en-US" b="1" dirty="0"/>
            </a:br>
            <a:r>
              <a:rPr lang="en-US" dirty="0"/>
              <a:t> 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fontAlgn="base">
              <a:buFont typeface="Wingdings" panose="05000000000000000000" pitchFamily="2" charset="2"/>
              <a:buChar char="§"/>
            </a:pPr>
            <a:r>
              <a:rPr lang="en-US" dirty="0"/>
              <a:t>We know, if a schedule is conflict serializable, then it is surely view serializable.</a:t>
            </a:r>
          </a:p>
          <a:p>
            <a:pPr fontAlgn="base">
              <a:buFont typeface="Wingdings" panose="05000000000000000000" pitchFamily="2" charset="2"/>
              <a:buChar char="§"/>
            </a:pPr>
            <a:r>
              <a:rPr lang="en-US" dirty="0"/>
              <a:t>So, let us check whether the given schedule is conflict serializable or not.</a:t>
            </a:r>
          </a:p>
          <a:p>
            <a:pPr marL="0" indent="0" fontAlgn="base">
              <a:buNone/>
            </a:pPr>
            <a:endParaRPr lang="en-US" dirty="0"/>
          </a:p>
          <a:p>
            <a:pPr fontAlgn="base">
              <a:buFont typeface="Wingdings" panose="05000000000000000000" pitchFamily="2" charset="2"/>
              <a:buChar char="§"/>
            </a:pPr>
            <a:r>
              <a:rPr lang="en-US" b="1" u="sng" dirty="0"/>
              <a:t>Checking Whether S is Conflict Serializable Or Not</a:t>
            </a:r>
            <a:endParaRPr lang="en-US" b="1" dirty="0"/>
          </a:p>
          <a:p>
            <a:pPr marL="0" indent="0" fontAlgn="base">
              <a:buNone/>
            </a:pPr>
            <a:endParaRPr lang="en-US" dirty="0"/>
          </a:p>
          <a:p>
            <a:pPr fontAlgn="base">
              <a:buFont typeface="Wingdings" panose="05000000000000000000" pitchFamily="2" charset="2"/>
              <a:buChar char="§"/>
            </a:pPr>
            <a:r>
              <a:rPr lang="en-US" b="1" u="sng" dirty="0"/>
              <a:t>Step-01:</a:t>
            </a:r>
            <a:endParaRPr lang="en-US" b="1" dirty="0"/>
          </a:p>
          <a:p>
            <a:pPr marL="0" indent="0" fontAlgn="base">
              <a:buNone/>
            </a:pPr>
            <a:endParaRPr lang="en-US" dirty="0"/>
          </a:p>
          <a:p>
            <a:pPr fontAlgn="base">
              <a:buFont typeface="Wingdings" panose="05000000000000000000" pitchFamily="2" charset="2"/>
              <a:buChar char="§"/>
            </a:pPr>
            <a:r>
              <a:rPr lang="en-US" dirty="0"/>
              <a:t>List all the conflicting operations and determine the dependency between the transactions.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513223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br>
              <a:rPr lang="en-US" b="1" u="sng" dirty="0"/>
            </a:br>
            <a:r>
              <a:rPr lang="en-US" b="1" u="sng" dirty="0"/>
              <a:t>Solution-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514350" indent="-514350" fontAlgn="base">
              <a:buFont typeface="+mj-lt"/>
              <a:buAutoNum type="arabicPeriod"/>
            </a:pPr>
            <a:r>
              <a:rPr lang="en-US" dirty="0"/>
              <a:t>R</a:t>
            </a:r>
            <a:r>
              <a:rPr lang="en-US" baseline="-25000" dirty="0"/>
              <a:t>1</a:t>
            </a:r>
            <a:r>
              <a:rPr lang="en-US" dirty="0"/>
              <a:t>(A) , W</a:t>
            </a:r>
            <a:r>
              <a:rPr lang="en-US" baseline="-25000" dirty="0"/>
              <a:t>3</a:t>
            </a:r>
            <a:r>
              <a:rPr lang="en-US" dirty="0"/>
              <a:t>(A)              (T</a:t>
            </a:r>
            <a:r>
              <a:rPr lang="en-US" baseline="-25000" dirty="0"/>
              <a:t>1</a:t>
            </a:r>
            <a:r>
              <a:rPr lang="en-US" dirty="0"/>
              <a:t> → T</a:t>
            </a:r>
            <a:r>
              <a:rPr lang="en-US" baseline="-25000" dirty="0"/>
              <a:t>3</a:t>
            </a:r>
            <a:r>
              <a:rPr lang="en-US" dirty="0"/>
              <a:t>)</a:t>
            </a:r>
          </a:p>
          <a:p>
            <a:pPr marL="514350" indent="-514350" fontAlgn="base">
              <a:buFont typeface="+mj-lt"/>
              <a:buAutoNum type="arabicPeriod"/>
            </a:pPr>
            <a:r>
              <a:rPr lang="en-US" dirty="0"/>
              <a:t>R</a:t>
            </a:r>
            <a:r>
              <a:rPr lang="en-US" baseline="-25000" dirty="0"/>
              <a:t>2</a:t>
            </a:r>
            <a:r>
              <a:rPr lang="en-US" dirty="0"/>
              <a:t>(A) , W</a:t>
            </a:r>
            <a:r>
              <a:rPr lang="en-US" baseline="-25000" dirty="0"/>
              <a:t>3</a:t>
            </a:r>
            <a:r>
              <a:rPr lang="en-US" dirty="0"/>
              <a:t>(A)              (T</a:t>
            </a:r>
            <a:r>
              <a:rPr lang="en-US" baseline="-25000" dirty="0"/>
              <a:t>2</a:t>
            </a:r>
            <a:r>
              <a:rPr lang="en-US" dirty="0"/>
              <a:t> → T</a:t>
            </a:r>
            <a:r>
              <a:rPr lang="en-US" baseline="-25000" dirty="0"/>
              <a:t>3</a:t>
            </a:r>
            <a:r>
              <a:rPr lang="en-US" dirty="0"/>
              <a:t>)</a:t>
            </a:r>
          </a:p>
          <a:p>
            <a:pPr marL="514350" indent="-514350" fontAlgn="base">
              <a:buFont typeface="+mj-lt"/>
              <a:buAutoNum type="arabicPeriod"/>
            </a:pPr>
            <a:r>
              <a:rPr lang="en-US" dirty="0"/>
              <a:t>R</a:t>
            </a:r>
            <a:r>
              <a:rPr lang="en-US" baseline="-25000" dirty="0"/>
              <a:t>2</a:t>
            </a:r>
            <a:r>
              <a:rPr lang="en-US" dirty="0"/>
              <a:t>(A) , W</a:t>
            </a:r>
            <a:r>
              <a:rPr lang="en-US" baseline="-25000" dirty="0"/>
              <a:t>1</a:t>
            </a:r>
            <a:r>
              <a:rPr lang="en-US" dirty="0"/>
              <a:t>(A)              (T</a:t>
            </a:r>
            <a:r>
              <a:rPr lang="en-US" baseline="-25000" dirty="0"/>
              <a:t>2</a:t>
            </a:r>
            <a:r>
              <a:rPr lang="en-US" dirty="0"/>
              <a:t> → T</a:t>
            </a:r>
            <a:r>
              <a:rPr lang="en-US" baseline="-25000" dirty="0"/>
              <a:t>1</a:t>
            </a:r>
            <a:r>
              <a:rPr lang="en-US" dirty="0"/>
              <a:t>)</a:t>
            </a:r>
          </a:p>
          <a:p>
            <a:pPr marL="514350" indent="-514350" fontAlgn="base">
              <a:buFont typeface="+mj-lt"/>
              <a:buAutoNum type="arabicPeriod"/>
            </a:pPr>
            <a:r>
              <a:rPr lang="en-US" dirty="0"/>
              <a:t>W</a:t>
            </a:r>
            <a:r>
              <a:rPr lang="en-US" baseline="-25000" dirty="0"/>
              <a:t>3</a:t>
            </a:r>
            <a:r>
              <a:rPr lang="en-US" dirty="0"/>
              <a:t>(A) , W</a:t>
            </a:r>
            <a:r>
              <a:rPr lang="en-US" baseline="-25000" dirty="0"/>
              <a:t>1</a:t>
            </a:r>
            <a:r>
              <a:rPr lang="en-US" dirty="0"/>
              <a:t>(A)             (T</a:t>
            </a:r>
            <a:r>
              <a:rPr lang="en-US" baseline="-25000" dirty="0"/>
              <a:t>3</a:t>
            </a:r>
            <a:r>
              <a:rPr lang="en-US" dirty="0"/>
              <a:t> → T</a:t>
            </a:r>
            <a:r>
              <a:rPr lang="en-US" baseline="-25000" dirty="0"/>
              <a:t>1</a:t>
            </a:r>
            <a:r>
              <a:rPr lang="en-US" dirty="0"/>
              <a:t>)</a:t>
            </a:r>
          </a:p>
          <a:p>
            <a:pPr marL="0" indent="0" fontAlgn="base">
              <a:buNone/>
            </a:pPr>
            <a:endParaRPr lang="en-US" dirty="0"/>
          </a:p>
          <a:p>
            <a:pPr fontAlgn="base">
              <a:buFont typeface="Wingdings" panose="05000000000000000000" pitchFamily="2" charset="2"/>
              <a:buChar char="§"/>
            </a:pPr>
            <a:r>
              <a:rPr lang="en-US" b="1" u="sng" dirty="0"/>
              <a:t>Step-02:</a:t>
            </a:r>
            <a:r>
              <a:rPr lang="en-US" b="1" dirty="0"/>
              <a:t>  </a:t>
            </a:r>
            <a:r>
              <a:rPr lang="en-US" dirty="0"/>
              <a:t>Draw the precedence graph.</a:t>
            </a:r>
          </a:p>
          <a:p>
            <a:pPr marL="0" indent="0" fontAlgn="base">
              <a:buNone/>
            </a:pPr>
            <a:r>
              <a:rPr lang="en-US" dirty="0"/>
              <a:t> 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4800600"/>
            <a:ext cx="3124200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163864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br>
              <a:rPr lang="en-US" b="1" u="sng" dirty="0"/>
            </a:br>
            <a:r>
              <a:rPr lang="en-US" b="1" u="sng" dirty="0"/>
              <a:t>Solution-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fontAlgn="base">
              <a:buFont typeface="Wingdings" panose="05000000000000000000" pitchFamily="2" charset="2"/>
              <a:buChar char="§"/>
            </a:pPr>
            <a:r>
              <a:rPr lang="en-US" dirty="0"/>
              <a:t>Clearly, there exists a cycle in the precedence graph. Therefore, </a:t>
            </a:r>
            <a:r>
              <a:rPr lang="en-US" b="1" i="1" dirty="0">
                <a:solidFill>
                  <a:srgbClr val="FF0000"/>
                </a:solidFill>
              </a:rPr>
              <a:t>the given schedule S is not conflict serializable</a:t>
            </a:r>
            <a:r>
              <a:rPr lang="en-US" dirty="0"/>
              <a:t>. </a:t>
            </a:r>
          </a:p>
          <a:p>
            <a:pPr fontAlgn="base">
              <a:buFont typeface="Wingdings" panose="05000000000000000000" pitchFamily="2" charset="2"/>
              <a:buChar char="§"/>
            </a:pPr>
            <a:r>
              <a:rPr lang="en-US" dirty="0"/>
              <a:t>Since, the given schedule S is not conflict serializable, so, it may or may not be view serializable.</a:t>
            </a:r>
          </a:p>
          <a:p>
            <a:pPr fontAlgn="base">
              <a:buFont typeface="Wingdings" panose="05000000000000000000" pitchFamily="2" charset="2"/>
              <a:buChar char="§"/>
            </a:pPr>
            <a:r>
              <a:rPr lang="en-US" dirty="0"/>
              <a:t>To check whether S is view serializable or not, let us use another method.</a:t>
            </a:r>
          </a:p>
          <a:p>
            <a:pPr fontAlgn="base">
              <a:buFont typeface="Wingdings" panose="05000000000000000000" pitchFamily="2" charset="2"/>
              <a:buChar char="§"/>
            </a:pPr>
            <a:r>
              <a:rPr lang="en-US" dirty="0"/>
              <a:t>Let us check for blind writes.</a:t>
            </a:r>
          </a:p>
          <a:p>
            <a:pPr marL="0" indent="0" fontAlgn="base">
              <a:buNone/>
            </a:pPr>
            <a:r>
              <a:rPr lang="en-US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93498960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br>
              <a:rPr lang="en-US" b="1" u="sng" dirty="0"/>
            </a:br>
            <a:r>
              <a:rPr lang="en-US" b="1" u="sng" dirty="0"/>
              <a:t>Solution-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 fontAlgn="base">
              <a:buNone/>
            </a:pPr>
            <a:r>
              <a:rPr lang="en-US" dirty="0"/>
              <a:t> </a:t>
            </a:r>
          </a:p>
          <a:p>
            <a:pPr marL="0" indent="0" fontAlgn="base">
              <a:buNone/>
            </a:pPr>
            <a:r>
              <a:rPr lang="en-US" b="1" u="sng" dirty="0"/>
              <a:t>Checking for Blind Writes-</a:t>
            </a:r>
            <a:endParaRPr lang="en-US" b="1" dirty="0"/>
          </a:p>
          <a:p>
            <a:pPr marL="0" indent="0" fontAlgn="base">
              <a:buNone/>
            </a:pPr>
            <a:r>
              <a:rPr lang="en-US" dirty="0"/>
              <a:t> </a:t>
            </a:r>
          </a:p>
          <a:p>
            <a:pPr fontAlgn="base">
              <a:buFont typeface="Wingdings" panose="05000000000000000000" pitchFamily="2" charset="2"/>
              <a:buChar char="§"/>
            </a:pPr>
            <a:r>
              <a:rPr lang="en-US" dirty="0"/>
              <a:t>There exists a blind write W</a:t>
            </a:r>
            <a:r>
              <a:rPr lang="en-US" baseline="-25000" dirty="0"/>
              <a:t>3 </a:t>
            </a:r>
            <a:r>
              <a:rPr lang="en-US" dirty="0"/>
              <a:t>(A) in the given schedule S.</a:t>
            </a:r>
          </a:p>
          <a:p>
            <a:pPr fontAlgn="base">
              <a:buFont typeface="Wingdings" panose="05000000000000000000" pitchFamily="2" charset="2"/>
              <a:buChar char="§"/>
            </a:pPr>
            <a:r>
              <a:rPr lang="en-US" dirty="0"/>
              <a:t>Therefore, the given schedule S may or may not be view serializable. </a:t>
            </a:r>
          </a:p>
          <a:p>
            <a:pPr fontAlgn="base">
              <a:buFont typeface="Wingdings" panose="05000000000000000000" pitchFamily="2" charset="2"/>
              <a:buChar char="§"/>
            </a:pPr>
            <a:r>
              <a:rPr lang="en-US" dirty="0"/>
              <a:t>Now, To check whether S is view serializable or not, let us use another method.</a:t>
            </a:r>
          </a:p>
          <a:p>
            <a:pPr fontAlgn="base">
              <a:buFont typeface="Wingdings" panose="05000000000000000000" pitchFamily="2" charset="2"/>
              <a:buChar char="§"/>
            </a:pPr>
            <a:r>
              <a:rPr lang="en-US" dirty="0"/>
              <a:t>Let us derive the dependencies and then draw a dependency graph.</a:t>
            </a:r>
          </a:p>
          <a:p>
            <a:pPr marL="0" indent="0" fontAlgn="base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231538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br>
              <a:rPr lang="en-US" b="1" u="sng" dirty="0"/>
            </a:br>
            <a:r>
              <a:rPr lang="en-US" b="1" u="sng" dirty="0"/>
              <a:t>Solution-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 fontAlgn="base">
              <a:buNone/>
            </a:pPr>
            <a:r>
              <a:rPr lang="en-US" b="1" u="sng" dirty="0"/>
              <a:t>Drawing a Dependency Graph-</a:t>
            </a:r>
            <a:endParaRPr lang="en-US" b="1" dirty="0"/>
          </a:p>
          <a:p>
            <a:pPr marL="0" indent="0" fontAlgn="base">
              <a:buNone/>
            </a:pPr>
            <a:r>
              <a:rPr lang="en-US" dirty="0"/>
              <a:t> </a:t>
            </a:r>
          </a:p>
          <a:p>
            <a:pPr fontAlgn="base">
              <a:buFont typeface="Wingdings" panose="05000000000000000000" pitchFamily="2" charset="2"/>
              <a:buChar char="§"/>
            </a:pPr>
            <a:r>
              <a:rPr lang="en-US" dirty="0"/>
              <a:t>T1 firstly reads A and T3 firstly updates A. So, T1 must execute before T3.</a:t>
            </a:r>
          </a:p>
          <a:p>
            <a:pPr fontAlgn="base">
              <a:buFont typeface="Wingdings" panose="05000000000000000000" pitchFamily="2" charset="2"/>
              <a:buChar char="§"/>
            </a:pPr>
            <a:r>
              <a:rPr lang="en-US" dirty="0"/>
              <a:t>Thus, we get the dependency </a:t>
            </a:r>
            <a:r>
              <a:rPr lang="en-US" b="1" dirty="0"/>
              <a:t>T1 → T3</a:t>
            </a:r>
            <a:r>
              <a:rPr lang="en-US" dirty="0"/>
              <a:t>.</a:t>
            </a:r>
          </a:p>
          <a:p>
            <a:pPr fontAlgn="base">
              <a:buFont typeface="Wingdings" panose="05000000000000000000" pitchFamily="2" charset="2"/>
              <a:buChar char="§"/>
            </a:pPr>
            <a:r>
              <a:rPr lang="en-US" dirty="0"/>
              <a:t>Finally  updating on A is made by the transaction T1. So, T1 must execute after all other transactions.</a:t>
            </a:r>
          </a:p>
          <a:p>
            <a:pPr fontAlgn="base">
              <a:buFont typeface="Wingdings" panose="05000000000000000000" pitchFamily="2" charset="2"/>
              <a:buChar char="§"/>
            </a:pPr>
            <a:r>
              <a:rPr lang="en-US" dirty="0"/>
              <a:t>Thus, we get the dependency </a:t>
            </a:r>
            <a:r>
              <a:rPr lang="en-US" b="1" dirty="0"/>
              <a:t>(T2, T3) → T1</a:t>
            </a:r>
            <a:r>
              <a:rPr lang="en-US" dirty="0"/>
              <a:t>. There exists no write-read sequence.</a:t>
            </a:r>
          </a:p>
          <a:p>
            <a:pPr fontAlgn="base">
              <a:buFont typeface="Wingdings" panose="05000000000000000000" pitchFamily="2" charset="2"/>
              <a:buChar char="§"/>
            </a:pPr>
            <a:endParaRPr lang="en-US" dirty="0"/>
          </a:p>
          <a:p>
            <a:pPr fontAlgn="base">
              <a:buFont typeface="Wingdings" panose="05000000000000000000" pitchFamily="2" charset="2"/>
              <a:buChar char="§"/>
            </a:pPr>
            <a:r>
              <a:rPr lang="en-US" dirty="0"/>
              <a:t>Now, let us draw a dependency graph using these dependencies</a:t>
            </a:r>
          </a:p>
          <a:p>
            <a:pPr fontAlgn="base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804257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br>
              <a:rPr lang="en-US" b="1" u="sng" dirty="0"/>
            </a:br>
            <a:r>
              <a:rPr lang="en-US" b="1" u="sng" dirty="0"/>
              <a:t>Solution-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endParaRPr lang="en-US" dirty="0"/>
          </a:p>
          <a:p>
            <a:pPr marL="0" indent="0" fontAlgn="base">
              <a:buNone/>
            </a:pPr>
            <a:r>
              <a:rPr lang="en-US" dirty="0"/>
              <a:t> </a:t>
            </a:r>
          </a:p>
          <a:p>
            <a:pPr fontAlgn="base">
              <a:buFont typeface="Wingdings" panose="05000000000000000000" pitchFamily="2" charset="2"/>
              <a:buChar char="§"/>
            </a:pPr>
            <a:endParaRPr lang="en-US" dirty="0"/>
          </a:p>
          <a:p>
            <a:pPr fontAlgn="base">
              <a:buFont typeface="Wingdings" panose="05000000000000000000" pitchFamily="2" charset="2"/>
              <a:buChar char="§"/>
            </a:pPr>
            <a:r>
              <a:rPr lang="en-US" dirty="0"/>
              <a:t>Clearly, there exists a cycle in the dependency graph.</a:t>
            </a:r>
          </a:p>
          <a:p>
            <a:pPr fontAlgn="base">
              <a:buFont typeface="Wingdings" panose="05000000000000000000" pitchFamily="2" charset="2"/>
              <a:buChar char="§"/>
            </a:pPr>
            <a:r>
              <a:rPr lang="en-US" dirty="0"/>
              <a:t>Thus, we conclude that the given schedule S is not view serializable.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524000"/>
            <a:ext cx="3429000" cy="175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1916804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br>
              <a:rPr lang="en-US" b="1" u="sng" dirty="0"/>
            </a:br>
            <a:r>
              <a:rPr lang="en-US" b="1" u="sng" dirty="0"/>
              <a:t>Problem-03: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fontAlgn="base">
              <a:buNone/>
            </a:pPr>
            <a:r>
              <a:rPr lang="en-US" dirty="0"/>
              <a:t>Check whether the given schedule S is view serializable or not-</a:t>
            </a:r>
          </a:p>
          <a:p>
            <a:pPr fontAlgn="base"/>
            <a:endParaRPr lang="en-US" dirty="0"/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067410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https://www.gatevidyalay.com/wp-content/uploads/2018/06/View-Serializability-Problem-0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228600"/>
            <a:ext cx="4989801" cy="5972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551742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br>
              <a:rPr lang="en-US" b="1" u="sng" dirty="0"/>
            </a:br>
            <a:r>
              <a:rPr lang="en-US" b="1" u="sng" dirty="0"/>
              <a:t>Solution-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>
              <a:buFont typeface="Wingdings" panose="05000000000000000000" pitchFamily="2" charset="2"/>
              <a:buChar char="§"/>
            </a:pPr>
            <a:r>
              <a:rPr lang="en-US" dirty="0"/>
              <a:t> We know, if a schedule is conflict serializable,</a:t>
            </a:r>
          </a:p>
          <a:p>
            <a:pPr marL="0" indent="0" fontAlgn="base">
              <a:buNone/>
            </a:pPr>
            <a:r>
              <a:rPr lang="en-US" dirty="0"/>
              <a:t>     then it is surely view serializable.</a:t>
            </a:r>
          </a:p>
          <a:p>
            <a:pPr marL="0" indent="0" fontAlgn="base">
              <a:buNone/>
            </a:pPr>
            <a:r>
              <a:rPr lang="en-US" dirty="0"/>
              <a:t>    So, let us check whether the given schedule is</a:t>
            </a:r>
          </a:p>
          <a:p>
            <a:pPr marL="0" indent="0" fontAlgn="base">
              <a:buNone/>
            </a:pPr>
            <a:r>
              <a:rPr lang="en-US" dirty="0"/>
              <a:t>     conflict serializable or not. </a:t>
            </a:r>
          </a:p>
          <a:p>
            <a:pPr fontAlgn="base">
              <a:buFont typeface="Wingdings" panose="05000000000000000000" pitchFamily="2" charset="2"/>
              <a:buChar char="§"/>
            </a:pPr>
            <a:endParaRPr lang="en-US" b="1" u="sng" dirty="0"/>
          </a:p>
        </p:txBody>
      </p:sp>
    </p:spTree>
    <p:extLst>
      <p:ext uri="{BB962C8B-B14F-4D97-AF65-F5344CB8AC3E}">
        <p14:creationId xmlns:p14="http://schemas.microsoft.com/office/powerpoint/2010/main" val="16287150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br>
              <a:rPr lang="en-US" b="1" u="sng" dirty="0"/>
            </a:br>
            <a:r>
              <a:rPr lang="en-US" b="1" u="sng" dirty="0"/>
              <a:t>Solution-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 fontAlgn="base">
              <a:buNone/>
            </a:pPr>
            <a:r>
              <a:rPr lang="en-US" b="1" u="sng" dirty="0"/>
              <a:t>Checking Whether S is Conflict Serializable Or Not-</a:t>
            </a:r>
            <a:endParaRPr lang="en-US" b="1" dirty="0"/>
          </a:p>
          <a:p>
            <a:pPr marL="0" indent="0" fontAlgn="base">
              <a:buNone/>
            </a:pPr>
            <a:r>
              <a:rPr lang="en-US" dirty="0"/>
              <a:t> </a:t>
            </a:r>
          </a:p>
          <a:p>
            <a:pPr fontAlgn="base">
              <a:buFont typeface="Wingdings" panose="05000000000000000000" pitchFamily="2" charset="2"/>
              <a:buChar char="§"/>
            </a:pPr>
            <a:r>
              <a:rPr lang="en-US" b="1" u="sng" dirty="0"/>
              <a:t>Step-01:</a:t>
            </a:r>
            <a:endParaRPr lang="en-US" b="1" dirty="0"/>
          </a:p>
          <a:p>
            <a:pPr marL="0" indent="0" fontAlgn="base">
              <a:buNone/>
            </a:pPr>
            <a:r>
              <a:rPr lang="en-US" dirty="0"/>
              <a:t> </a:t>
            </a:r>
          </a:p>
          <a:p>
            <a:pPr fontAlgn="base">
              <a:buFont typeface="Wingdings" panose="05000000000000000000" pitchFamily="2" charset="2"/>
              <a:buChar char="§"/>
            </a:pPr>
            <a:r>
              <a:rPr lang="en-US" dirty="0"/>
              <a:t>List all the conflicting operations and determine the dependency between the transactions-</a:t>
            </a:r>
          </a:p>
          <a:p>
            <a:pPr marL="514350" indent="-514350" fontAlgn="base">
              <a:buFont typeface="+mj-lt"/>
              <a:buAutoNum type="arabicPeriod"/>
            </a:pPr>
            <a:r>
              <a:rPr lang="en-US" dirty="0"/>
              <a:t>R</a:t>
            </a:r>
            <a:r>
              <a:rPr lang="en-US" baseline="-25000" dirty="0"/>
              <a:t>1</a:t>
            </a:r>
            <a:r>
              <a:rPr lang="en-US" dirty="0"/>
              <a:t>(A) , W</a:t>
            </a:r>
            <a:r>
              <a:rPr lang="en-US" baseline="-25000" dirty="0"/>
              <a:t>2</a:t>
            </a:r>
            <a:r>
              <a:rPr lang="en-US" dirty="0"/>
              <a:t>(A)              (T</a:t>
            </a:r>
            <a:r>
              <a:rPr lang="en-US" baseline="-25000" dirty="0"/>
              <a:t>1</a:t>
            </a:r>
            <a:r>
              <a:rPr lang="en-US" dirty="0"/>
              <a:t> → T</a:t>
            </a:r>
            <a:r>
              <a:rPr lang="en-US" baseline="-25000" dirty="0"/>
              <a:t>2</a:t>
            </a:r>
            <a:r>
              <a:rPr lang="en-US" dirty="0"/>
              <a:t>)</a:t>
            </a:r>
          </a:p>
          <a:p>
            <a:pPr marL="514350" indent="-514350" fontAlgn="base">
              <a:buFont typeface="+mj-lt"/>
              <a:buAutoNum type="arabicPeriod"/>
            </a:pPr>
            <a:r>
              <a:rPr lang="en-US" dirty="0"/>
              <a:t>R</a:t>
            </a:r>
            <a:r>
              <a:rPr lang="en-US" baseline="-25000" dirty="0"/>
              <a:t>2</a:t>
            </a:r>
            <a:r>
              <a:rPr lang="en-US" dirty="0"/>
              <a:t>(A) , W</a:t>
            </a:r>
            <a:r>
              <a:rPr lang="en-US" baseline="-25000" dirty="0"/>
              <a:t>1</a:t>
            </a:r>
            <a:r>
              <a:rPr lang="en-US" dirty="0"/>
              <a:t>(A)              (T</a:t>
            </a:r>
            <a:r>
              <a:rPr lang="en-US" baseline="-25000" dirty="0"/>
              <a:t>2</a:t>
            </a:r>
            <a:r>
              <a:rPr lang="en-US" dirty="0"/>
              <a:t> → T</a:t>
            </a:r>
            <a:r>
              <a:rPr lang="en-US" baseline="-25000" dirty="0"/>
              <a:t>1</a:t>
            </a:r>
            <a:r>
              <a:rPr lang="en-US" dirty="0"/>
              <a:t>)</a:t>
            </a:r>
          </a:p>
          <a:p>
            <a:pPr marL="514350" indent="-514350" fontAlgn="base">
              <a:buFont typeface="+mj-lt"/>
              <a:buAutoNum type="arabicPeriod"/>
            </a:pPr>
            <a:r>
              <a:rPr lang="en-US" dirty="0"/>
              <a:t>W</a:t>
            </a:r>
            <a:r>
              <a:rPr lang="en-US" baseline="-25000" dirty="0"/>
              <a:t>1</a:t>
            </a:r>
            <a:r>
              <a:rPr lang="en-US" dirty="0"/>
              <a:t>(A) , W</a:t>
            </a:r>
            <a:r>
              <a:rPr lang="en-US" baseline="-25000" dirty="0"/>
              <a:t>2</a:t>
            </a:r>
            <a:r>
              <a:rPr lang="en-US" dirty="0"/>
              <a:t>(A)             (T</a:t>
            </a:r>
            <a:r>
              <a:rPr lang="en-US" baseline="-25000" dirty="0"/>
              <a:t>1</a:t>
            </a:r>
            <a:r>
              <a:rPr lang="en-US" dirty="0"/>
              <a:t> → T</a:t>
            </a:r>
            <a:r>
              <a:rPr lang="en-US" baseline="-25000" dirty="0"/>
              <a:t>2</a:t>
            </a:r>
            <a:r>
              <a:rPr lang="en-US" dirty="0"/>
              <a:t>)</a:t>
            </a:r>
          </a:p>
          <a:p>
            <a:pPr marL="514350" indent="-514350" fontAlgn="base">
              <a:buFont typeface="+mj-lt"/>
              <a:buAutoNum type="arabicPeriod"/>
            </a:pPr>
            <a:r>
              <a:rPr lang="en-US" dirty="0"/>
              <a:t>R</a:t>
            </a:r>
            <a:r>
              <a:rPr lang="en-US" baseline="-25000" dirty="0"/>
              <a:t>1</a:t>
            </a:r>
            <a:r>
              <a:rPr lang="en-US" dirty="0"/>
              <a:t>(B) , W</a:t>
            </a:r>
            <a:r>
              <a:rPr lang="en-US" baseline="-25000" dirty="0"/>
              <a:t>2</a:t>
            </a:r>
            <a:r>
              <a:rPr lang="en-US" dirty="0"/>
              <a:t>(B)              (T</a:t>
            </a:r>
            <a:r>
              <a:rPr lang="en-US" baseline="-25000" dirty="0"/>
              <a:t>1</a:t>
            </a:r>
            <a:r>
              <a:rPr lang="en-US" dirty="0"/>
              <a:t> → T</a:t>
            </a:r>
            <a:r>
              <a:rPr lang="en-US" baseline="-25000" dirty="0"/>
              <a:t>2</a:t>
            </a:r>
            <a:r>
              <a:rPr lang="en-US" dirty="0"/>
              <a:t>)</a:t>
            </a:r>
          </a:p>
          <a:p>
            <a:pPr marL="514350" indent="-514350" fontAlgn="base">
              <a:buFont typeface="+mj-lt"/>
              <a:buAutoNum type="arabicPeriod"/>
            </a:pPr>
            <a:r>
              <a:rPr lang="en-US" dirty="0"/>
              <a:t>R</a:t>
            </a:r>
            <a:r>
              <a:rPr lang="en-US" baseline="-25000" dirty="0"/>
              <a:t>2</a:t>
            </a:r>
            <a:r>
              <a:rPr lang="en-US" dirty="0"/>
              <a:t>(B) , W</a:t>
            </a:r>
            <a:r>
              <a:rPr lang="en-US" baseline="-25000" dirty="0"/>
              <a:t>1</a:t>
            </a:r>
            <a:r>
              <a:rPr lang="en-US" dirty="0"/>
              <a:t>(B)              (T</a:t>
            </a:r>
            <a:r>
              <a:rPr lang="en-US" baseline="-25000" dirty="0"/>
              <a:t>2</a:t>
            </a:r>
            <a:r>
              <a:rPr lang="en-US" dirty="0"/>
              <a:t> → T</a:t>
            </a:r>
            <a:r>
              <a:rPr lang="en-US" baseline="-25000" dirty="0"/>
              <a:t>1</a:t>
            </a:r>
            <a:r>
              <a:rPr lang="en-US" dirty="0"/>
              <a:t>)</a:t>
            </a:r>
          </a:p>
          <a:p>
            <a:pPr marL="0" indent="0" fontAlgn="base">
              <a:buNone/>
            </a:pPr>
            <a:r>
              <a:rPr lang="en-US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73403836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br>
              <a:rPr lang="en-US" b="1" u="sng" dirty="0"/>
            </a:br>
            <a:r>
              <a:rPr lang="en-US" b="1" u="sng" dirty="0"/>
              <a:t>Solution-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fontAlgn="base">
              <a:buNone/>
            </a:pPr>
            <a:r>
              <a:rPr lang="en-US" b="1" u="sng" dirty="0"/>
              <a:t>Step-02:</a:t>
            </a:r>
            <a:endParaRPr lang="en-US" b="1" dirty="0"/>
          </a:p>
          <a:p>
            <a:pPr fontAlgn="base">
              <a:buFont typeface="Wingdings" panose="05000000000000000000" pitchFamily="2" charset="2"/>
              <a:buChar char="§"/>
            </a:pPr>
            <a:endParaRPr lang="en-US" dirty="0"/>
          </a:p>
          <a:p>
            <a:pPr fontAlgn="base">
              <a:buFont typeface="Wingdings" panose="05000000000000000000" pitchFamily="2" charset="2"/>
              <a:buChar char="§"/>
            </a:pPr>
            <a:r>
              <a:rPr lang="en-US" dirty="0"/>
              <a:t>Draw the precedence graph-</a:t>
            </a:r>
          </a:p>
          <a:p>
            <a:endParaRPr lang="en-US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3657600"/>
            <a:ext cx="2667000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4291907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br>
              <a:rPr lang="en-US" b="1" u="sng" dirty="0"/>
            </a:br>
            <a:r>
              <a:rPr lang="en-US" b="1" u="sng" dirty="0"/>
              <a:t>Solution-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fontAlgn="base">
              <a:buFont typeface="Wingdings" panose="05000000000000000000" pitchFamily="2" charset="2"/>
              <a:buChar char="§"/>
            </a:pPr>
            <a:r>
              <a:rPr lang="en-US" dirty="0"/>
              <a:t>Clearly, there exists a cycle in the precedence graph. Therefore, the given schedule S is not conflict serializable.</a:t>
            </a:r>
          </a:p>
          <a:p>
            <a:pPr fontAlgn="base">
              <a:buFont typeface="Wingdings" panose="05000000000000000000" pitchFamily="2" charset="2"/>
              <a:buChar char="§"/>
            </a:pPr>
            <a:r>
              <a:rPr lang="en-US" dirty="0"/>
              <a:t> Since, the given schedule S is not conflict serializable, so, it may or may not be view serializable.</a:t>
            </a:r>
          </a:p>
          <a:p>
            <a:pPr fontAlgn="base">
              <a:buFont typeface="Wingdings" panose="05000000000000000000" pitchFamily="2" charset="2"/>
              <a:buChar char="§"/>
            </a:pPr>
            <a:r>
              <a:rPr lang="en-US" dirty="0"/>
              <a:t>To check whether S is view serializable or not, let us use another method. Let us check for blind writes.</a:t>
            </a:r>
          </a:p>
          <a:p>
            <a:pPr fontAlgn="base">
              <a:buFont typeface="Wingdings" panose="05000000000000000000" pitchFamily="2" charset="2"/>
              <a:buChar char="§"/>
            </a:pPr>
            <a:r>
              <a:rPr lang="en-US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276792568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u="sng" dirty="0"/>
              <a:t>Solution-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en-US" b="1" u="sng" dirty="0"/>
              <a:t>Checking for Blind Writes-</a:t>
            </a:r>
            <a:endParaRPr lang="en-US" b="1" dirty="0"/>
          </a:p>
          <a:p>
            <a:pPr marL="0" indent="0" fontAlgn="base">
              <a:buNone/>
            </a:pPr>
            <a:r>
              <a:rPr lang="en-US" dirty="0"/>
              <a:t> </a:t>
            </a:r>
          </a:p>
          <a:p>
            <a:pPr fontAlgn="base">
              <a:buFont typeface="Wingdings" panose="05000000000000000000" pitchFamily="2" charset="2"/>
              <a:buChar char="§"/>
            </a:pPr>
            <a:r>
              <a:rPr lang="en-US" dirty="0"/>
              <a:t>There exists no blind write in the given schedule S.</a:t>
            </a:r>
          </a:p>
          <a:p>
            <a:pPr fontAlgn="base">
              <a:buFont typeface="Wingdings" panose="05000000000000000000" pitchFamily="2" charset="2"/>
              <a:buChar char="§"/>
            </a:pPr>
            <a:r>
              <a:rPr lang="en-US" dirty="0"/>
              <a:t>Therefore, it is surely not view serializable.</a:t>
            </a:r>
          </a:p>
          <a:p>
            <a:pPr marL="0" indent="0" fontAlgn="base">
              <a:buNone/>
            </a:pPr>
            <a:r>
              <a:rPr lang="en-US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420655997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br>
              <a:rPr lang="en-US" b="1" u="sng" dirty="0"/>
            </a:br>
            <a:r>
              <a:rPr lang="en-US" b="1" u="sng" dirty="0"/>
              <a:t>Problem-04: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 fontAlgn="base">
              <a:buNone/>
            </a:pPr>
            <a:r>
              <a:rPr lang="en-US" dirty="0"/>
              <a:t>Check whether the given schedule S is view serializable or not. If yes, then give the serial schedule.</a:t>
            </a:r>
          </a:p>
          <a:p>
            <a:pPr marL="0" indent="0" fontAlgn="base">
              <a:buNone/>
            </a:pPr>
            <a:r>
              <a:rPr lang="en-US" b="1" dirty="0"/>
              <a:t>S : R</a:t>
            </a:r>
            <a:r>
              <a:rPr lang="en-US" b="1" baseline="-25000" dirty="0"/>
              <a:t>1</a:t>
            </a:r>
            <a:r>
              <a:rPr lang="en-US" b="1" dirty="0"/>
              <a:t>(A) , W</a:t>
            </a:r>
            <a:r>
              <a:rPr lang="en-US" b="1" baseline="-25000" dirty="0"/>
              <a:t>2</a:t>
            </a:r>
            <a:r>
              <a:rPr lang="en-US" b="1" dirty="0"/>
              <a:t>(A) , R</a:t>
            </a:r>
            <a:r>
              <a:rPr lang="en-US" b="1" baseline="-25000" dirty="0"/>
              <a:t>3</a:t>
            </a:r>
            <a:r>
              <a:rPr lang="en-US" b="1" dirty="0"/>
              <a:t>(A) , W</a:t>
            </a:r>
            <a:r>
              <a:rPr lang="en-US" b="1" baseline="-25000" dirty="0"/>
              <a:t>1</a:t>
            </a:r>
            <a:r>
              <a:rPr lang="en-US" b="1" dirty="0"/>
              <a:t>(A) , W</a:t>
            </a:r>
            <a:r>
              <a:rPr lang="en-US" b="1" baseline="-25000" dirty="0"/>
              <a:t>3</a:t>
            </a:r>
            <a:r>
              <a:rPr lang="en-US" b="1" dirty="0"/>
              <a:t>(A)</a:t>
            </a:r>
            <a:endParaRPr lang="en-US" dirty="0"/>
          </a:p>
          <a:p>
            <a:pPr marL="0" indent="0" fontAlgn="base">
              <a:buNone/>
            </a:pPr>
            <a:r>
              <a:rPr lang="en-US" dirty="0"/>
              <a:t> </a:t>
            </a:r>
          </a:p>
          <a:p>
            <a:pPr marL="0" indent="0" fontAlgn="base">
              <a:buNone/>
            </a:pPr>
            <a:r>
              <a:rPr lang="en-US" b="1" u="sng" dirty="0"/>
              <a:t>Solution-</a:t>
            </a:r>
            <a:endParaRPr lang="en-US" b="1" dirty="0"/>
          </a:p>
          <a:p>
            <a:pPr marL="0" indent="0" fontAlgn="base">
              <a:buNone/>
            </a:pPr>
            <a:r>
              <a:rPr lang="en-US" dirty="0"/>
              <a:t> </a:t>
            </a:r>
          </a:p>
          <a:p>
            <a:pPr fontAlgn="base">
              <a:buFont typeface="Wingdings" panose="05000000000000000000" pitchFamily="2" charset="2"/>
              <a:buChar char="§"/>
            </a:pPr>
            <a:r>
              <a:rPr lang="en-US" dirty="0"/>
              <a:t>For simplicity and better understanding, we can represent the given schedule pictorially as.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94289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b="1" u="sng" dirty="0"/>
              <a:t>Solution-</a:t>
            </a:r>
            <a:endParaRPr lang="en-US" dirty="0"/>
          </a:p>
        </p:txBody>
      </p:sp>
      <p:pic>
        <p:nvPicPr>
          <p:cNvPr id="1331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752600"/>
            <a:ext cx="6324600" cy="419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9489219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u="sng" dirty="0"/>
              <a:t>Solution-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486400"/>
          </a:xfrm>
        </p:spPr>
        <p:txBody>
          <a:bodyPr>
            <a:normAutofit fontScale="62500" lnSpcReduction="20000"/>
          </a:bodyPr>
          <a:lstStyle/>
          <a:p>
            <a:pPr marL="0" indent="0" fontAlgn="base">
              <a:buNone/>
            </a:pPr>
            <a:r>
              <a:rPr lang="en-US" dirty="0"/>
              <a:t>We know, if a schedule is conflict serializable, then it is surely view serializable. So, let us check whether the given schedule is conflict serializable or not.</a:t>
            </a:r>
          </a:p>
          <a:p>
            <a:pPr marL="0" indent="0" fontAlgn="base">
              <a:buNone/>
            </a:pPr>
            <a:r>
              <a:rPr lang="en-US" dirty="0"/>
              <a:t> </a:t>
            </a:r>
          </a:p>
          <a:p>
            <a:pPr marL="0" indent="0" fontAlgn="base">
              <a:buNone/>
            </a:pPr>
            <a:r>
              <a:rPr lang="en-US" b="1" u="sng" dirty="0"/>
              <a:t>Checking Whether S is Conflict Serializable Or Not-</a:t>
            </a:r>
            <a:endParaRPr lang="en-US" b="1" dirty="0"/>
          </a:p>
          <a:p>
            <a:pPr marL="0" indent="0" fontAlgn="base">
              <a:buNone/>
            </a:pPr>
            <a:r>
              <a:rPr lang="en-US" dirty="0"/>
              <a:t> </a:t>
            </a:r>
          </a:p>
          <a:p>
            <a:pPr marL="0" indent="0" fontAlgn="base">
              <a:buNone/>
            </a:pPr>
            <a:r>
              <a:rPr lang="en-US" b="1" u="sng" dirty="0"/>
              <a:t>Step-01:</a:t>
            </a:r>
            <a:endParaRPr lang="en-US" b="1" dirty="0"/>
          </a:p>
          <a:p>
            <a:pPr marL="0" indent="0" fontAlgn="base">
              <a:buNone/>
            </a:pPr>
            <a:r>
              <a:rPr lang="en-US" dirty="0"/>
              <a:t> </a:t>
            </a:r>
          </a:p>
          <a:p>
            <a:pPr marL="0" indent="0" fontAlgn="base">
              <a:buNone/>
            </a:pPr>
            <a:r>
              <a:rPr lang="en-US" dirty="0"/>
              <a:t>List all the conflicting operations and determine the dependency between the transactions-</a:t>
            </a:r>
          </a:p>
          <a:p>
            <a:pPr fontAlgn="base"/>
            <a:r>
              <a:rPr lang="en-US" dirty="0"/>
              <a:t>R</a:t>
            </a:r>
            <a:r>
              <a:rPr lang="en-US" baseline="-25000" dirty="0"/>
              <a:t>1</a:t>
            </a:r>
            <a:r>
              <a:rPr lang="en-US" dirty="0"/>
              <a:t>(A) , W</a:t>
            </a:r>
            <a:r>
              <a:rPr lang="en-US" baseline="-25000" dirty="0"/>
              <a:t>2</a:t>
            </a:r>
            <a:r>
              <a:rPr lang="en-US" dirty="0"/>
              <a:t>(A)              (T</a:t>
            </a:r>
            <a:r>
              <a:rPr lang="en-US" baseline="-25000" dirty="0"/>
              <a:t>1</a:t>
            </a:r>
            <a:r>
              <a:rPr lang="en-US" dirty="0"/>
              <a:t> → T</a:t>
            </a:r>
            <a:r>
              <a:rPr lang="en-US" baseline="-25000" dirty="0"/>
              <a:t>2</a:t>
            </a:r>
            <a:r>
              <a:rPr lang="en-US" dirty="0"/>
              <a:t>)</a:t>
            </a:r>
          </a:p>
          <a:p>
            <a:pPr fontAlgn="base"/>
            <a:r>
              <a:rPr lang="en-US" dirty="0"/>
              <a:t>R</a:t>
            </a:r>
            <a:r>
              <a:rPr lang="en-US" baseline="-25000" dirty="0"/>
              <a:t>1</a:t>
            </a:r>
            <a:r>
              <a:rPr lang="en-US" dirty="0"/>
              <a:t>(A) , W</a:t>
            </a:r>
            <a:r>
              <a:rPr lang="en-US" baseline="-25000" dirty="0"/>
              <a:t>3</a:t>
            </a:r>
            <a:r>
              <a:rPr lang="en-US" dirty="0"/>
              <a:t>(A)              (T</a:t>
            </a:r>
            <a:r>
              <a:rPr lang="en-US" baseline="-25000" dirty="0"/>
              <a:t>1</a:t>
            </a:r>
            <a:r>
              <a:rPr lang="en-US" dirty="0"/>
              <a:t> → T</a:t>
            </a:r>
            <a:r>
              <a:rPr lang="en-US" baseline="-25000" dirty="0"/>
              <a:t>3</a:t>
            </a:r>
            <a:r>
              <a:rPr lang="en-US" dirty="0"/>
              <a:t>)</a:t>
            </a:r>
          </a:p>
          <a:p>
            <a:pPr fontAlgn="base"/>
            <a:r>
              <a:rPr lang="en-US" dirty="0"/>
              <a:t>W</a:t>
            </a:r>
            <a:r>
              <a:rPr lang="en-US" baseline="-25000" dirty="0"/>
              <a:t>2</a:t>
            </a:r>
            <a:r>
              <a:rPr lang="en-US" dirty="0"/>
              <a:t>(A) , R</a:t>
            </a:r>
            <a:r>
              <a:rPr lang="en-US" baseline="-25000" dirty="0"/>
              <a:t>3</a:t>
            </a:r>
            <a:r>
              <a:rPr lang="en-US" dirty="0"/>
              <a:t>(A)              (T</a:t>
            </a:r>
            <a:r>
              <a:rPr lang="en-US" baseline="-25000" dirty="0"/>
              <a:t>2</a:t>
            </a:r>
            <a:r>
              <a:rPr lang="en-US" dirty="0"/>
              <a:t> → T</a:t>
            </a:r>
            <a:r>
              <a:rPr lang="en-US" baseline="-25000" dirty="0"/>
              <a:t>3</a:t>
            </a:r>
            <a:r>
              <a:rPr lang="en-US" dirty="0"/>
              <a:t>)</a:t>
            </a:r>
          </a:p>
          <a:p>
            <a:pPr fontAlgn="base"/>
            <a:r>
              <a:rPr lang="en-US" dirty="0"/>
              <a:t>W</a:t>
            </a:r>
            <a:r>
              <a:rPr lang="en-US" baseline="-25000" dirty="0"/>
              <a:t>2</a:t>
            </a:r>
            <a:r>
              <a:rPr lang="en-US" dirty="0"/>
              <a:t>(A) , W</a:t>
            </a:r>
            <a:r>
              <a:rPr lang="en-US" baseline="-25000" dirty="0"/>
              <a:t>1</a:t>
            </a:r>
            <a:r>
              <a:rPr lang="en-US" dirty="0"/>
              <a:t>(A)             (T</a:t>
            </a:r>
            <a:r>
              <a:rPr lang="en-US" baseline="-25000" dirty="0"/>
              <a:t>2</a:t>
            </a:r>
            <a:r>
              <a:rPr lang="en-US" dirty="0"/>
              <a:t> → T</a:t>
            </a:r>
            <a:r>
              <a:rPr lang="en-US" baseline="-25000" dirty="0"/>
              <a:t>1</a:t>
            </a:r>
            <a:r>
              <a:rPr lang="en-US" dirty="0"/>
              <a:t>)</a:t>
            </a:r>
          </a:p>
          <a:p>
            <a:pPr fontAlgn="base"/>
            <a:r>
              <a:rPr lang="en-US" dirty="0"/>
              <a:t>W</a:t>
            </a:r>
            <a:r>
              <a:rPr lang="en-US" baseline="-25000" dirty="0"/>
              <a:t>2</a:t>
            </a:r>
            <a:r>
              <a:rPr lang="en-US" dirty="0"/>
              <a:t>(A) , W</a:t>
            </a:r>
            <a:r>
              <a:rPr lang="en-US" baseline="-25000" dirty="0"/>
              <a:t>3</a:t>
            </a:r>
            <a:r>
              <a:rPr lang="en-US" dirty="0"/>
              <a:t>(A)             (T</a:t>
            </a:r>
            <a:r>
              <a:rPr lang="en-US" baseline="-25000" dirty="0"/>
              <a:t>2</a:t>
            </a:r>
            <a:r>
              <a:rPr lang="en-US" dirty="0"/>
              <a:t> → T</a:t>
            </a:r>
            <a:r>
              <a:rPr lang="en-US" baseline="-25000" dirty="0"/>
              <a:t>3</a:t>
            </a:r>
            <a:r>
              <a:rPr lang="en-US" dirty="0"/>
              <a:t>)</a:t>
            </a:r>
          </a:p>
          <a:p>
            <a:pPr fontAlgn="base"/>
            <a:r>
              <a:rPr lang="en-US" dirty="0"/>
              <a:t>R</a:t>
            </a:r>
            <a:r>
              <a:rPr lang="en-US" baseline="-25000" dirty="0"/>
              <a:t>3</a:t>
            </a:r>
            <a:r>
              <a:rPr lang="en-US" dirty="0"/>
              <a:t>(A) , W</a:t>
            </a:r>
            <a:r>
              <a:rPr lang="en-US" baseline="-25000" dirty="0"/>
              <a:t>1</a:t>
            </a:r>
            <a:r>
              <a:rPr lang="en-US" dirty="0"/>
              <a:t>(A)              (T</a:t>
            </a:r>
            <a:r>
              <a:rPr lang="en-US" baseline="-25000" dirty="0"/>
              <a:t>3</a:t>
            </a:r>
            <a:r>
              <a:rPr lang="en-US" dirty="0"/>
              <a:t> → T</a:t>
            </a:r>
            <a:r>
              <a:rPr lang="en-US" baseline="-25000" dirty="0"/>
              <a:t>1</a:t>
            </a:r>
            <a:r>
              <a:rPr lang="en-US" dirty="0"/>
              <a:t>)</a:t>
            </a:r>
          </a:p>
          <a:p>
            <a:pPr fontAlgn="base"/>
            <a:r>
              <a:rPr lang="en-US" dirty="0"/>
              <a:t>W</a:t>
            </a:r>
            <a:r>
              <a:rPr lang="en-US" baseline="-25000" dirty="0"/>
              <a:t>1</a:t>
            </a:r>
            <a:r>
              <a:rPr lang="en-US" dirty="0"/>
              <a:t>(A) , W</a:t>
            </a:r>
            <a:r>
              <a:rPr lang="en-US" baseline="-25000" dirty="0"/>
              <a:t>3</a:t>
            </a:r>
            <a:r>
              <a:rPr lang="en-US" dirty="0"/>
              <a:t>(A)             (T</a:t>
            </a:r>
            <a:r>
              <a:rPr lang="en-US" baseline="-25000" dirty="0"/>
              <a:t>1</a:t>
            </a:r>
            <a:r>
              <a:rPr lang="en-US" dirty="0"/>
              <a:t> → T</a:t>
            </a:r>
            <a:r>
              <a:rPr lang="en-US" baseline="-25000" dirty="0"/>
              <a:t>3</a:t>
            </a:r>
            <a:r>
              <a:rPr lang="en-US" dirty="0"/>
              <a:t>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393226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u="sng" dirty="0"/>
              <a:t>Solution-</a:t>
            </a:r>
            <a:endParaRPr lang="en-US" dirty="0"/>
          </a:p>
        </p:txBody>
      </p:sp>
      <p:pic>
        <p:nvPicPr>
          <p:cNvPr id="1433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3886200"/>
            <a:ext cx="3886200" cy="176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/>
          <p:nvPr/>
        </p:nvSpPr>
        <p:spPr>
          <a:xfrm>
            <a:off x="609600" y="1672579"/>
            <a:ext cx="6172200" cy="18466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dirty="0"/>
              <a:t> </a:t>
            </a:r>
          </a:p>
          <a:p>
            <a:pPr fontAlgn="base"/>
            <a:r>
              <a:rPr lang="en-US" sz="3200" b="1" u="sng" dirty="0"/>
              <a:t>Step-02:</a:t>
            </a:r>
            <a:endParaRPr lang="en-US" sz="3200" b="1" dirty="0"/>
          </a:p>
          <a:p>
            <a:pPr fontAlgn="base"/>
            <a:endParaRPr lang="en-US" sz="3200" dirty="0"/>
          </a:p>
          <a:p>
            <a:pPr fontAlgn="base"/>
            <a:r>
              <a:rPr lang="en-US" sz="3200" dirty="0"/>
              <a:t>Draw the precedence graph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3151798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u="sng" dirty="0"/>
              <a:t>Solution-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>
              <a:buFont typeface="Wingdings" panose="05000000000000000000" pitchFamily="2" charset="2"/>
              <a:buChar char="§"/>
            </a:pPr>
            <a:r>
              <a:rPr lang="en-US" dirty="0"/>
              <a:t>Clearly, there exists a cycle in the precedence graph.</a:t>
            </a:r>
          </a:p>
          <a:p>
            <a:pPr fontAlgn="base">
              <a:buFont typeface="Wingdings" panose="05000000000000000000" pitchFamily="2" charset="2"/>
              <a:buChar char="§"/>
            </a:pPr>
            <a:r>
              <a:rPr lang="en-US" dirty="0"/>
              <a:t>Therefore, the given schedule S is not conflict serializable.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139343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u="sng" dirty="0"/>
              <a:t>Solution-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fontAlgn="base">
              <a:buFont typeface="Wingdings" panose="05000000000000000000" pitchFamily="2" charset="2"/>
              <a:buChar char="§"/>
            </a:pPr>
            <a:r>
              <a:rPr lang="en-US" dirty="0"/>
              <a:t>Now, Since, the given schedule S is not conflict serializable, so, it may or may not be view serializable.</a:t>
            </a:r>
          </a:p>
          <a:p>
            <a:pPr fontAlgn="base">
              <a:buFont typeface="Wingdings" panose="05000000000000000000" pitchFamily="2" charset="2"/>
              <a:buChar char="§"/>
            </a:pPr>
            <a:r>
              <a:rPr lang="en-US" dirty="0"/>
              <a:t>To check whether S is view serializable or not, let us use another method. Let us check for blind writes.</a:t>
            </a:r>
          </a:p>
          <a:p>
            <a:pPr marL="0" indent="0" fontAlgn="base">
              <a:buNone/>
            </a:pPr>
            <a:r>
              <a:rPr lang="en-US" dirty="0"/>
              <a:t> </a:t>
            </a:r>
          </a:p>
          <a:p>
            <a:pPr marL="0" indent="0" fontAlgn="base">
              <a:buNone/>
            </a:pPr>
            <a:r>
              <a:rPr lang="en-US" b="1" u="sng" dirty="0"/>
              <a:t>Checking for Blind Writes-</a:t>
            </a:r>
            <a:endParaRPr lang="en-US" b="1" dirty="0"/>
          </a:p>
          <a:p>
            <a:pPr marL="0" indent="0" fontAlgn="base">
              <a:buNone/>
            </a:pPr>
            <a:r>
              <a:rPr lang="en-US" dirty="0"/>
              <a:t> </a:t>
            </a:r>
          </a:p>
          <a:p>
            <a:pPr fontAlgn="base">
              <a:buFont typeface="Wingdings" panose="05000000000000000000" pitchFamily="2" charset="2"/>
              <a:buChar char="§"/>
            </a:pPr>
            <a:r>
              <a:rPr lang="en-US" dirty="0"/>
              <a:t>There exists a blind write W</a:t>
            </a:r>
            <a:r>
              <a:rPr lang="en-US" baseline="-25000" dirty="0"/>
              <a:t>2 </a:t>
            </a:r>
            <a:r>
              <a:rPr lang="en-US" dirty="0"/>
              <a:t>(A) in the given schedule S.</a:t>
            </a:r>
          </a:p>
          <a:p>
            <a:pPr marL="0" indent="0" fontAlgn="base">
              <a:buNone/>
            </a:pPr>
            <a:r>
              <a:rPr lang="en-US" dirty="0"/>
              <a:t>      Therefore, the given schedule S may or may not be view serializable.</a:t>
            </a:r>
          </a:p>
          <a:p>
            <a:pPr fontAlgn="base">
              <a:buFont typeface="Wingdings" panose="05000000000000000000" pitchFamily="2" charset="2"/>
              <a:buChar char="§"/>
            </a:pPr>
            <a:r>
              <a:rPr lang="en-US" dirty="0"/>
              <a:t>Now, To check whether S is view serializable or not, let us use another method.</a:t>
            </a:r>
          </a:p>
          <a:p>
            <a:pPr fontAlgn="base">
              <a:buFont typeface="Wingdings" panose="05000000000000000000" pitchFamily="2" charset="2"/>
              <a:buChar char="§"/>
            </a:pPr>
            <a:r>
              <a:rPr lang="en-US" dirty="0"/>
              <a:t>Let us derive the dependencies and then draw a dependency graph.</a:t>
            </a:r>
          </a:p>
          <a:p>
            <a:pPr marL="0" indent="0" fontAlgn="base"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59847961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u="sng" dirty="0"/>
              <a:t>Solution-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fontAlgn="base"/>
            <a:r>
              <a:rPr lang="en-US" b="1" u="sng" dirty="0"/>
              <a:t>Drawing a Dependency Graph-</a:t>
            </a:r>
            <a:endParaRPr lang="en-US" b="1" dirty="0"/>
          </a:p>
          <a:p>
            <a:pPr fontAlgn="base"/>
            <a:r>
              <a:rPr lang="en-US" dirty="0"/>
              <a:t> </a:t>
            </a:r>
          </a:p>
          <a:p>
            <a:pPr fontAlgn="base"/>
            <a:r>
              <a:rPr lang="en-US" dirty="0"/>
              <a:t>T1 firstly reads A and T2 firstly updates A.</a:t>
            </a:r>
          </a:p>
          <a:p>
            <a:pPr fontAlgn="base"/>
            <a:r>
              <a:rPr lang="en-US" dirty="0"/>
              <a:t>So, T1 must execute before T2.</a:t>
            </a:r>
          </a:p>
          <a:p>
            <a:pPr fontAlgn="base"/>
            <a:r>
              <a:rPr lang="en-US" dirty="0"/>
              <a:t>Thus, we get the dependency </a:t>
            </a:r>
            <a:r>
              <a:rPr lang="en-US" b="1" dirty="0"/>
              <a:t>T1 → T2</a:t>
            </a:r>
            <a:r>
              <a:rPr lang="en-US" dirty="0"/>
              <a:t>.</a:t>
            </a:r>
          </a:p>
          <a:p>
            <a:pPr fontAlgn="base"/>
            <a:r>
              <a:rPr lang="en-US" dirty="0"/>
              <a:t>Final </a:t>
            </a:r>
            <a:r>
              <a:rPr lang="en-US" dirty="0" err="1"/>
              <a:t>updation</a:t>
            </a:r>
            <a:r>
              <a:rPr lang="en-US" dirty="0"/>
              <a:t> on A is made by the transaction T3.</a:t>
            </a:r>
          </a:p>
          <a:p>
            <a:pPr fontAlgn="base"/>
            <a:r>
              <a:rPr lang="en-US" dirty="0"/>
              <a:t>So, T3 must execute after all other transactions.</a:t>
            </a:r>
          </a:p>
          <a:p>
            <a:pPr fontAlgn="base"/>
            <a:r>
              <a:rPr lang="en-US" dirty="0"/>
              <a:t>Thus, we get the dependency </a:t>
            </a:r>
            <a:r>
              <a:rPr lang="en-US" b="1" dirty="0"/>
              <a:t>(T1, T2) → T3</a:t>
            </a:r>
            <a:r>
              <a:rPr lang="en-US" dirty="0"/>
              <a:t>.</a:t>
            </a:r>
          </a:p>
          <a:p>
            <a:pPr fontAlgn="base"/>
            <a:r>
              <a:rPr lang="en-US" dirty="0"/>
              <a:t>From write-read sequence, we get  the dependency </a:t>
            </a:r>
            <a:r>
              <a:rPr lang="en-US" b="1" dirty="0"/>
              <a:t>T2 → T3</a:t>
            </a:r>
            <a:endParaRPr lang="en-US" dirty="0"/>
          </a:p>
          <a:p>
            <a:pPr fontAlgn="base"/>
            <a:r>
              <a:rPr lang="en-US" dirty="0"/>
              <a:t> </a:t>
            </a:r>
          </a:p>
          <a:p>
            <a:pPr fontAlgn="base"/>
            <a:r>
              <a:rPr lang="en-US" dirty="0"/>
              <a:t>Now, let us draw a dependency graph using these dependencies-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544584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u="sng" dirty="0"/>
              <a:t>Solution-</a:t>
            </a:r>
            <a:endParaRPr lang="en-US" dirty="0"/>
          </a:p>
        </p:txBody>
      </p:sp>
      <p:pic>
        <p:nvPicPr>
          <p:cNvPr id="1536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3139280"/>
            <a:ext cx="2752725" cy="2194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/>
          <p:nvPr/>
        </p:nvSpPr>
        <p:spPr>
          <a:xfrm>
            <a:off x="685800" y="1600200"/>
            <a:ext cx="4572000" cy="1384995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base"/>
            <a:r>
              <a:rPr lang="en-US" sz="2800" b="1" u="sng" dirty="0"/>
              <a:t>Step-02:</a:t>
            </a:r>
            <a:endParaRPr lang="en-US" sz="2800" b="1" dirty="0"/>
          </a:p>
          <a:p>
            <a:pPr fontAlgn="base"/>
            <a:endParaRPr lang="en-US" sz="2800" dirty="0"/>
          </a:p>
          <a:p>
            <a:pPr fontAlgn="base"/>
            <a:r>
              <a:rPr lang="en-US" sz="2800" dirty="0"/>
              <a:t>Draw the precedence graph.</a:t>
            </a:r>
          </a:p>
        </p:txBody>
      </p:sp>
    </p:spTree>
    <p:extLst>
      <p:ext uri="{BB962C8B-B14F-4D97-AF65-F5344CB8AC3E}">
        <p14:creationId xmlns:p14="http://schemas.microsoft.com/office/powerpoint/2010/main" val="38477452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u="sng" dirty="0"/>
              <a:t>Solution-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>
              <a:buFont typeface="Wingdings" panose="05000000000000000000" pitchFamily="2" charset="2"/>
              <a:buChar char="§"/>
            </a:pPr>
            <a:r>
              <a:rPr lang="en-US" dirty="0"/>
              <a:t>Clearly, there exists no cycle in the dependency graph.</a:t>
            </a:r>
          </a:p>
          <a:p>
            <a:pPr fontAlgn="base">
              <a:buFont typeface="Wingdings" panose="05000000000000000000" pitchFamily="2" charset="2"/>
              <a:buChar char="§"/>
            </a:pPr>
            <a:r>
              <a:rPr lang="en-US" dirty="0"/>
              <a:t>Therefore, the given schedule S is view serializable.</a:t>
            </a:r>
          </a:p>
          <a:p>
            <a:pPr fontAlgn="base">
              <a:buFont typeface="Wingdings" panose="05000000000000000000" pitchFamily="2" charset="2"/>
              <a:buChar char="§"/>
            </a:pPr>
            <a:r>
              <a:rPr lang="en-US" dirty="0"/>
              <a:t>The serialization order T1 → T2 → T3.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78406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21860917339A24CBF48CA72FD87A938" ma:contentTypeVersion="4" ma:contentTypeDescription="Create a new document." ma:contentTypeScope="" ma:versionID="980b02646fa074ec6df36e14e32d67b1">
  <xsd:schema xmlns:xsd="http://www.w3.org/2001/XMLSchema" xmlns:xs="http://www.w3.org/2001/XMLSchema" xmlns:p="http://schemas.microsoft.com/office/2006/metadata/properties" xmlns:ns2="add626ea-3744-4bc4-9968-be3225425790" xmlns:ns3="be0a9719-4ac4-4ca6-8b98-e7dd01bc4f66" targetNamespace="http://schemas.microsoft.com/office/2006/metadata/properties" ma:root="true" ma:fieldsID="8108df76a192e00ecce4cadae88a104d" ns2:_="" ns3:_="">
    <xsd:import namespace="add626ea-3744-4bc4-9968-be3225425790"/>
    <xsd:import namespace="be0a9719-4ac4-4ca6-8b98-e7dd01bc4f6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dd626ea-3744-4bc4-9968-be322542579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0a9719-4ac4-4ca6-8b98-e7dd01bc4f66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445A73D-4D8F-4422-B1E8-A791DAE7CD5C}">
  <ds:schemaRefs>
    <ds:schemaRef ds:uri="http://purl.org/dc/terms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schemas.microsoft.com/office/2006/metadata/properties"/>
    <ds:schemaRef ds:uri="0d751855-8ec5-4dae-b5f0-246e4d043203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98A8E6D3-BD5C-4263-B3DD-085F6B79BF4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405A575-55D3-4C7D-8392-9707D22D6B5B}"/>
</file>

<file path=docProps/app.xml><?xml version="1.0" encoding="utf-8"?>
<Properties xmlns="http://schemas.openxmlformats.org/officeDocument/2006/extended-properties" xmlns:vt="http://schemas.openxmlformats.org/officeDocument/2006/docPropsVTypes">
  <TotalTime>394</TotalTime>
  <Words>1206</Words>
  <Application>Microsoft Office PowerPoint</Application>
  <PresentationFormat>On-screen Show (4:3)</PresentationFormat>
  <Paragraphs>384</Paragraphs>
  <Slides>67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67</vt:i4>
      </vt:variant>
    </vt:vector>
  </HeadingPairs>
  <TitlesOfParts>
    <vt:vector size="68" baseType="lpstr">
      <vt:lpstr>Office Theme</vt:lpstr>
      <vt:lpstr>  Concurrency Problems in DBMS   </vt:lpstr>
      <vt:lpstr>  Concurrency Problems in DBMS   </vt:lpstr>
      <vt:lpstr>  Dirty Read Problem  </vt:lpstr>
      <vt:lpstr>  Dirty Read Problem  </vt:lpstr>
      <vt:lpstr>PowerPoint Presentation</vt:lpstr>
      <vt:lpstr> Dirty Read Problem  </vt:lpstr>
      <vt:lpstr>   Unrepeatable Read Problem   </vt:lpstr>
      <vt:lpstr>  Unrepeatable Read Problem  </vt:lpstr>
      <vt:lpstr>  Unrepeatable Read Problem  </vt:lpstr>
      <vt:lpstr>  Lost Update Problem </vt:lpstr>
      <vt:lpstr> Lost Update Problem </vt:lpstr>
      <vt:lpstr>  Lost Update Problem </vt:lpstr>
      <vt:lpstr>  Lost Update Problem </vt:lpstr>
      <vt:lpstr> Phantom Read Problem </vt:lpstr>
      <vt:lpstr>  Phantom Read Problem </vt:lpstr>
      <vt:lpstr>  Phantom Read Problem </vt:lpstr>
      <vt:lpstr> Avoiding Concurrency Problems </vt:lpstr>
      <vt:lpstr>Serializability</vt:lpstr>
      <vt:lpstr>PowerPoint Presentation</vt:lpstr>
      <vt:lpstr> Serializability in DBMS </vt:lpstr>
      <vt:lpstr> Characteristics of Serializable Schedules  </vt:lpstr>
      <vt:lpstr>  Serializable Schedules   </vt:lpstr>
      <vt:lpstr>  Serial Schedules Vs Serializable Schedules   </vt:lpstr>
      <vt:lpstr> Types of Serializability </vt:lpstr>
      <vt:lpstr>  Conflict Serializability </vt:lpstr>
      <vt:lpstr>  Conflicting Operations </vt:lpstr>
      <vt:lpstr>  Conflicting Operations </vt:lpstr>
      <vt:lpstr>  Conflicting Operations </vt:lpstr>
      <vt:lpstr>  Checking Whether a Schedule is Conflict Serializable Or Not   </vt:lpstr>
      <vt:lpstr>  Checking Whether a Schedule is Conflict Serializable Or Not   </vt:lpstr>
      <vt:lpstr>  View Serializability   </vt:lpstr>
      <vt:lpstr>   View Equivalent Schedules   </vt:lpstr>
      <vt:lpstr> View Equivalent Schedules </vt:lpstr>
      <vt:lpstr>  View Equivalent Schedules </vt:lpstr>
      <vt:lpstr>  View Equivalent Schedules </vt:lpstr>
      <vt:lpstr> Checking Whether a Schedule is View Serializable Or Not </vt:lpstr>
      <vt:lpstr> Checking Whether a Schedule is View Serializable Or Not </vt:lpstr>
      <vt:lpstr>Checking Whether a Schedule is View Serializable Or Not </vt:lpstr>
      <vt:lpstr> Checking Whether a Schedule is View Serializable Or Not </vt:lpstr>
      <vt:lpstr> Checking Whether a Schedule is View Serializable Or Not </vt:lpstr>
      <vt:lpstr> Problem-01 </vt:lpstr>
      <vt:lpstr> Solution </vt:lpstr>
      <vt:lpstr> Solution </vt:lpstr>
      <vt:lpstr> Solution </vt:lpstr>
      <vt:lpstr> Problem-02: </vt:lpstr>
      <vt:lpstr>  Solution-   </vt:lpstr>
      <vt:lpstr> Solution- </vt:lpstr>
      <vt:lpstr> Solution- </vt:lpstr>
      <vt:lpstr> Solution- </vt:lpstr>
      <vt:lpstr> Solution- </vt:lpstr>
      <vt:lpstr> Solution- </vt:lpstr>
      <vt:lpstr> Problem-03: </vt:lpstr>
      <vt:lpstr>PowerPoint Presentation</vt:lpstr>
      <vt:lpstr> Solution- </vt:lpstr>
      <vt:lpstr> Solution- </vt:lpstr>
      <vt:lpstr> Solution- </vt:lpstr>
      <vt:lpstr> Solution- </vt:lpstr>
      <vt:lpstr>Solution-</vt:lpstr>
      <vt:lpstr> Problem-04: </vt:lpstr>
      <vt:lpstr>Solution-</vt:lpstr>
      <vt:lpstr>Solution-</vt:lpstr>
      <vt:lpstr>Solution-</vt:lpstr>
      <vt:lpstr>Solution-</vt:lpstr>
      <vt:lpstr>Solution-</vt:lpstr>
      <vt:lpstr>Solution-</vt:lpstr>
      <vt:lpstr>Solution-</vt:lpstr>
      <vt:lpstr>Solution-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Serializability</dc:title>
  <dc:creator>Hp</dc:creator>
  <cp:lastModifiedBy>Lenovo</cp:lastModifiedBy>
  <cp:revision>18</cp:revision>
  <dcterms:created xsi:type="dcterms:W3CDTF">2020-11-09T07:55:31Z</dcterms:created>
  <dcterms:modified xsi:type="dcterms:W3CDTF">2022-11-25T03:32:32Z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0x010100821860917339A24CBF48CA72FD87A938</vt:lpwstr>
  </property>
</Properties>
</file>